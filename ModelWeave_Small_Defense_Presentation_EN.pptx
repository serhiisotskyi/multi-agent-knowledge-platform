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3838c39f4d47d2" /><Relationship Type="http://schemas.openxmlformats.org/officeDocument/2006/relationships/extended-properties" Target="/docProps/app.xml" Id="Ra8972796b1bf4ffb" /><Relationship Type="http://schemas.openxmlformats.org/officeDocument/2006/relationships/officeDocument" Target="/ppt/presentation.xml" Id="Rab513e2d64464db7" /></Relationships>
</file>

<file path=ppt/presentation.xml><?xml version="1.0" encoding="utf-8"?>
<p:presentation xmlns:p="http://schemas.openxmlformats.org/presentationml/2006/main">
  <p:sldMasterIdLst>
    <p:sldMasterId xmlns:r="http://schemas.openxmlformats.org/officeDocument/2006/relationships" id="2147483648" r:id="Rd5c0ce2dbf5741d4"/>
  </p:sldMasterIdLst>
  <p:notesMasterIdLst>
    <p:notesMasterId xmlns:r="http://schemas.openxmlformats.org/officeDocument/2006/relationships" r:id="R78a4ef0ad9d64a1a"/>
  </p:notesMasterIdLst>
  <p:sldIdLst>
    <p:sldId xmlns:r="http://schemas.openxmlformats.org/officeDocument/2006/relationships" id="256" r:id="R9948633c74264576"/>
    <p:sldId xmlns:r="http://schemas.openxmlformats.org/officeDocument/2006/relationships" id="257" r:id="R1f94ec4079f34284"/>
    <p:sldId xmlns:r="http://schemas.openxmlformats.org/officeDocument/2006/relationships" id="258" r:id="R55dbbb861e24407c"/>
    <p:sldId xmlns:r="http://schemas.openxmlformats.org/officeDocument/2006/relationships" id="259" r:id="Rc6ed23f1cb554850"/>
    <p:sldId xmlns:r="http://schemas.openxmlformats.org/officeDocument/2006/relationships" id="260" r:id="R5540fc100aef4055"/>
    <p:sldId xmlns:r="http://schemas.openxmlformats.org/officeDocument/2006/relationships" id="261" r:id="R8d778c9c7ae64df9"/>
    <p:sldId xmlns:r="http://schemas.openxmlformats.org/officeDocument/2006/relationships" id="262" r:id="Rb12dc7d9f35c4001"/>
    <p:sldId xmlns:r="http://schemas.openxmlformats.org/officeDocument/2006/relationships" id="263" r:id="R13ad6d318bdd4bed"/>
    <p:sldId xmlns:r="http://schemas.openxmlformats.org/officeDocument/2006/relationships" id="264" r:id="R66a1c9a8e1e34810"/>
    <p:sldId xmlns:r="http://schemas.openxmlformats.org/officeDocument/2006/relationships" id="265" r:id="R4971bf91e09e40f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5c0ce2dbf5741d4" /><Relationship Type="http://schemas.openxmlformats.org/officeDocument/2006/relationships/theme" Target="/ppt/theme/theme1.xml" Id="R7760afe043a044c9" /><Relationship Type="http://schemas.openxmlformats.org/officeDocument/2006/relationships/notesMaster" Target="/ppt/notesMasters/notesMaster1.xml" Id="R78a4ef0ad9d64a1a" /><Relationship Type="http://schemas.openxmlformats.org/officeDocument/2006/relationships/presProps" Target="/ppt/presProps.xml" Id="R637e91f4a37f44e0" /><Relationship Type="http://schemas.openxmlformats.org/officeDocument/2006/relationships/viewProps" Target="/ppt/viewProps.xml" Id="R6e3c2a2d38384d5e" /><Relationship Type="http://schemas.openxmlformats.org/officeDocument/2006/relationships/tableStyles" Target="/ppt/tableStyles.xml" Id="R1dd5e5caac974f08" /><Relationship Type="http://schemas.openxmlformats.org/officeDocument/2006/relationships/slide" Target="/ppt/slides/slide1.xml" Id="R9948633c74264576" /><Relationship Type="http://schemas.openxmlformats.org/officeDocument/2006/relationships/slide" Target="/ppt/slides/slide2.xml" Id="R1f94ec4079f34284" /><Relationship Type="http://schemas.openxmlformats.org/officeDocument/2006/relationships/slide" Target="/ppt/slides/slide3.xml" Id="R55dbbb861e24407c" /><Relationship Type="http://schemas.openxmlformats.org/officeDocument/2006/relationships/slide" Target="/ppt/slides/slide4.xml" Id="Rc6ed23f1cb554850" /><Relationship Type="http://schemas.openxmlformats.org/officeDocument/2006/relationships/slide" Target="/ppt/slides/slide5.xml" Id="R5540fc100aef4055" /><Relationship Type="http://schemas.openxmlformats.org/officeDocument/2006/relationships/slide" Target="/ppt/slides/slide6.xml" Id="R8d778c9c7ae64df9" /><Relationship Type="http://schemas.openxmlformats.org/officeDocument/2006/relationships/slide" Target="/ppt/slides/slide7.xml" Id="Rb12dc7d9f35c4001" /><Relationship Type="http://schemas.openxmlformats.org/officeDocument/2006/relationships/slide" Target="/ppt/slides/slide8.xml" Id="R13ad6d318bdd4bed" /><Relationship Type="http://schemas.openxmlformats.org/officeDocument/2006/relationships/slide" Target="/ppt/slides/slide9.xml" Id="R66a1c9a8e1e34810" /><Relationship Type="http://schemas.openxmlformats.org/officeDocument/2006/relationships/slide" Target="/ppt/slides/slide10.xml" Id="R4971bf91e09e40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0f4b905c08043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dca1e550a541fb" /><Relationship Type="http://schemas.openxmlformats.org/officeDocument/2006/relationships/notesMaster" Target="/ppt/notesMasters/notesMaster1.xml" Id="R27fe056669e443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de8456eff04477" /><Relationship Type="http://schemas.openxmlformats.org/officeDocument/2006/relationships/notesMaster" Target="/ppt/notesMasters/notesMaster1.xml" Id="Rbc6a4ccfcad946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4038c802864b1d" /><Relationship Type="http://schemas.openxmlformats.org/officeDocument/2006/relationships/notesMaster" Target="/ppt/notesMasters/notesMaster1.xml" Id="R88e33d3c032540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b0ae2c166e4837" /><Relationship Type="http://schemas.openxmlformats.org/officeDocument/2006/relationships/notesMaster" Target="/ppt/notesMasters/notesMaster1.xml" Id="Rb1486098a2534f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41b4e6c0554889" /><Relationship Type="http://schemas.openxmlformats.org/officeDocument/2006/relationships/notesMaster" Target="/ppt/notesMasters/notesMaster1.xml" Id="R61bf2597bfae46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7f73dc6ba244a8" /><Relationship Type="http://schemas.openxmlformats.org/officeDocument/2006/relationships/notesMaster" Target="/ppt/notesMasters/notesMaster1.xml" Id="R8eb2f59705ac49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026d757cce4722" /><Relationship Type="http://schemas.openxmlformats.org/officeDocument/2006/relationships/notesMaster" Target="/ppt/notesMasters/notesMaster1.xml" Id="R25e0f61cd5fb4b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83924746904c9a" /><Relationship Type="http://schemas.openxmlformats.org/officeDocument/2006/relationships/notesMaster" Target="/ppt/notesMasters/notesMaster1.xml" Id="R064f5c8451024e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d74435b1794325" /><Relationship Type="http://schemas.openxmlformats.org/officeDocument/2006/relationships/notesMaster" Target="/ppt/notesMasters/notesMaster1.xml" Id="R67c98282c0f746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501cc4798b485b" /><Relationship Type="http://schemas.openxmlformats.org/officeDocument/2006/relationships/notesMaster" Target="/ppt/notesMasters/notesMaster1.xml" Id="R5417ed4187b945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r>
              <a:t/>
            </a:r>
          </a:p>
          <a:p xmlns:a="http://schemas.openxmlformats.org/drawingml/2006/main">
            <a:r>
              <a:t>Good afternoon. My name is Serhii Sotskyi, group AB221. The topic of my bachelor's qualification work is "Creating a Service-Oriented Architecture for Scalable Use of Language Models in Commercial Solutions."</a:t>
            </a:r>
          </a:p>
          <a:p xmlns:a="http://schemas.openxmlformats.org/drawingml/2006/main">
            <a:r>
              <a:t/>
            </a:r>
          </a:p>
          <a:p xmlns:a="http://schemas.openxmlformats.org/drawingml/2006/main">
            <a:r>
              <a:t>In this work I do not study language models only as isolated chatbots. I study how they can be included in a real software architecture that has users, documents, data storage, agent workflows, approval gates, audit events, and final business deliverables.</a:t>
            </a:r>
          </a:p>
          <a:p xmlns:a="http://schemas.openxmlformats.org/drawingml/2006/main">
            <a:r>
              <a:t/>
            </a:r>
          </a:p>
          <a:p xmlns:a="http://schemas.openxmlformats.org/drawingml/2006/main">
            <a:r>
              <a:t>The practical result of the work is called ModelWeave. It is a deployed full-stack web application that demonstrates document-grounded agents, a searchable database, editable workflows, approval gates, durable tasks, and DOCX reports. The system uses only synthetic academic data, so it is not connected to any real company information. At the end of the presentation I will show the production link and the demo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1.5 minutes.</a:t>
            </a:r>
          </a:p>
          <a:p xmlns:a="http://schemas.openxmlformats.org/drawingml/2006/main">
            <a:r>
              <a:t/>
            </a:r>
          </a:p>
          <a:p xmlns:a="http://schemas.openxmlformats.org/drawingml/2006/main">
            <a:r>
              <a:t>The goal of the work is to design, formalize, implement, deploy, and evaluate a service-oriented architecture that allows language models to be used in a scalable commercial workflow.</a:t>
            </a:r>
          </a:p>
          <a:p xmlns:a="http://schemas.openxmlformats.org/drawingml/2006/main">
            <a:r>
              <a:t/>
            </a:r>
          </a:p>
          <a:p xmlns:a="http://schemas.openxmlformats.org/drawingml/2006/main">
            <a:r>
              <a:t>The main idea is that a commercial LLM system should not be only one prompt or one chat window. The model should be one component inside a controlled workflow.</a:t>
            </a:r>
          </a:p>
          <a:p xmlns:a="http://schemas.openxmlformats.org/drawingml/2006/main">
            <a:r>
              <a:t/>
            </a:r>
          </a:p>
          <a:p xmlns:a="http://schemas.openxmlformats.org/drawingml/2006/main">
            <a:r>
              <a:t>To reach this goal, I completed five main tasks.</a:t>
            </a:r>
          </a:p>
          <a:p xmlns:a="http://schemas.openxmlformats.org/drawingml/2006/main">
            <a:r>
              <a:t/>
            </a:r>
          </a:p>
          <a:p xmlns:a="http://schemas.openxmlformats.org/drawingml/2006/main">
            <a:r>
              <a:t>First, I reviewed the theoretical basis: large language models, retrieval-augmented generation, vector search, service-oriented architecture, and multi-agent systems.</a:t>
            </a:r>
          </a:p>
          <a:p xmlns:a="http://schemas.openxmlformats.org/drawingml/2006/main">
            <a:r>
              <a:t/>
            </a:r>
          </a:p>
          <a:p xmlns:a="http://schemas.openxmlformats.org/drawingml/2006/main">
            <a:r>
              <a:t>Second, I defined requirements for a document-grounded agent platform: document database, agents, workflows, runs, approvals, tasks, and reports.</a:t>
            </a:r>
          </a:p>
          <a:p xmlns:a="http://schemas.openxmlformats.org/drawingml/2006/main">
            <a:r>
              <a:t/>
            </a:r>
          </a:p>
          <a:p xmlns:a="http://schemas.openxmlformats.org/drawingml/2006/main">
            <a:r>
              <a:t>Third, I built the mathematical model. It formalizes the document corpus, chunking, embeddings, cosine similarity, top-k retrieval, workflow graphs, approval state transitions, and quality evaluation.</a:t>
            </a:r>
          </a:p>
          <a:p xmlns:a="http://schemas.openxmlformats.org/drawingml/2006/main">
            <a:r>
              <a:t/>
            </a:r>
          </a:p>
          <a:p xmlns:a="http://schemas.openxmlformats.org/drawingml/2006/main">
            <a:r>
              <a:t>Fourth, I implemented the full-stack prototype with Next.js, FastAPI, Supabase, Qdrant, and Anthropic API.</a:t>
            </a:r>
          </a:p>
          <a:p xmlns:a="http://schemas.openxmlformats.org/drawingml/2006/main">
            <a:r>
              <a:t/>
            </a:r>
          </a:p>
          <a:p xmlns:a="http://schemas.openxmlformats.org/drawingml/2006/main">
            <a:r>
              <a:t>Fifth, I validated the system using synthetic document workflows, test outputs, screenshots, citations, approval records, tasks, and generated DOCX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1.5 minutes.</a:t>
            </a:r>
          </a:p>
          <a:p xmlns:a="http://schemas.openxmlformats.org/drawingml/2006/main">
            <a:r>
              <a:t/>
            </a:r>
          </a:p>
          <a:p xmlns:a="http://schemas.openxmlformats.org/drawingml/2006/main">
            <a:r>
              <a:t>The relevance of the topic comes from the difference between a language model demonstration and a commercial software system.</a:t>
            </a:r>
          </a:p>
          <a:p xmlns:a="http://schemas.openxmlformats.org/drawingml/2006/main">
            <a:r>
              <a:t/>
            </a:r>
          </a:p>
          <a:p xmlns:a="http://schemas.openxmlformats.org/drawingml/2006/main">
            <a:r>
              <a:t>A chatbot can answer a user prompt, summarize text, or produce recommendations. However, this is not enough for business use. In a company workflow, the system must know who the user is, what documents belong to that user, which data can be used, which actions are only recommendations, and which actions change business objects.</a:t>
            </a:r>
          </a:p>
          <a:p xmlns:a="http://schemas.openxmlformats.org/drawingml/2006/main">
            <a:r>
              <a:t/>
            </a:r>
          </a:p>
          <a:p xmlns:a="http://schemas.openxmlformats.org/drawingml/2006/main">
            <a:r>
              <a:t>There are also quality and safety problems. A model can produce fluent text, but the system still needs evidence, citations, risk checks, and an audit trail. Without these controls, it is difficult to explain why a decision was made or whether the output is grounded in the available documents.</a:t>
            </a:r>
          </a:p>
          <a:p xmlns:a="http://schemas.openxmlformats.org/drawingml/2006/main">
            <a:r>
              <a:t/>
            </a:r>
          </a:p>
          <a:p xmlns:a="http://schemas.openxmlformats.org/drawingml/2006/main">
            <a:r>
              <a:t>That is why the thesis focuses on architecture. ModelWeave connects model execution with data, agents, approvals, and reports. In this architecture, the language model is useful because it is placed inside a workflow that controls context, state, and final deliverables.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1.7 minutes.</a:t>
            </a:r>
          </a:p>
          <a:p xmlns:a="http://schemas.openxmlformats.org/drawingml/2006/main">
            <a:r>
              <a:t/>
            </a:r>
          </a:p>
          <a:p xmlns:a="http://schemas.openxmlformats.org/drawingml/2006/main">
            <a:r>
              <a:t>Several methods were used together in the work.</a:t>
            </a:r>
          </a:p>
          <a:p xmlns:a="http://schemas.openxmlformats.org/drawingml/2006/main">
            <a:r>
              <a:t/>
            </a:r>
          </a:p>
          <a:p xmlns:a="http://schemas.openxmlformats.org/drawingml/2006/main">
            <a:r>
              <a:t>The first method is service-oriented architecture. The application is separated into frontend, backend API, authentication, relational database, vector database, model provider, and deployment infrastructure.</a:t>
            </a:r>
          </a:p>
          <a:p xmlns:a="http://schemas.openxmlformats.org/drawingml/2006/main">
            <a:r>
              <a:t/>
            </a:r>
          </a:p>
          <a:p xmlns:a="http://schemas.openxmlformats.org/drawingml/2006/main">
            <a:r>
              <a:t>The second method is retrieval-augmented generation. Documents are parsed into chunks, converted into embeddings, stored for semantic search, and retrieved as evidence for agents.</a:t>
            </a:r>
          </a:p>
          <a:p xmlns:a="http://schemas.openxmlformats.org/drawingml/2006/main">
            <a:r>
              <a:t/>
            </a:r>
          </a:p>
          <a:p xmlns:a="http://schemas.openxmlformats.org/drawingml/2006/main">
            <a:r>
              <a:t>The third method is a multi-agent workflow graph. Instead of one general assistant, configurable agents take narrower roles such as document reviewer, task planner, QA agent, and report writer.</a:t>
            </a:r>
          </a:p>
          <a:p xmlns:a="http://schemas.openxmlformats.org/drawingml/2006/main">
            <a:r>
              <a:t/>
            </a:r>
          </a:p>
          <a:p xmlns:a="http://schemas.openxmlformats.org/drawingml/2006/main">
            <a:r>
              <a:t>The fourth method is approval-gated automation. Agents can propose actions, but persistent changes require human approval.</a:t>
            </a:r>
          </a:p>
          <a:p xmlns:a="http://schemas.openxmlformats.org/drawingml/2006/main">
            <a:r>
              <a:t/>
            </a:r>
          </a:p>
          <a:p xmlns:a="http://schemas.openxmlformats.org/drawingml/2006/main">
            <a:r>
              <a:t>Compared with a generic chatbot, ModelWeave has stronger workflow control. Compared with a simple RAG report tool, it can create proposed tasks and approvals, not only reports. Compared with a generic agent builder, it is grounded in a clear service-oriented architecture with database, workflow, run history, approval, and document export services. This is why it fits the thesis topic better.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1.2 minutes.</a:t>
            </a:r>
          </a:p>
          <a:p xmlns:a="http://schemas.openxmlformats.org/drawingml/2006/main">
            <a:r>
              <a:t/>
            </a:r>
          </a:p>
          <a:p xmlns:a="http://schemas.openxmlformats.org/drawingml/2006/main">
            <a:r>
              <a:t>Because my speciality is Applied Mathematics, I included a formal model of the system, not only implementation details.</a:t>
            </a:r>
          </a:p>
          <a:p xmlns:a="http://schemas.openxmlformats.org/drawingml/2006/main">
            <a:r>
              <a:t/>
            </a:r>
          </a:p>
          <a:p xmlns:a="http://schemas.openxmlformats.org/drawingml/2006/main">
            <a:r>
              <a:t>The first part is the RAG model. User documents form a corpus D. Each document is split into chunks, and each chunk is transformed into a vector in a d-dimensional space.</a:t>
            </a:r>
          </a:p>
          <a:p xmlns:a="http://schemas.openxmlformats.org/drawingml/2006/main">
            <a:r>
              <a:t/>
            </a:r>
          </a:p>
          <a:p xmlns:a="http://schemas.openxmlformats.org/drawingml/2006/main">
            <a:r>
              <a:t>When the user asks a question or runs a workflow, the query is also embedded. The system compares the query vector with document chunk vectors using cosine similarity.</a:t>
            </a:r>
          </a:p>
          <a:p xmlns:a="http://schemas.openxmlformats.org/drawingml/2006/main">
            <a:r>
              <a:t/>
            </a:r>
          </a:p>
          <a:p xmlns:a="http://schemas.openxmlformats.org/drawingml/2006/main">
            <a:r>
              <a:t>The retrieval step selects the top-k chunks. In the prototype k is usually eight: enough evidence for citations, but still practical for model calls.</a:t>
            </a:r>
          </a:p>
          <a:p xmlns:a="http://schemas.openxmlformats.org/drawingml/2006/main">
            <a:r>
              <a:t/>
            </a:r>
          </a:p>
          <a:p xmlns:a="http://schemas.openxmlformats.org/drawingml/2006/main">
            <a:r>
              <a:t>Generation is modeled as conditional probability. The output depends on the query, retrieved chunks, and agent role.</a:t>
            </a:r>
          </a:p>
          <a:p xmlns:a="http://schemas.openxmlformats.org/drawingml/2006/main">
            <a:r>
              <a:t/>
            </a:r>
          </a:p>
          <a:p xmlns:a="http://schemas.openxmlformats.org/drawingml/2006/main">
            <a:r>
              <a:t>This slide is important because it shows that RAG in the project is not just a feature. It is a mathematical pipeline from documents to vectors, from vectors to ranked evidence, and from evidence to generated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1.2 minutes.</a:t>
            </a:r>
          </a:p>
          <a:p xmlns:a="http://schemas.openxmlformats.org/drawingml/2006/main">
            <a:r>
              <a:t/>
            </a:r>
          </a:p>
          <a:p xmlns:a="http://schemas.openxmlformats.org/drawingml/2006/main">
            <a:r>
              <a:t>The second mathematical part describes workflow execution.</a:t>
            </a:r>
          </a:p>
          <a:p xmlns:a="http://schemas.openxmlformats.org/drawingml/2006/main">
            <a:r>
              <a:t/>
            </a:r>
          </a:p>
          <a:p xmlns:a="http://schemas.openxmlformats.org/drawingml/2006/main">
            <a:r>
              <a:t>A workflow is represented as a typed directed graph G. V is the set of nodes, E is the set of edges, tau gives the type of each node, and sigma gives the execution state of each node over time.</a:t>
            </a:r>
          </a:p>
          <a:p xmlns:a="http://schemas.openxmlformats.org/drawingml/2006/main">
            <a:r>
              <a:t/>
            </a:r>
          </a:p>
          <a:p xmlns:a="http://schemas.openxmlformats.org/drawingml/2006/main">
            <a:r>
              <a:t>The node types in the MVP are retrieve, agent, create task, approval, evaluate, and export DOCX. Node state can be waiting, running, completed, approval required, or failed. This is what the UI visualizes in the live run screen.</a:t>
            </a:r>
          </a:p>
          <a:p xmlns:a="http://schemas.openxmlformats.org/drawingml/2006/main">
            <a:r>
              <a:t/>
            </a:r>
          </a:p>
          <a:p xmlns:a="http://schemas.openxmlformats.org/drawingml/2006/main">
            <a:r>
              <a:t>The approval formula says that a persistent mutation is allowed only when there is an approved human decision.</a:t>
            </a:r>
          </a:p>
          <a:p xmlns:a="http://schemas.openxmlformats.org/drawingml/2006/main">
            <a:r>
              <a:t/>
            </a:r>
          </a:p>
          <a:p xmlns:a="http://schemas.openxmlformats.org/drawingml/2006/main">
            <a:r>
              <a:t>The quality formula combines citation coverage, actionability, risk control, and completeness into one normalized score.</a:t>
            </a:r>
          </a:p>
          <a:p xmlns:a="http://schemas.openxmlformats.org/drawingml/2006/main">
            <a:r>
              <a:t/>
            </a:r>
          </a:p>
          <a:p xmlns:a="http://schemas.openxmlformats.org/drawingml/2006/main">
            <a:r>
              <a:t>The cost formula estimates model cost from input and output tokens. It explains why agent count, retrieval depth, and context length matter.</a:t>
            </a:r>
          </a:p>
          <a:p xmlns:a="http://schemas.openxmlformats.org/drawingml/2006/main">
            <a:r>
              <a:t/>
            </a:r>
          </a:p>
          <a:p xmlns:a="http://schemas.openxmlformats.org/drawingml/2006/main">
            <a:r>
              <a:t>Together, these formulas connect the software architecture to measurable variables: corpus size, embedding dimension, retrieval depth, number of agents, approval load, latency, and quality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2.1 minutes.</a:t>
            </a:r>
          </a:p>
          <a:p xmlns:a="http://schemas.openxmlformats.org/drawingml/2006/main">
            <a:r>
              <a:t/>
            </a:r>
          </a:p>
          <a:p xmlns:a="http://schemas.openxmlformats.org/drawingml/2006/main">
            <a:r>
              <a:t>This slide shows the structural scheme of the software algorithm.</a:t>
            </a:r>
          </a:p>
          <a:p xmlns:a="http://schemas.openxmlformats.org/drawingml/2006/main">
            <a:r>
              <a:t/>
            </a:r>
          </a:p>
          <a:p xmlns:a="http://schemas.openxmlformats.org/drawingml/2006/main">
            <a:r>
              <a:t>The process begins with authentication. A user registers or signs in through Supabase Auth. After that, the user can add their own Anthropic API key. This is the bring-your-own-key approach, so each user controls their own model access.</a:t>
            </a:r>
          </a:p>
          <a:p xmlns:a="http://schemas.openxmlformats.org/drawingml/2006/main">
            <a:r>
              <a:t/>
            </a:r>
          </a:p>
          <a:p xmlns:a="http://schemas.openxmlformats.org/drawingml/2006/main">
            <a:r>
              <a:t>Next, the user uploads documents or loads the synthetic corpus. The backend parses PDF, TXT, Markdown, and DOCX, then splits documents into chunks.</a:t>
            </a:r>
          </a:p>
          <a:p xmlns:a="http://schemas.openxmlformats.org/drawingml/2006/main">
            <a:r>
              <a:t/>
            </a:r>
          </a:p>
          <a:p xmlns:a="http://schemas.openxmlformats.org/drawingml/2006/main">
            <a:r>
              <a:t>Each chunk is converted into an embedding vector. Vectors are stored in Qdrant, while users, documents, agents, workflows, runs, tasks, approvals, and events are stored in Supabase Postgres.</a:t>
            </a:r>
          </a:p>
          <a:p xmlns:a="http://schemas.openxmlformats.org/drawingml/2006/main">
            <a:r>
              <a:t/>
            </a:r>
          </a:p>
          <a:p xmlns:a="http://schemas.openxmlformats.org/drawingml/2006/main">
            <a:r>
              <a:t>When the user starts a workflow, the system embeds the query and retrieves the top-k most similar chunks. These chunks become grounding context for the agents.</a:t>
            </a:r>
          </a:p>
          <a:p xmlns:a="http://schemas.openxmlformats.org/drawingml/2006/main">
            <a:r>
              <a:t/>
            </a:r>
          </a:p>
          <a:p xmlns:a="http://schemas.openxmlformats.org/drawingml/2006/main">
            <a:r>
              <a:t>The workflow itself is a graph of typed nodes: retrieve, agent, create task, approval, evaluate, and export DOCX.</a:t>
            </a:r>
          </a:p>
          <a:p xmlns:a="http://schemas.openxmlformats.org/drawingml/2006/main">
            <a:r>
              <a:t/>
            </a:r>
          </a:p>
          <a:p xmlns:a="http://schemas.openxmlformats.org/drawingml/2006/main">
            <a:r>
              <a:t>The safety rule is that agents can draft recommendations, but persistent changes go through approval. Rejected actions remain in the audit trail without changing final state.</a:t>
            </a:r>
          </a:p>
          <a:p xmlns:a="http://schemas.openxmlformats.org/drawingml/2006/main">
            <a:r>
              <a:t/>
            </a:r>
          </a:p>
          <a:p xmlns:a="http://schemas.openxmlformats.org/drawingml/2006/main">
            <a:r>
              <a:t>At the end, the system evaluates the run and exports a DOCX report. This shows a complete workflow from documents to actions and deliverables.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a:t>
            </a:r>
          </a:p>
          <a:p xmlns:a="http://schemas.openxmlformats.org/drawingml/2006/main">
            <a:r>
              <a:t/>
            </a:r>
          </a:p>
          <a:p xmlns:a="http://schemas.openxmlformats.org/drawingml/2006/main">
            <a:r>
              <a:t>The result of the work is a deployed and tested full-stack prototype.</a:t>
            </a:r>
          </a:p>
          <a:p xmlns:a="http://schemas.openxmlformats.org/drawingml/2006/main">
            <a:r>
              <a:t/>
            </a:r>
          </a:p>
          <a:p xmlns:a="http://schemas.openxmlformats.org/drawingml/2006/main">
            <a:r>
              <a:t>The production frontend is available at modelweave-two.vercel.app. The backend health endpoint is deployed on Railway, and the repository is public on GitHub. This means the result is not only a local prototype. It can be opened as a web application.</a:t>
            </a:r>
          </a:p>
          <a:p xmlns:a="http://schemas.openxmlformats.org/drawingml/2006/main">
            <a:r>
              <a:t/>
            </a:r>
          </a:p>
          <a:p xmlns:a="http://schemas.openxmlformats.org/drawingml/2006/main">
            <a:r>
              <a:t>The validation used synthetic data only. The test corpus includes sixteen fictional academic documents. In the clean agent run, the system produced eight citations, which confirms that the generated output was connected to retrieved evidence.</a:t>
            </a:r>
          </a:p>
          <a:p xmlns:a="http://schemas.openxmlformats.org/drawingml/2006/main">
            <a:r>
              <a:t/>
            </a:r>
          </a:p>
          <a:p xmlns:a="http://schemas.openxmlformats.org/drawingml/2006/main">
            <a:r>
              <a:t>The UX polish smoke test recorded forty-six run events. This is important because the workflow is traceable: we can see which nodes and agents were executed. The same test created four approval records, which shows that proposed actions are routed through the human approval queue.</a:t>
            </a:r>
          </a:p>
          <a:p xmlns:a="http://schemas.openxmlformats.org/drawingml/2006/main">
            <a:r>
              <a:t/>
            </a:r>
          </a:p>
          <a:p xmlns:a="http://schemas.openxmlformats.org/drawingml/2006/main">
            <a:r>
              <a:t>The DOCX export was also checked. The generated report contained no raw Markdown markers, so the output is suitable as a client-facing document rather than just raw model text.</a:t>
            </a:r>
          </a:p>
          <a:p xmlns:a="http://schemas.openxmlformats.org/drawingml/2006/main">
            <a:r>
              <a:t/>
            </a:r>
          </a:p>
          <a:p xmlns:a="http://schemas.openxmlformats.org/drawingml/2006/main">
            <a:r>
              <a:t>The screenshots on this slide show two important parts of the interface: the Runs screen and the Reports screen. Together, they demonstrate that the system can run workflows, inspect results, and export deliverables.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1.5 minutes.</a:t>
            </a:r>
          </a:p>
          <a:p xmlns:a="http://schemas.openxmlformats.org/drawingml/2006/main">
            <a:r>
              <a:t/>
            </a:r>
          </a:p>
          <a:p xmlns:a="http://schemas.openxmlformats.org/drawingml/2006/main">
            <a:r>
              <a:t>The main conclusion is that scalable commercial use of language models requires architecture, not only prompt engineering.</a:t>
            </a:r>
          </a:p>
          <a:p xmlns:a="http://schemas.openxmlformats.org/drawingml/2006/main">
            <a:r>
              <a:t/>
            </a:r>
          </a:p>
          <a:p xmlns:a="http://schemas.openxmlformats.org/drawingml/2006/main">
            <a:r>
              <a:t>First, service-oriented architecture is the backbone of the system. By separating the frontend, backend, database, vector store, model provider, and deployment services, the application becomes easier to deploy, test, and extend.</a:t>
            </a:r>
          </a:p>
          <a:p xmlns:a="http://schemas.openxmlformats.org/drawingml/2006/main">
            <a:r>
              <a:t/>
            </a:r>
          </a:p>
          <a:p xmlns:a="http://schemas.openxmlformats.org/drawingml/2006/main">
            <a:r>
              <a:t>Second, retrieval-augmented generation is necessary for grounding. The system does not rely only on the model's internal knowledge. It retrieves relevant document chunks and uses them as evidence for agent outputs.</a:t>
            </a:r>
          </a:p>
          <a:p xmlns:a="http://schemas.openxmlformats.org/drawingml/2006/main">
            <a:r>
              <a:t/>
            </a:r>
          </a:p>
          <a:p xmlns:a="http://schemas.openxmlformats.org/drawingml/2006/main">
            <a:r>
              <a:t>Third, agents are useful when they represent focused work roles. In ModelWeave, document reviewer, database curator, task planner, QA, and report writer agents can cooperate inside one workflow.</a:t>
            </a:r>
          </a:p>
          <a:p xmlns:a="http://schemas.openxmlformats.org/drawingml/2006/main">
            <a:r>
              <a:t/>
            </a:r>
          </a:p>
          <a:p xmlns:a="http://schemas.openxmlformats.org/drawingml/2006/main">
            <a:r>
              <a:t>Fourth, approval gates reduce operational risk. Business changes are proposed first and only applied after human approval. This is important for commercial systems where automatic changes can have consequences.</a:t>
            </a:r>
          </a:p>
          <a:p xmlns:a="http://schemas.openxmlformats.org/drawingml/2006/main">
            <a:r>
              <a:t/>
            </a:r>
          </a:p>
          <a:p xmlns:a="http://schemas.openxmlformats.org/drawingml/2006/main">
            <a:r>
              <a:t>Fifth, the prototype is practical. It includes authentication, bring-your-own-key model access, document uploads, workflows, audit events, approvals, evaluations, and DOCX exports.</a:t>
            </a:r>
          </a:p>
          <a:p xmlns:a="http://schemas.openxmlformats.org/drawingml/2006/main">
            <a:r>
              <a:t/>
            </a:r>
          </a:p>
          <a:p xmlns:a="http://schemas.openxmlformats.org/drawingml/2006/main">
            <a:r>
              <a:t>Future work could include a durable workflow queue, richer scheduling, external connectors, stronger retrieval benchmarks, richer evaluation methods, and organization-level permissions.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r>
              <a:t/>
            </a:r>
          </a:p>
          <a:p xmlns:a="http://schemas.openxmlformats.org/drawingml/2006/main">
            <a:r>
              <a:t>This is the demo link for the deployed prototype. The current production frontend is modelweave-two.vercel.app. The QR code opens the same address.</a:t>
            </a:r>
          </a:p>
          <a:p xmlns:a="http://schemas.openxmlformats.org/drawingml/2006/main">
            <a:r>
              <a:t/>
            </a:r>
          </a:p>
          <a:p xmlns:a="http://schemas.openxmlformats.org/drawingml/2006/main">
            <a:r>
              <a:t>The recommended demo path is short. First, sign in or register. Second, add the user's Anthropic API key, because the system uses a bring-your-own-key model. Third, load the synthetic academic corpus. Fourth, run the default Document Operations Review workflow. Fifth, review the output: the execution timeline, citations, approval queue, created tasks, evaluation score, and DOCX report.</a:t>
            </a:r>
          </a:p>
          <a:p xmlns:a="http://schemas.openxmlformats.org/drawingml/2006/main">
            <a:r>
              <a:t/>
            </a:r>
          </a:p>
          <a:p xmlns:a="http://schemas.openxmlformats.org/drawingml/2006/main">
            <a:r>
              <a:t>If there is enough time and internet access, I can open the application and show this workflow directly. If not, the link and QR code provide a safe way to access the demo after the presentation.</a:t>
            </a:r>
          </a:p>
          <a:p xmlns:a="http://schemas.openxmlformats.org/drawingml/2006/main">
            <a:r>
              <a:t/>
            </a:r>
          </a:p>
          <a:p xmlns:a="http://schemas.openxmlformats.org/drawingml/2006/main">
            <a:r>
              <a:t>This completes the presentation. Thank you for your 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040211b1474d19"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603c36270d074397" /><Relationship Type="http://schemas.openxmlformats.org/officeDocument/2006/relationships/slideLayout" Target="/ppt/slideLayouts/slideLayout2.xml" Id="Rec311b7498fb4e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311b7498fb4e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8ddd00a683c1446f" /><Relationship Type="http://schemas.openxmlformats.org/officeDocument/2006/relationships/image" Target="/ppt/media/image.jpeg" Id="Rcf1fde63b03d4739" /><Relationship Type="http://schemas.openxmlformats.org/officeDocument/2006/relationships/notesSlide" Target="/ppt/notesSlides/notesSlide1.xml" Id="Raf69c882c18d40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540d11824b04b0a" /><Relationship Type="http://schemas.openxmlformats.org/officeDocument/2006/relationships/notesSlide" Target="/ppt/notesSlides/notesSlide2.xml" Id="Ra6e760f25bd443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be0b0c92a7847fa" /><Relationship Type="http://schemas.openxmlformats.org/officeDocument/2006/relationships/notesSlide" Target="/ppt/notesSlides/notesSlide3.xml" Id="Ra2045e9a685144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15742b8b55c421f" /><Relationship Type="http://schemas.openxmlformats.org/officeDocument/2006/relationships/notesSlide" Target="/ppt/notesSlides/notesSlide4.xml" Id="R04f7c23e567240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01a202d17894a44" /><Relationship Type="http://schemas.openxmlformats.org/officeDocument/2006/relationships/notesSlide" Target="/ppt/notesSlides/notesSlide5.xml" Id="R4879874b1a3745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9b1d2d18ab74dc0" /><Relationship Type="http://schemas.openxmlformats.org/officeDocument/2006/relationships/notesSlide" Target="/ppt/notesSlides/notesSlide6.xml" Id="Rb6e7d497eb2047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304c7920b954e1e" /><Relationship Type="http://schemas.openxmlformats.org/officeDocument/2006/relationships/image" Target="/ppt/media/image.png" Id="R282cda102506427a" /><Relationship Type="http://schemas.openxmlformats.org/officeDocument/2006/relationships/image" Target="/ppt/media/image2.jpeg" Id="Rdcf40d039b3a4c4a" /><Relationship Type="http://schemas.openxmlformats.org/officeDocument/2006/relationships/image" Target="/ppt/media/image2.png" Id="R81f11cbd94564ce4" /><Relationship Type="http://schemas.openxmlformats.org/officeDocument/2006/relationships/notesSlide" Target="/ppt/notesSlides/notesSlide7.xml" Id="R5d93321771cd46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e579e4ea758448a" /><Relationship Type="http://schemas.openxmlformats.org/officeDocument/2006/relationships/image" Target="/ppt/media/image3.jpeg" Id="R6b0c784b5a594d10" /><Relationship Type="http://schemas.openxmlformats.org/officeDocument/2006/relationships/image" Target="/ppt/media/image4.jpeg" Id="R4426c2f4db0b48d5" /><Relationship Type="http://schemas.openxmlformats.org/officeDocument/2006/relationships/notesSlide" Target="/ppt/notesSlides/notesSlide8.xml" Id="Rce206f40912149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8ca04efb1be4799" /><Relationship Type="http://schemas.openxmlformats.org/officeDocument/2006/relationships/notesSlide" Target="/ppt/notesSlides/notesSlide9.xml" Id="R242a1bb98d7445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c3f9e7f114c40ea" /><Relationship Type="http://schemas.openxmlformats.org/officeDocument/2006/relationships/image" Target="/ppt/media/image3.png" Id="Rc763923b8cfc45fd" /><Relationship Type="http://schemas.openxmlformats.org/officeDocument/2006/relationships/notesSlide" Target="/ppt/notesSlides/notesSlide10.xml" Id="R282803a92daa461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B534F24-5454-43A9-941F-8A7452AF433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24CE338-C273-450A-9F07-09B47CE5F483}"/>
              </a:ext>
            </a:extLst>
          </p:cNvPr>
          <p:cNvSpPr>
            <a:spLocks xmlns:a="http://schemas.openxmlformats.org/drawingml/2006/main" noGrp="1"/>
          </p:cNvSpPr>
          <p:nvPr/>
        </p:nvSpPr>
        <p:spPr>
          <a:xfrm xmlns:a="http://schemas.openxmlformats.org/drawingml/2006/main">
            <a:off x="0" y="76200"/>
            <a:ext cx="12192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76AFFBF-FE22-4F7F-BF54-2B4A514321C1}"/>
              </a:ext>
            </a:extLst>
          </p:cNvPr>
          <p:cNvSpPr>
            <a:spLocks xmlns:a="http://schemas.openxmlformats.org/drawingml/2006/main" noGrp="1"/>
          </p:cNvSpPr>
          <p:nvPr/>
        </p:nvSpPr>
        <p:spPr>
          <a:xfrm xmlns:a="http://schemas.openxmlformats.org/drawingml/2006/main">
            <a:off x="514350" y="6419850"/>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ModelWeave | Service-oriented architecture for scalable LLM use</a:t>
            </a:r>
          </a:p>
        </p:txBody>
      </p:sp>
      <p:sp>
        <p:nvSpPr>
          <p:cNvPr id="4" name="">
            <a:extLst xmlns:a="http://schemas.openxmlformats.org/drawingml/2006/main">
              <a:ext uri="{FF2B5EF4-FFF2-40B4-BE49-F238E27FC236}">
                <a16:creationId xmlns:a16="http://schemas.microsoft.com/office/drawing/2014/main" id="{899BF9B7-A842-4CD2-88E4-1171F8D7D63B}"/>
              </a:ext>
            </a:extLst>
          </p:cNvPr>
          <p:cNvSpPr>
            <a:spLocks xmlns:a="http://schemas.openxmlformats.org/drawingml/2006/main" noGrp="1"/>
          </p:cNvSpPr>
          <p:nvPr/>
        </p:nvSpPr>
        <p:spPr>
          <a:xfrm xmlns:a="http://schemas.openxmlformats.org/drawingml/2006/main">
            <a:off x="11239500" y="64198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EA36B52A-B770-4C68-BFC5-6174F380DBC4}"/>
              </a:ext>
            </a:extLst>
          </p:cNvPr>
          <p:cNvSpPr>
            <a:spLocks xmlns:a="http://schemas.openxmlformats.org/drawingml/2006/main" noGrp="1"/>
          </p:cNvSpPr>
          <p:nvPr/>
        </p:nvSpPr>
        <p:spPr>
          <a:xfrm xmlns:a="http://schemas.openxmlformats.org/drawingml/2006/main">
            <a:off x="9144000" y="64198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Topic</a:t>
            </a:r>
          </a:p>
        </p:txBody>
      </p:sp>
      <p:sp>
        <p:nvSpPr>
          <p:cNvPr id="6" name="">
            <a:extLst xmlns:a="http://schemas.openxmlformats.org/drawingml/2006/main">
              <a:ext uri="{FF2B5EF4-FFF2-40B4-BE49-F238E27FC236}">
                <a16:creationId xmlns:a16="http://schemas.microsoft.com/office/drawing/2014/main" id="{C4FE1B3F-EB2E-469D-9EAC-E4EEC80D2127}"/>
              </a:ext>
            </a:extLst>
          </p:cNvPr>
          <p:cNvSpPr>
            <a:spLocks xmlns:a="http://schemas.openxmlformats.org/drawingml/2006/main" noGrp="1"/>
          </p:cNvSpPr>
          <p:nvPr/>
        </p:nvSpPr>
        <p:spPr>
          <a:xfrm xmlns:a="http://schemas.openxmlformats.org/drawingml/2006/main">
            <a:off x="609600" y="43815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BACHELOR'S QUALIFICATION WORK</a:t>
            </a:r>
          </a:p>
        </p:txBody>
      </p:sp>
      <p:sp>
        <p:nvSpPr>
          <p:cNvPr id="7" name="">
            <a:extLst xmlns:a="http://schemas.openxmlformats.org/drawingml/2006/main">
              <a:ext uri="{FF2B5EF4-FFF2-40B4-BE49-F238E27FC236}">
                <a16:creationId xmlns:a16="http://schemas.microsoft.com/office/drawing/2014/main" id="{E5F59943-DA52-46C6-B523-D2F3F4D2CD26}"/>
              </a:ext>
            </a:extLst>
          </p:cNvPr>
          <p:cNvSpPr>
            <a:spLocks xmlns:a="http://schemas.openxmlformats.org/drawingml/2006/main" noGrp="1"/>
          </p:cNvSpPr>
          <p:nvPr/>
        </p:nvSpPr>
        <p:spPr>
          <a:xfrm xmlns:a="http://schemas.openxmlformats.org/drawingml/2006/main">
            <a:off x="609600" y="762000"/>
            <a:ext cx="7239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F172A"/>
                </a:solidFill>
                <a:latin typeface="Aptos Display"/>
                <a:ea typeface="Aptos Display"/>
                <a:cs typeface="Aptos Display"/>
              </a:defRPr>
            </a:pPr>
            <a:r>
              <a:rPr sz="2400" b="1">
                <a:solidFill>
                  <a:srgbClr val="0F172A"/>
                </a:solidFill>
                <a:latin typeface="Aptos Display"/>
                <a:ea typeface="Aptos Display"/>
                <a:cs typeface="Aptos Display"/>
              </a:rPr>
              <a:t>Creating a Service-Oriented Architecture for</a:t>
            </a:r>
          </a:p>
        </p:txBody>
      </p:sp>
      <p:sp>
        <p:nvSpPr>
          <p:cNvPr id="8" name="">
            <a:extLst xmlns:a="http://schemas.openxmlformats.org/drawingml/2006/main">
              <a:ext uri="{FF2B5EF4-FFF2-40B4-BE49-F238E27FC236}">
                <a16:creationId xmlns:a16="http://schemas.microsoft.com/office/drawing/2014/main" id="{64ADC6D2-9136-4A4F-BF43-E2E14943A21B}"/>
              </a:ext>
            </a:extLst>
          </p:cNvPr>
          <p:cNvSpPr>
            <a:spLocks xmlns:a="http://schemas.openxmlformats.org/drawingml/2006/main" noGrp="1"/>
          </p:cNvSpPr>
          <p:nvPr/>
        </p:nvSpPr>
        <p:spPr>
          <a:xfrm xmlns:a="http://schemas.openxmlformats.org/drawingml/2006/main">
            <a:off x="609600" y="1162050"/>
            <a:ext cx="6858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F172A"/>
                </a:solidFill>
                <a:latin typeface="Aptos Display"/>
                <a:ea typeface="Aptos Display"/>
                <a:cs typeface="Aptos Display"/>
              </a:defRPr>
            </a:pPr>
            <a:r>
              <a:rPr sz="2400" b="1">
                <a:solidFill>
                  <a:srgbClr val="0F172A"/>
                </a:solidFill>
                <a:latin typeface="Aptos Display"/>
                <a:ea typeface="Aptos Display"/>
                <a:cs typeface="Aptos Display"/>
              </a:rPr>
              <a:t>Scalable Use of Language Models</a:t>
            </a:r>
          </a:p>
        </p:txBody>
      </p:sp>
      <p:sp>
        <p:nvSpPr>
          <p:cNvPr id="9" name="">
            <a:extLst xmlns:a="http://schemas.openxmlformats.org/drawingml/2006/main">
              <a:ext uri="{FF2B5EF4-FFF2-40B4-BE49-F238E27FC236}">
                <a16:creationId xmlns:a16="http://schemas.microsoft.com/office/drawing/2014/main" id="{225CEC51-C0C5-4617-91D5-D160B4486AB5}"/>
              </a:ext>
            </a:extLst>
          </p:cNvPr>
          <p:cNvSpPr>
            <a:spLocks xmlns:a="http://schemas.openxmlformats.org/drawingml/2006/main" noGrp="1"/>
          </p:cNvSpPr>
          <p:nvPr/>
        </p:nvSpPr>
        <p:spPr>
          <a:xfrm xmlns:a="http://schemas.openxmlformats.org/drawingml/2006/main">
            <a:off x="609600" y="1562100"/>
            <a:ext cx="5905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F172A"/>
                </a:solidFill>
                <a:latin typeface="Aptos Display"/>
                <a:ea typeface="Aptos Display"/>
                <a:cs typeface="Aptos Display"/>
              </a:defRPr>
            </a:pPr>
            <a:r>
              <a:rPr sz="2400" b="1">
                <a:solidFill>
                  <a:srgbClr val="0F172A"/>
                </a:solidFill>
                <a:latin typeface="Aptos Display"/>
                <a:ea typeface="Aptos Display"/>
                <a:cs typeface="Aptos Display"/>
              </a:rPr>
              <a:t>in Commercial Solutions</a:t>
            </a:r>
          </a:p>
        </p:txBody>
      </p:sp>
      <p:sp>
        <p:nvSpPr>
          <p:cNvPr id="10" name="">
            <a:extLst xmlns:a="http://schemas.openxmlformats.org/drawingml/2006/main">
              <a:ext uri="{FF2B5EF4-FFF2-40B4-BE49-F238E27FC236}">
                <a16:creationId xmlns:a16="http://schemas.microsoft.com/office/drawing/2014/main" id="{11E3D1FC-4627-439B-9CC7-727F36187F44}"/>
              </a:ext>
            </a:extLst>
          </p:cNvPr>
          <p:cNvSpPr>
            <a:spLocks xmlns:a="http://schemas.openxmlformats.org/drawingml/2006/main" noGrp="1"/>
          </p:cNvSpPr>
          <p:nvPr/>
        </p:nvSpPr>
        <p:spPr>
          <a:xfrm xmlns:a="http://schemas.openxmlformats.org/drawingml/2006/main">
            <a:off x="628650" y="1981200"/>
            <a:ext cx="5715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ModelWeave: deployed document-grounded agent platform</a:t>
            </a:r>
          </a:p>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with database, workflows, approvals, tasks, and DOCX reports</a:t>
            </a:r>
          </a:p>
        </p:txBody>
      </p:sp>
      <p:sp>
        <p:nvSpPr>
          <p:cNvPr id="11" name="">
            <a:extLst xmlns:a="http://schemas.openxmlformats.org/drawingml/2006/main">
              <a:ext uri="{FF2B5EF4-FFF2-40B4-BE49-F238E27FC236}">
                <a16:creationId xmlns:a16="http://schemas.microsoft.com/office/drawing/2014/main" id="{3E73FB97-701D-4695-9FA9-BD5E2033F0AB}"/>
              </a:ext>
            </a:extLst>
          </p:cNvPr>
          <p:cNvSpPr>
            <a:spLocks xmlns:a="http://schemas.openxmlformats.org/drawingml/2006/main" noGrp="1"/>
          </p:cNvSpPr>
          <p:nvPr/>
        </p:nvSpPr>
        <p:spPr>
          <a:xfrm xmlns:a="http://schemas.openxmlformats.org/drawingml/2006/main">
            <a:off x="609600" y="2533650"/>
            <a:ext cx="4953000" cy="1771650"/>
          </a:xfrm>
          <a:prstGeom xmlns:a="http://schemas.openxmlformats.org/drawingml/2006/main" prst="roundRect">
            <a:avLst>
              <a:gd name="adj" fmla="val 4301"/>
            </a:avLst>
          </a:prstGeom>
          <a:solidFill xmlns:a="http://schemas.openxmlformats.org/drawingml/2006/main">
            <a:srgbClr val="F8FAFC"/>
          </a:solidFill>
          <a:ln xmlns:a="http://schemas.openxmlformats.org/drawingml/2006/main" w="9525">
            <a:solidFill>
              <a:srgbClr val="CBD5E1"/>
            </a:solidFill>
            <a:prstDash val="solid"/>
          </a:ln>
        </p:spPr>
      </p:sp>
      <p:sp>
        <p:nvSpPr>
          <p:cNvPr id="12" name="">
            <a:extLst xmlns:a="http://schemas.openxmlformats.org/drawingml/2006/main">
              <a:ext uri="{FF2B5EF4-FFF2-40B4-BE49-F238E27FC236}">
                <a16:creationId xmlns:a16="http://schemas.microsoft.com/office/drawing/2014/main" id="{6EC03A4A-3AA7-4505-8DFF-02761E6B9CF9}"/>
              </a:ext>
            </a:extLst>
          </p:cNvPr>
          <p:cNvSpPr>
            <a:spLocks xmlns:a="http://schemas.openxmlformats.org/drawingml/2006/main" noGrp="1"/>
          </p:cNvSpPr>
          <p:nvPr/>
        </p:nvSpPr>
        <p:spPr>
          <a:xfrm xmlns:a="http://schemas.openxmlformats.org/drawingml/2006/main">
            <a:off x="876300" y="278130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766E"/>
                </a:solidFill>
                <a:latin typeface="Aptos"/>
                <a:ea typeface="Aptos"/>
                <a:cs typeface="Aptos"/>
              </a:defRPr>
            </a:pPr>
            <a:r>
              <a:rPr sz="975" b="1">
                <a:solidFill>
                  <a:srgbClr val="0F766E"/>
                </a:solidFill>
                <a:latin typeface="Aptos"/>
                <a:ea typeface="Aptos"/>
                <a:cs typeface="Aptos"/>
              </a:rPr>
              <a:t>Student</a:t>
            </a:r>
          </a:p>
        </p:txBody>
      </p:sp>
      <p:sp>
        <p:nvSpPr>
          <p:cNvPr id="13" name="">
            <a:extLst xmlns:a="http://schemas.openxmlformats.org/drawingml/2006/main">
              <a:ext uri="{FF2B5EF4-FFF2-40B4-BE49-F238E27FC236}">
                <a16:creationId xmlns:a16="http://schemas.microsoft.com/office/drawing/2014/main" id="{FF7FF2A0-3B24-4465-A595-53AE923A7A8B}"/>
              </a:ext>
            </a:extLst>
          </p:cNvPr>
          <p:cNvSpPr>
            <a:spLocks xmlns:a="http://schemas.openxmlformats.org/drawingml/2006/main" noGrp="1"/>
          </p:cNvSpPr>
          <p:nvPr/>
        </p:nvSpPr>
        <p:spPr>
          <a:xfrm xmlns:a="http://schemas.openxmlformats.org/drawingml/2006/main">
            <a:off x="876300" y="3028950"/>
            <a:ext cx="3905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Serhii Sotskyi, group AB221</a:t>
            </a:r>
          </a:p>
        </p:txBody>
      </p:sp>
      <p:sp>
        <p:nvSpPr>
          <p:cNvPr id="14" name="">
            <a:extLst xmlns:a="http://schemas.openxmlformats.org/drawingml/2006/main">
              <a:ext uri="{FF2B5EF4-FFF2-40B4-BE49-F238E27FC236}">
                <a16:creationId xmlns:a16="http://schemas.microsoft.com/office/drawing/2014/main" id="{1F2A13B0-FB5B-4A87-8676-E057A5D7E9D1}"/>
              </a:ext>
            </a:extLst>
          </p:cNvPr>
          <p:cNvSpPr>
            <a:spLocks xmlns:a="http://schemas.openxmlformats.org/drawingml/2006/main" noGrp="1"/>
          </p:cNvSpPr>
          <p:nvPr/>
        </p:nvSpPr>
        <p:spPr>
          <a:xfrm xmlns:a="http://schemas.openxmlformats.org/drawingml/2006/main">
            <a:off x="876300" y="346710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766E"/>
                </a:solidFill>
                <a:latin typeface="Aptos"/>
                <a:ea typeface="Aptos"/>
                <a:cs typeface="Aptos"/>
              </a:defRPr>
            </a:pPr>
            <a:r>
              <a:rPr sz="975" b="1">
                <a:solidFill>
                  <a:srgbClr val="0F766E"/>
                </a:solidFill>
                <a:latin typeface="Aptos"/>
                <a:ea typeface="Aptos"/>
                <a:cs typeface="Aptos"/>
              </a:rPr>
              <a:t>Supervisor</a:t>
            </a:r>
          </a:p>
        </p:txBody>
      </p:sp>
      <p:sp>
        <p:nvSpPr>
          <p:cNvPr id="15" name="">
            <a:extLst xmlns:a="http://schemas.openxmlformats.org/drawingml/2006/main">
              <a:ext uri="{FF2B5EF4-FFF2-40B4-BE49-F238E27FC236}">
                <a16:creationId xmlns:a16="http://schemas.microsoft.com/office/drawing/2014/main" id="{0738006B-2FED-4289-BB65-B5378AF04EDE}"/>
              </a:ext>
            </a:extLst>
          </p:cNvPr>
          <p:cNvSpPr>
            <a:spLocks xmlns:a="http://schemas.openxmlformats.org/drawingml/2006/main" noGrp="1"/>
          </p:cNvSpPr>
          <p:nvPr/>
        </p:nvSpPr>
        <p:spPr>
          <a:xfrm xmlns:a="http://schemas.openxmlformats.org/drawingml/2006/main">
            <a:off x="876300" y="3714750"/>
            <a:ext cx="3905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Vira Oleksandrivna Hrishyna</a:t>
            </a:r>
          </a:p>
        </p:txBody>
      </p:sp>
      <p:sp>
        <p:nvSpPr>
          <p:cNvPr id="16" name="">
            <a:extLst xmlns:a="http://schemas.openxmlformats.org/drawingml/2006/main">
              <a:ext uri="{FF2B5EF4-FFF2-40B4-BE49-F238E27FC236}">
                <a16:creationId xmlns:a16="http://schemas.microsoft.com/office/drawing/2014/main" id="{11D5CD33-9C69-48B6-8516-463C5491B7F6}"/>
              </a:ext>
            </a:extLst>
          </p:cNvPr>
          <p:cNvSpPr>
            <a:spLocks xmlns:a="http://schemas.openxmlformats.org/drawingml/2006/main" noGrp="1"/>
          </p:cNvSpPr>
          <p:nvPr/>
        </p:nvSpPr>
        <p:spPr>
          <a:xfrm xmlns:a="http://schemas.openxmlformats.org/drawingml/2006/main">
            <a:off x="876300" y="40576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National University "Odesa Polytechnic" | Odesa, 2026</a:t>
            </a:r>
          </a:p>
        </p:txBody>
      </p:sp>
      <p:sp>
        <p:nvSpPr>
          <p:cNvPr id="17" name="">
            <a:extLst xmlns:a="http://schemas.openxmlformats.org/drawingml/2006/main">
              <a:ext uri="{FF2B5EF4-FFF2-40B4-BE49-F238E27FC236}">
                <a16:creationId xmlns:a16="http://schemas.microsoft.com/office/drawing/2014/main" id="{854501A4-2A04-4A66-8B3A-04E638122589}"/>
              </a:ext>
            </a:extLst>
          </p:cNvPr>
          <p:cNvSpPr>
            <a:spLocks xmlns:a="http://schemas.openxmlformats.org/drawingml/2006/main" noGrp="1"/>
          </p:cNvSpPr>
          <p:nvPr/>
        </p:nvSpPr>
        <p:spPr>
          <a:xfrm xmlns:a="http://schemas.openxmlformats.org/drawingml/2006/main">
            <a:off x="6191250" y="2114550"/>
            <a:ext cx="4762500" cy="260985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9525">
            <a:solidFill>
              <a:srgbClr val="CBD5E1"/>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f1fde63b03d4739"/>
          <a:srcRect xmlns:a="http://schemas.openxmlformats.org/drawingml/2006/main" l="0" t="22770" r="0" b="22770"/>
          <a:stretch xmlns:a="http://schemas.openxmlformats.org/drawingml/2006/main">
            <a:fillRect l="0" t="0" r="0" b="0"/>
          </a:stretch>
        </p:blipFill>
        <p:spPr>
          <a:xfrm xmlns:a="http://schemas.openxmlformats.org/drawingml/2006/main">
            <a:off x="6267450" y="2190750"/>
            <a:ext cx="4610100" cy="24574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DFDB07DB-0DF7-4131-8898-3782312A5720}"/>
              </a:ext>
            </a:extLst>
          </p:cNvPr>
          <p:cNvSpPr>
            <a:spLocks xmlns:a="http://schemas.openxmlformats.org/drawingml/2006/main" noGrp="1"/>
          </p:cNvSpPr>
          <p:nvPr/>
        </p:nvSpPr>
        <p:spPr>
          <a:xfrm xmlns:a="http://schemas.openxmlformats.org/drawingml/2006/main">
            <a:off x="6191250" y="4953000"/>
            <a:ext cx="1619250" cy="323850"/>
          </a:xfrm>
          <a:prstGeom xmlns:a="http://schemas.openxmlformats.org/drawingml/2006/main" prst="roundRect">
            <a:avLst>
              <a:gd name="adj" fmla="val 23529"/>
            </a:avLst>
          </a:prstGeom>
          <a:solidFill xmlns:a="http://schemas.openxmlformats.org/drawingml/2006/main">
            <a:srgbClr val="F1F5F9"/>
          </a:solidFill>
          <a:ln xmlns:a="http://schemas.openxmlformats.org/drawingml/2006/main" w="0">
            <a:solidFill>
              <a:srgbClr val="F1F5F9"/>
            </a:solidFill>
            <a:prstDash val="solid"/>
          </a:ln>
        </p:spPr>
      </p:sp>
      <p:sp>
        <p:nvSpPr>
          <p:cNvPr id="20" name="">
            <a:extLst xmlns:a="http://schemas.openxmlformats.org/drawingml/2006/main">
              <a:ext uri="{FF2B5EF4-FFF2-40B4-BE49-F238E27FC236}">
                <a16:creationId xmlns:a16="http://schemas.microsoft.com/office/drawing/2014/main" id="{11FC6E74-A9DE-40F8-9B1B-8C94FF3586A0}"/>
              </a:ext>
            </a:extLst>
          </p:cNvPr>
          <p:cNvSpPr>
            <a:spLocks xmlns:a="http://schemas.openxmlformats.org/drawingml/2006/main" noGrp="1"/>
          </p:cNvSpPr>
          <p:nvPr/>
        </p:nvSpPr>
        <p:spPr>
          <a:xfrm xmlns:a="http://schemas.openxmlformats.org/drawingml/2006/main">
            <a:off x="6305550" y="5019675"/>
            <a:ext cx="1390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Real deployed web app</a:t>
            </a:r>
          </a:p>
        </p:txBody>
      </p:sp>
      <p:sp>
        <p:nvSpPr>
          <p:cNvPr id="21" name="">
            <a:extLst xmlns:a="http://schemas.openxmlformats.org/drawingml/2006/main">
              <a:ext uri="{FF2B5EF4-FFF2-40B4-BE49-F238E27FC236}">
                <a16:creationId xmlns:a16="http://schemas.microsoft.com/office/drawing/2014/main" id="{D70D2397-B772-4AE7-85C9-2A5DF05B5B78}"/>
              </a:ext>
            </a:extLst>
          </p:cNvPr>
          <p:cNvSpPr>
            <a:spLocks xmlns:a="http://schemas.openxmlformats.org/drawingml/2006/main" noGrp="1"/>
          </p:cNvSpPr>
          <p:nvPr/>
        </p:nvSpPr>
        <p:spPr>
          <a:xfrm xmlns:a="http://schemas.openxmlformats.org/drawingml/2006/main">
            <a:off x="7962900" y="4953000"/>
            <a:ext cx="1524000" cy="323850"/>
          </a:xfrm>
          <a:prstGeom xmlns:a="http://schemas.openxmlformats.org/drawingml/2006/main" prst="roundRect">
            <a:avLst>
              <a:gd name="adj" fmla="val 23529"/>
            </a:avLst>
          </a:prstGeom>
          <a:solidFill xmlns:a="http://schemas.openxmlformats.org/drawingml/2006/main">
            <a:srgbClr val="F1F5F9"/>
          </a:solidFill>
          <a:ln xmlns:a="http://schemas.openxmlformats.org/drawingml/2006/main" w="0">
            <a:solidFill>
              <a:srgbClr val="F1F5F9"/>
            </a:solidFill>
            <a:prstDash val="solid"/>
          </a:ln>
        </p:spPr>
      </p:sp>
      <p:sp>
        <p:nvSpPr>
          <p:cNvPr id="22" name="">
            <a:extLst xmlns:a="http://schemas.openxmlformats.org/drawingml/2006/main">
              <a:ext uri="{FF2B5EF4-FFF2-40B4-BE49-F238E27FC236}">
                <a16:creationId xmlns:a16="http://schemas.microsoft.com/office/drawing/2014/main" id="{F82E588E-C6EC-4247-8D4A-E40306A85E20}"/>
              </a:ext>
            </a:extLst>
          </p:cNvPr>
          <p:cNvSpPr>
            <a:spLocks xmlns:a="http://schemas.openxmlformats.org/drawingml/2006/main" noGrp="1"/>
          </p:cNvSpPr>
          <p:nvPr/>
        </p:nvSpPr>
        <p:spPr>
          <a:xfrm xmlns:a="http://schemas.openxmlformats.org/drawingml/2006/main">
            <a:off x="8077200" y="5019675"/>
            <a:ext cx="1295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Synthetic data only</a:t>
            </a:r>
          </a:p>
        </p:txBody>
      </p:sp>
      <p:sp>
        <p:nvSpPr>
          <p:cNvPr id="23" name="">
            <a:extLst xmlns:a="http://schemas.openxmlformats.org/drawingml/2006/main">
              <a:ext uri="{FF2B5EF4-FFF2-40B4-BE49-F238E27FC236}">
                <a16:creationId xmlns:a16="http://schemas.microsoft.com/office/drawing/2014/main" id="{55FD28CC-C32E-4495-955F-B7B079E0FDEF}"/>
              </a:ext>
            </a:extLst>
          </p:cNvPr>
          <p:cNvSpPr>
            <a:spLocks xmlns:a="http://schemas.openxmlformats.org/drawingml/2006/main" noGrp="1"/>
          </p:cNvSpPr>
          <p:nvPr/>
        </p:nvSpPr>
        <p:spPr>
          <a:xfrm xmlns:a="http://schemas.openxmlformats.org/drawingml/2006/main">
            <a:off x="9639300" y="4953000"/>
            <a:ext cx="1314450" cy="323850"/>
          </a:xfrm>
          <a:prstGeom xmlns:a="http://schemas.openxmlformats.org/drawingml/2006/main" prst="roundRect">
            <a:avLst>
              <a:gd name="adj" fmla="val 23529"/>
            </a:avLst>
          </a:prstGeom>
          <a:solidFill xmlns:a="http://schemas.openxmlformats.org/drawingml/2006/main">
            <a:srgbClr val="F1F5F9"/>
          </a:solidFill>
          <a:ln xmlns:a="http://schemas.openxmlformats.org/drawingml/2006/main" w="0">
            <a:solidFill>
              <a:srgbClr val="F1F5F9"/>
            </a:solidFill>
            <a:prstDash val="solid"/>
          </a:ln>
        </p:spPr>
      </p:sp>
      <p:sp>
        <p:nvSpPr>
          <p:cNvPr id="24" name="">
            <a:extLst xmlns:a="http://schemas.openxmlformats.org/drawingml/2006/main">
              <a:ext uri="{FF2B5EF4-FFF2-40B4-BE49-F238E27FC236}">
                <a16:creationId xmlns:a16="http://schemas.microsoft.com/office/drawing/2014/main" id="{CEC18075-E807-4790-8390-0FBC779757F2}"/>
              </a:ext>
            </a:extLst>
          </p:cNvPr>
          <p:cNvSpPr>
            <a:spLocks xmlns:a="http://schemas.openxmlformats.org/drawingml/2006/main" noGrp="1"/>
          </p:cNvSpPr>
          <p:nvPr/>
        </p:nvSpPr>
        <p:spPr>
          <a:xfrm xmlns:a="http://schemas.openxmlformats.org/drawingml/2006/main">
            <a:off x="9753600" y="5019675"/>
            <a:ext cx="1085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DOCX outputs</a:t>
            </a:r>
          </a:p>
        </p:txBody>
      </p:sp>
      <p:sp>
        <p:nvSpPr>
          <p:cNvPr id="25" name="">
            <a:extLst xmlns:a="http://schemas.openxmlformats.org/drawingml/2006/main">
              <a:ext uri="{FF2B5EF4-FFF2-40B4-BE49-F238E27FC236}">
                <a16:creationId xmlns:a16="http://schemas.microsoft.com/office/drawing/2014/main" id="{EE3F645E-7CC2-4D78-A684-6A94AAE3A573}"/>
              </a:ext>
            </a:extLst>
          </p:cNvPr>
          <p:cNvSpPr>
            <a:spLocks xmlns:a="http://schemas.openxmlformats.org/drawingml/2006/main" noGrp="1"/>
          </p:cNvSpPr>
          <p:nvPr/>
        </p:nvSpPr>
        <p:spPr>
          <a:xfrm xmlns:a="http://schemas.openxmlformats.org/drawingml/2006/main">
            <a:off x="609600" y="5334000"/>
            <a:ext cx="10344150" cy="952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9FB89DA2-F01C-4D23-94AA-584BA78D1F7F}"/>
              </a:ext>
            </a:extLst>
          </p:cNvPr>
          <p:cNvSpPr>
            <a:spLocks xmlns:a="http://schemas.openxmlformats.org/drawingml/2006/main" noGrp="1"/>
          </p:cNvSpPr>
          <p:nvPr/>
        </p:nvSpPr>
        <p:spPr>
          <a:xfrm xmlns:a="http://schemas.openxmlformats.org/drawingml/2006/main">
            <a:off x="609600" y="5524500"/>
            <a:ext cx="457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Defense duration target: under 15 minutes</a:t>
            </a:r>
          </a:p>
        </p:txBody>
      </p:sp>
      <p:sp>
        <p:nvSpPr>
          <p:cNvPr id="27" name="">
            <a:extLst xmlns:a="http://schemas.openxmlformats.org/drawingml/2006/main">
              <a:ext uri="{FF2B5EF4-FFF2-40B4-BE49-F238E27FC236}">
                <a16:creationId xmlns:a16="http://schemas.microsoft.com/office/drawing/2014/main" id="{4F7BB70B-9733-4C18-8615-621759410D1D}"/>
              </a:ext>
            </a:extLst>
          </p:cNvPr>
          <p:cNvSpPr>
            <a:spLocks xmlns:a="http://schemas.openxmlformats.org/drawingml/2006/main" noGrp="1"/>
          </p:cNvSpPr>
          <p:nvPr/>
        </p:nvSpPr>
        <p:spPr>
          <a:xfrm xmlns:a="http://schemas.openxmlformats.org/drawingml/2006/main">
            <a:off x="7810500" y="5524500"/>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Production demo is linked at the end</a:t>
            </a:r>
          </a:p>
        </p:txBody>
      </p:sp>
    </p:spTree>
    <p:extLst>
      <p:ext uri="{BB962C8B-B14F-4D97-AF65-F5344CB8AC3E}">
        <p14:creationId xmlns:p14="http://schemas.microsoft.com/office/powerpoint/2010/main" val="2761496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2035C7-1AEE-4B62-B7C5-7FB6EC0CDE8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098A7B9-CE0E-415B-8931-DE592A61E011}"/>
              </a:ext>
            </a:extLst>
          </p:cNvPr>
          <p:cNvSpPr>
            <a:spLocks xmlns:a="http://schemas.openxmlformats.org/drawingml/2006/main" noGrp="1"/>
          </p:cNvSpPr>
          <p:nvPr/>
        </p:nvSpPr>
        <p:spPr>
          <a:xfrm xmlns:a="http://schemas.openxmlformats.org/drawingml/2006/main">
            <a:off x="0" y="76200"/>
            <a:ext cx="12192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5A3A578-9B41-47BF-86ED-E819A5A6671D}"/>
              </a:ext>
            </a:extLst>
          </p:cNvPr>
          <p:cNvSpPr>
            <a:spLocks xmlns:a="http://schemas.openxmlformats.org/drawingml/2006/main" noGrp="1"/>
          </p:cNvSpPr>
          <p:nvPr/>
        </p:nvSpPr>
        <p:spPr>
          <a:xfrm xmlns:a="http://schemas.openxmlformats.org/drawingml/2006/main">
            <a:off x="514350" y="6419850"/>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ModelWeave | Service-oriented architecture for scalable LLM use</a:t>
            </a:r>
          </a:p>
        </p:txBody>
      </p:sp>
      <p:sp>
        <p:nvSpPr>
          <p:cNvPr id="4" name="">
            <a:extLst xmlns:a="http://schemas.openxmlformats.org/drawingml/2006/main">
              <a:ext uri="{FF2B5EF4-FFF2-40B4-BE49-F238E27FC236}">
                <a16:creationId xmlns:a16="http://schemas.microsoft.com/office/drawing/2014/main" id="{88575DEB-43F3-44AE-9517-4210F1E9CBCF}"/>
              </a:ext>
            </a:extLst>
          </p:cNvPr>
          <p:cNvSpPr>
            <a:spLocks xmlns:a="http://schemas.openxmlformats.org/drawingml/2006/main" noGrp="1"/>
          </p:cNvSpPr>
          <p:nvPr/>
        </p:nvSpPr>
        <p:spPr>
          <a:xfrm xmlns:a="http://schemas.openxmlformats.org/drawingml/2006/main">
            <a:off x="11239500" y="64198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2</a:t>
            </a:r>
          </a:p>
        </p:txBody>
      </p:sp>
      <p:sp>
        <p:nvSpPr>
          <p:cNvPr id="5" name="">
            <a:extLst xmlns:a="http://schemas.openxmlformats.org/drawingml/2006/main">
              <a:ext uri="{FF2B5EF4-FFF2-40B4-BE49-F238E27FC236}">
                <a16:creationId xmlns:a16="http://schemas.microsoft.com/office/drawing/2014/main" id="{4B2433D0-0283-42DC-BA73-09EC8471D2F3}"/>
              </a:ext>
            </a:extLst>
          </p:cNvPr>
          <p:cNvSpPr>
            <a:spLocks xmlns:a="http://schemas.openxmlformats.org/drawingml/2006/main" noGrp="1"/>
          </p:cNvSpPr>
          <p:nvPr/>
        </p:nvSpPr>
        <p:spPr>
          <a:xfrm xmlns:a="http://schemas.openxmlformats.org/drawingml/2006/main">
            <a:off x="9144000" y="64198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Goal and tasks</a:t>
            </a:r>
          </a:p>
        </p:txBody>
      </p:sp>
      <p:sp>
        <p:nvSpPr>
          <p:cNvPr id="6" name="">
            <a:extLst xmlns:a="http://schemas.openxmlformats.org/drawingml/2006/main">
              <a:ext uri="{FF2B5EF4-FFF2-40B4-BE49-F238E27FC236}">
                <a16:creationId xmlns:a16="http://schemas.microsoft.com/office/drawing/2014/main" id="{B7D41302-740A-4B5A-BA1B-1F2E7D40C882}"/>
              </a:ext>
            </a:extLst>
          </p:cNvPr>
          <p:cNvSpPr>
            <a:spLocks xmlns:a="http://schemas.openxmlformats.org/drawingml/2006/main" noGrp="1"/>
          </p:cNvSpPr>
          <p:nvPr/>
        </p:nvSpPr>
        <p:spPr>
          <a:xfrm xmlns:a="http://schemas.openxmlformats.org/drawingml/2006/main">
            <a:off x="609600" y="4191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GOAL AND TASKS</a:t>
            </a:r>
          </a:p>
        </p:txBody>
      </p:sp>
      <p:sp>
        <p:nvSpPr>
          <p:cNvPr id="7" name="">
            <a:extLst xmlns:a="http://schemas.openxmlformats.org/drawingml/2006/main">
              <a:ext uri="{FF2B5EF4-FFF2-40B4-BE49-F238E27FC236}">
                <a16:creationId xmlns:a16="http://schemas.microsoft.com/office/drawing/2014/main" id="{FC92B83D-5294-48CE-A65F-47820655F93B}"/>
              </a:ext>
            </a:extLst>
          </p:cNvPr>
          <p:cNvSpPr>
            <a:spLocks xmlns:a="http://schemas.openxmlformats.org/drawingml/2006/main" noGrp="1"/>
          </p:cNvSpPr>
          <p:nvPr/>
        </p:nvSpPr>
        <p:spPr>
          <a:xfrm xmlns:a="http://schemas.openxmlformats.org/drawingml/2006/main">
            <a:off x="609600" y="685800"/>
            <a:ext cx="7810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Build a scalable LLM architecture, not a single chatbot</a:t>
            </a:r>
          </a:p>
        </p:txBody>
      </p:sp>
      <p:sp>
        <p:nvSpPr>
          <p:cNvPr id="8" name="">
            <a:extLst xmlns:a="http://schemas.openxmlformats.org/drawingml/2006/main">
              <a:ext uri="{FF2B5EF4-FFF2-40B4-BE49-F238E27FC236}">
                <a16:creationId xmlns:a16="http://schemas.microsoft.com/office/drawing/2014/main" id="{84CCBA18-3539-4446-A62E-20463C2E001B}"/>
              </a:ext>
            </a:extLst>
          </p:cNvPr>
          <p:cNvSpPr>
            <a:spLocks xmlns:a="http://schemas.openxmlformats.org/drawingml/2006/main" noGrp="1"/>
          </p:cNvSpPr>
          <p:nvPr/>
        </p:nvSpPr>
        <p:spPr>
          <a:xfrm xmlns:a="http://schemas.openxmlformats.org/drawingml/2006/main">
            <a:off x="609600" y="1600200"/>
            <a:ext cx="4095750" cy="3467100"/>
          </a:xfrm>
          <a:prstGeom xmlns:a="http://schemas.openxmlformats.org/drawingml/2006/main" prst="roundRect">
            <a:avLst>
              <a:gd name="adj" fmla="val 2198"/>
            </a:avLst>
          </a:prstGeom>
          <a:solidFill xmlns:a="http://schemas.openxmlformats.org/drawingml/2006/main">
            <a:srgbClr val="0F172A"/>
          </a:solidFill>
          <a:ln xmlns:a="http://schemas.openxmlformats.org/drawingml/2006/main" w="9525">
            <a:solidFill>
              <a:srgbClr val="0F172A"/>
            </a:solidFill>
            <a:prstDash val="solid"/>
          </a:ln>
        </p:spPr>
      </p:sp>
      <p:sp>
        <p:nvSpPr>
          <p:cNvPr id="9" name="">
            <a:extLst xmlns:a="http://schemas.openxmlformats.org/drawingml/2006/main">
              <a:ext uri="{FF2B5EF4-FFF2-40B4-BE49-F238E27FC236}">
                <a16:creationId xmlns:a16="http://schemas.microsoft.com/office/drawing/2014/main" id="{1D7A9C6E-AD67-41A3-855B-00893586DAD1}"/>
              </a:ext>
            </a:extLst>
          </p:cNvPr>
          <p:cNvSpPr>
            <a:spLocks xmlns:a="http://schemas.openxmlformats.org/drawingml/2006/main" noGrp="1"/>
          </p:cNvSpPr>
          <p:nvPr/>
        </p:nvSpPr>
        <p:spPr>
          <a:xfrm xmlns:a="http://schemas.openxmlformats.org/drawingml/2006/main">
            <a:off x="914400" y="1905000"/>
            <a:ext cx="114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766E"/>
                </a:solidFill>
                <a:latin typeface="Aptos"/>
                <a:ea typeface="Aptos"/>
                <a:cs typeface="Aptos"/>
              </a:defRPr>
            </a:pPr>
            <a:r>
              <a:rPr sz="1200" b="1">
                <a:solidFill>
                  <a:srgbClr val="0F766E"/>
                </a:solidFill>
                <a:latin typeface="Aptos"/>
                <a:ea typeface="Aptos"/>
                <a:cs typeface="Aptos"/>
              </a:rPr>
              <a:t>Goal</a:t>
            </a:r>
          </a:p>
        </p:txBody>
      </p:sp>
      <p:sp>
        <p:nvSpPr>
          <p:cNvPr id="10" name="">
            <a:extLst xmlns:a="http://schemas.openxmlformats.org/drawingml/2006/main">
              <a:ext uri="{FF2B5EF4-FFF2-40B4-BE49-F238E27FC236}">
                <a16:creationId xmlns:a16="http://schemas.microsoft.com/office/drawing/2014/main" id="{CEF52189-62A4-4143-A6F7-C448C6F8D3FF}"/>
              </a:ext>
            </a:extLst>
          </p:cNvPr>
          <p:cNvSpPr>
            <a:spLocks xmlns:a="http://schemas.openxmlformats.org/drawingml/2006/main" noGrp="1"/>
          </p:cNvSpPr>
          <p:nvPr/>
        </p:nvSpPr>
        <p:spPr>
          <a:xfrm xmlns:a="http://schemas.openxmlformats.org/drawingml/2006/main">
            <a:off x="914400" y="2247900"/>
            <a:ext cx="32385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Design and evaluate a service-oriented architecture for scalable use of language models in commercial workflows.</a:t>
            </a:r>
          </a:p>
        </p:txBody>
      </p:sp>
      <p:sp>
        <p:nvSpPr>
          <p:cNvPr id="11" name="">
            <a:extLst xmlns:a="http://schemas.openxmlformats.org/drawingml/2006/main">
              <a:ext uri="{FF2B5EF4-FFF2-40B4-BE49-F238E27FC236}">
                <a16:creationId xmlns:a16="http://schemas.microsoft.com/office/drawing/2014/main" id="{982FD92F-B212-4930-9714-002C8C75E2AF}"/>
              </a:ext>
            </a:extLst>
          </p:cNvPr>
          <p:cNvSpPr>
            <a:spLocks xmlns:a="http://schemas.openxmlformats.org/drawingml/2006/main" noGrp="1"/>
          </p:cNvSpPr>
          <p:nvPr/>
        </p:nvSpPr>
        <p:spPr>
          <a:xfrm xmlns:a="http://schemas.openxmlformats.org/drawingml/2006/main">
            <a:off x="914400" y="4000500"/>
            <a:ext cx="32194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CE7F3"/>
                </a:solidFill>
                <a:latin typeface="Aptos"/>
                <a:ea typeface="Aptos"/>
                <a:cs typeface="Aptos"/>
              </a:defRPr>
            </a:pPr>
            <a:r>
              <a:rPr sz="1200" b="0">
                <a:solidFill>
                  <a:srgbClr val="DCE7F3"/>
                </a:solidFill>
                <a:latin typeface="Aptos"/>
                <a:ea typeface="Aptos"/>
                <a:cs typeface="Aptos"/>
              </a:rPr>
              <a:t>Case study: ModelWeave, a document-grounded agent platform with RAG, reusable agents, workflows, approvals, audit events, tasks, and DOCX reports.</a:t>
            </a:r>
          </a:p>
        </p:txBody>
      </p:sp>
      <p:sp>
        <p:nvSpPr>
          <p:cNvPr id="12" name="">
            <a:extLst xmlns:a="http://schemas.openxmlformats.org/drawingml/2006/main">
              <a:ext uri="{FF2B5EF4-FFF2-40B4-BE49-F238E27FC236}">
                <a16:creationId xmlns:a16="http://schemas.microsoft.com/office/drawing/2014/main" id="{B76DE83F-E0ED-4FF9-87C1-E553AC3DECAF}"/>
              </a:ext>
            </a:extLst>
          </p:cNvPr>
          <p:cNvSpPr>
            <a:spLocks xmlns:a="http://schemas.openxmlformats.org/drawingml/2006/main" noGrp="1"/>
          </p:cNvSpPr>
          <p:nvPr/>
        </p:nvSpPr>
        <p:spPr>
          <a:xfrm xmlns:a="http://schemas.openxmlformats.org/drawingml/2006/main">
            <a:off x="5238750" y="1466850"/>
            <a:ext cx="57531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D0610448-24ED-445A-BB32-E3F3E84DB73B}"/>
              </a:ext>
            </a:extLst>
          </p:cNvPr>
          <p:cNvSpPr>
            <a:spLocks xmlns:a="http://schemas.openxmlformats.org/drawingml/2006/main" noGrp="1"/>
          </p:cNvSpPr>
          <p:nvPr/>
        </p:nvSpPr>
        <p:spPr>
          <a:xfrm xmlns:a="http://schemas.openxmlformats.org/drawingml/2006/main">
            <a:off x="5391150" y="1619250"/>
            <a:ext cx="323850" cy="323850"/>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7E7AC843-BFCC-469D-8053-EB60937E8224}"/>
              </a:ext>
            </a:extLst>
          </p:cNvPr>
          <p:cNvSpPr>
            <a:spLocks xmlns:a="http://schemas.openxmlformats.org/drawingml/2006/main" noGrp="1"/>
          </p:cNvSpPr>
          <p:nvPr/>
        </p:nvSpPr>
        <p:spPr>
          <a:xfrm xmlns:a="http://schemas.openxmlformats.org/drawingml/2006/main">
            <a:off x="5391150" y="1676400"/>
            <a:ext cx="323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1</a:t>
            </a:r>
          </a:p>
        </p:txBody>
      </p:sp>
      <p:sp>
        <p:nvSpPr>
          <p:cNvPr id="15" name="">
            <a:extLst xmlns:a="http://schemas.openxmlformats.org/drawingml/2006/main">
              <a:ext uri="{FF2B5EF4-FFF2-40B4-BE49-F238E27FC236}">
                <a16:creationId xmlns:a16="http://schemas.microsoft.com/office/drawing/2014/main" id="{35E1552E-9155-48C8-920A-E369B91F466B}"/>
              </a:ext>
            </a:extLst>
          </p:cNvPr>
          <p:cNvSpPr>
            <a:spLocks xmlns:a="http://schemas.openxmlformats.org/drawingml/2006/main" noGrp="1"/>
          </p:cNvSpPr>
          <p:nvPr/>
        </p:nvSpPr>
        <p:spPr>
          <a:xfrm xmlns:a="http://schemas.openxmlformats.org/drawingml/2006/main">
            <a:off x="5848350" y="1590675"/>
            <a:ext cx="497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a:ea typeface="Aptos"/>
                <a:cs typeface="Aptos"/>
              </a:defRPr>
            </a:pPr>
            <a:r>
              <a:rPr sz="1200" b="1">
                <a:solidFill>
                  <a:srgbClr val="0F172A"/>
                </a:solidFill>
                <a:latin typeface="Aptos"/>
                <a:ea typeface="Aptos"/>
                <a:cs typeface="Aptos"/>
              </a:rPr>
              <a:t>Theory</a:t>
            </a:r>
          </a:p>
        </p:txBody>
      </p:sp>
      <p:sp>
        <p:nvSpPr>
          <p:cNvPr id="16" name="">
            <a:extLst xmlns:a="http://schemas.openxmlformats.org/drawingml/2006/main">
              <a:ext uri="{FF2B5EF4-FFF2-40B4-BE49-F238E27FC236}">
                <a16:creationId xmlns:a16="http://schemas.microsoft.com/office/drawing/2014/main" id="{F511FBAE-A308-4F6A-84F9-97A0D869660E}"/>
              </a:ext>
            </a:extLst>
          </p:cNvPr>
          <p:cNvSpPr>
            <a:spLocks xmlns:a="http://schemas.openxmlformats.org/drawingml/2006/main" noGrp="1"/>
          </p:cNvSpPr>
          <p:nvPr/>
        </p:nvSpPr>
        <p:spPr>
          <a:xfrm xmlns:a="http://schemas.openxmlformats.org/drawingml/2006/main">
            <a:off x="5848350" y="1828800"/>
            <a:ext cx="4972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Review LLMs, RAG, vector search, SOA, and multi-agent systems.</a:t>
            </a:r>
          </a:p>
        </p:txBody>
      </p:sp>
      <p:sp>
        <p:nvSpPr>
          <p:cNvPr id="17" name="">
            <a:extLst xmlns:a="http://schemas.openxmlformats.org/drawingml/2006/main">
              <a:ext uri="{FF2B5EF4-FFF2-40B4-BE49-F238E27FC236}">
                <a16:creationId xmlns:a16="http://schemas.microsoft.com/office/drawing/2014/main" id="{3481ADF5-FE6D-4496-AC59-96D2EBA2F395}"/>
              </a:ext>
            </a:extLst>
          </p:cNvPr>
          <p:cNvSpPr>
            <a:spLocks xmlns:a="http://schemas.openxmlformats.org/drawingml/2006/main" noGrp="1"/>
          </p:cNvSpPr>
          <p:nvPr/>
        </p:nvSpPr>
        <p:spPr>
          <a:xfrm xmlns:a="http://schemas.openxmlformats.org/drawingml/2006/main">
            <a:off x="5238750" y="2305050"/>
            <a:ext cx="57531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2F12B2B1-B983-4BCB-9BE9-7D10B778626D}"/>
              </a:ext>
            </a:extLst>
          </p:cNvPr>
          <p:cNvSpPr>
            <a:spLocks xmlns:a="http://schemas.openxmlformats.org/drawingml/2006/main" noGrp="1"/>
          </p:cNvSpPr>
          <p:nvPr/>
        </p:nvSpPr>
        <p:spPr>
          <a:xfrm xmlns:a="http://schemas.openxmlformats.org/drawingml/2006/main">
            <a:off x="5391150" y="2457450"/>
            <a:ext cx="323850" cy="3238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 name="">
            <a:extLst xmlns:a="http://schemas.openxmlformats.org/drawingml/2006/main">
              <a:ext uri="{FF2B5EF4-FFF2-40B4-BE49-F238E27FC236}">
                <a16:creationId xmlns:a16="http://schemas.microsoft.com/office/drawing/2014/main" id="{0D3C40D0-FF07-4B5B-8001-DE0FED651B07}"/>
              </a:ext>
            </a:extLst>
          </p:cNvPr>
          <p:cNvSpPr>
            <a:spLocks xmlns:a="http://schemas.openxmlformats.org/drawingml/2006/main" noGrp="1"/>
          </p:cNvSpPr>
          <p:nvPr/>
        </p:nvSpPr>
        <p:spPr>
          <a:xfrm xmlns:a="http://schemas.openxmlformats.org/drawingml/2006/main">
            <a:off x="5391150" y="2514600"/>
            <a:ext cx="323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43266AB5-0B3A-45E4-AB84-5A67F04F67B5}"/>
              </a:ext>
            </a:extLst>
          </p:cNvPr>
          <p:cNvSpPr>
            <a:spLocks xmlns:a="http://schemas.openxmlformats.org/drawingml/2006/main" noGrp="1"/>
          </p:cNvSpPr>
          <p:nvPr/>
        </p:nvSpPr>
        <p:spPr>
          <a:xfrm xmlns:a="http://schemas.openxmlformats.org/drawingml/2006/main">
            <a:off x="5848350" y="2428875"/>
            <a:ext cx="497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a:ea typeface="Aptos"/>
                <a:cs typeface="Aptos"/>
              </a:defRPr>
            </a:pPr>
            <a:r>
              <a:rPr sz="1200" b="1">
                <a:solidFill>
                  <a:srgbClr val="0F172A"/>
                </a:solidFill>
                <a:latin typeface="Aptos"/>
                <a:ea typeface="Aptos"/>
                <a:cs typeface="Aptos"/>
              </a:rPr>
              <a:t>Requirements</a:t>
            </a:r>
          </a:p>
        </p:txBody>
      </p:sp>
      <p:sp>
        <p:nvSpPr>
          <p:cNvPr id="21" name="">
            <a:extLst xmlns:a="http://schemas.openxmlformats.org/drawingml/2006/main">
              <a:ext uri="{FF2B5EF4-FFF2-40B4-BE49-F238E27FC236}">
                <a16:creationId xmlns:a16="http://schemas.microsoft.com/office/drawing/2014/main" id="{B86E2B03-391A-4273-B4EF-3F95E7D622BE}"/>
              </a:ext>
            </a:extLst>
          </p:cNvPr>
          <p:cNvSpPr>
            <a:spLocks xmlns:a="http://schemas.openxmlformats.org/drawingml/2006/main" noGrp="1"/>
          </p:cNvSpPr>
          <p:nvPr/>
        </p:nvSpPr>
        <p:spPr>
          <a:xfrm xmlns:a="http://schemas.openxmlformats.org/drawingml/2006/main">
            <a:off x="5848350" y="2667000"/>
            <a:ext cx="4972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Define functional and non-functional needs for a document-agent platform.</a:t>
            </a:r>
          </a:p>
        </p:txBody>
      </p:sp>
      <p:sp>
        <p:nvSpPr>
          <p:cNvPr id="22" name="">
            <a:extLst xmlns:a="http://schemas.openxmlformats.org/drawingml/2006/main">
              <a:ext uri="{FF2B5EF4-FFF2-40B4-BE49-F238E27FC236}">
                <a16:creationId xmlns:a16="http://schemas.microsoft.com/office/drawing/2014/main" id="{F1CFDCD0-7FB9-4266-A5C4-53B7AAF80D5D}"/>
              </a:ext>
            </a:extLst>
          </p:cNvPr>
          <p:cNvSpPr>
            <a:spLocks xmlns:a="http://schemas.openxmlformats.org/drawingml/2006/main" noGrp="1"/>
          </p:cNvSpPr>
          <p:nvPr/>
        </p:nvSpPr>
        <p:spPr>
          <a:xfrm xmlns:a="http://schemas.openxmlformats.org/drawingml/2006/main">
            <a:off x="5238750" y="3143250"/>
            <a:ext cx="57531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3840B9A1-218A-4DBA-A891-F52314ED8CC9}"/>
              </a:ext>
            </a:extLst>
          </p:cNvPr>
          <p:cNvSpPr>
            <a:spLocks xmlns:a="http://schemas.openxmlformats.org/drawingml/2006/main" noGrp="1"/>
          </p:cNvSpPr>
          <p:nvPr/>
        </p:nvSpPr>
        <p:spPr>
          <a:xfrm xmlns:a="http://schemas.openxmlformats.org/drawingml/2006/main">
            <a:off x="5391150" y="3295650"/>
            <a:ext cx="323850" cy="323850"/>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sp>
      <p:sp>
        <p:nvSpPr>
          <p:cNvPr id="24" name="">
            <a:extLst xmlns:a="http://schemas.openxmlformats.org/drawingml/2006/main">
              <a:ext uri="{FF2B5EF4-FFF2-40B4-BE49-F238E27FC236}">
                <a16:creationId xmlns:a16="http://schemas.microsoft.com/office/drawing/2014/main" id="{8B999A51-53DD-42BF-B94E-1D7CFEE150DC}"/>
              </a:ext>
            </a:extLst>
          </p:cNvPr>
          <p:cNvSpPr>
            <a:spLocks xmlns:a="http://schemas.openxmlformats.org/drawingml/2006/main" noGrp="1"/>
          </p:cNvSpPr>
          <p:nvPr/>
        </p:nvSpPr>
        <p:spPr>
          <a:xfrm xmlns:a="http://schemas.openxmlformats.org/drawingml/2006/main">
            <a:off x="5391150" y="3352800"/>
            <a:ext cx="323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3</a:t>
            </a:r>
          </a:p>
        </p:txBody>
      </p:sp>
      <p:sp>
        <p:nvSpPr>
          <p:cNvPr id="25" name="">
            <a:extLst xmlns:a="http://schemas.openxmlformats.org/drawingml/2006/main">
              <a:ext uri="{FF2B5EF4-FFF2-40B4-BE49-F238E27FC236}">
                <a16:creationId xmlns:a16="http://schemas.microsoft.com/office/drawing/2014/main" id="{57AA25C9-89B2-4EF9-AB88-64FF1DFBECFE}"/>
              </a:ext>
            </a:extLst>
          </p:cNvPr>
          <p:cNvSpPr>
            <a:spLocks xmlns:a="http://schemas.openxmlformats.org/drawingml/2006/main" noGrp="1"/>
          </p:cNvSpPr>
          <p:nvPr/>
        </p:nvSpPr>
        <p:spPr>
          <a:xfrm xmlns:a="http://schemas.openxmlformats.org/drawingml/2006/main">
            <a:off x="5848350" y="3267075"/>
            <a:ext cx="497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a:ea typeface="Aptos"/>
                <a:cs typeface="Aptos"/>
              </a:defRPr>
            </a:pPr>
            <a:r>
              <a:rPr sz="1200" b="1">
                <a:solidFill>
                  <a:srgbClr val="0F172A"/>
                </a:solidFill>
                <a:latin typeface="Aptos"/>
                <a:ea typeface="Aptos"/>
                <a:cs typeface="Aptos"/>
              </a:rPr>
              <a:t>Mathematics</a:t>
            </a:r>
          </a:p>
        </p:txBody>
      </p:sp>
      <p:sp>
        <p:nvSpPr>
          <p:cNvPr id="26" name="">
            <a:extLst xmlns:a="http://schemas.openxmlformats.org/drawingml/2006/main">
              <a:ext uri="{FF2B5EF4-FFF2-40B4-BE49-F238E27FC236}">
                <a16:creationId xmlns:a16="http://schemas.microsoft.com/office/drawing/2014/main" id="{EF0B38AA-3243-418F-BBD1-CAE4C997C50E}"/>
              </a:ext>
            </a:extLst>
          </p:cNvPr>
          <p:cNvSpPr>
            <a:spLocks xmlns:a="http://schemas.openxmlformats.org/drawingml/2006/main" noGrp="1"/>
          </p:cNvSpPr>
          <p:nvPr/>
        </p:nvSpPr>
        <p:spPr>
          <a:xfrm xmlns:a="http://schemas.openxmlformats.org/drawingml/2006/main">
            <a:off x="5848350" y="3505200"/>
            <a:ext cx="4972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Formalize retrieval, embeddings, workflow graphs, approvals, and evaluation.</a:t>
            </a:r>
          </a:p>
        </p:txBody>
      </p:sp>
      <p:sp>
        <p:nvSpPr>
          <p:cNvPr id="27" name="">
            <a:extLst xmlns:a="http://schemas.openxmlformats.org/drawingml/2006/main">
              <a:ext uri="{FF2B5EF4-FFF2-40B4-BE49-F238E27FC236}">
                <a16:creationId xmlns:a16="http://schemas.microsoft.com/office/drawing/2014/main" id="{F09D5DAB-2221-4DAB-BD56-66CC30F6E486}"/>
              </a:ext>
            </a:extLst>
          </p:cNvPr>
          <p:cNvSpPr>
            <a:spLocks xmlns:a="http://schemas.openxmlformats.org/drawingml/2006/main" noGrp="1"/>
          </p:cNvSpPr>
          <p:nvPr/>
        </p:nvSpPr>
        <p:spPr>
          <a:xfrm xmlns:a="http://schemas.openxmlformats.org/drawingml/2006/main">
            <a:off x="5238750" y="3981450"/>
            <a:ext cx="57531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0D369640-96E0-485F-B3BF-56571C1E2B7B}"/>
              </a:ext>
            </a:extLst>
          </p:cNvPr>
          <p:cNvSpPr>
            <a:spLocks xmlns:a="http://schemas.openxmlformats.org/drawingml/2006/main" noGrp="1"/>
          </p:cNvSpPr>
          <p:nvPr/>
        </p:nvSpPr>
        <p:spPr>
          <a:xfrm xmlns:a="http://schemas.openxmlformats.org/drawingml/2006/main">
            <a:off x="5391150" y="4133850"/>
            <a:ext cx="323850" cy="3238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9" name="">
            <a:extLst xmlns:a="http://schemas.openxmlformats.org/drawingml/2006/main">
              <a:ext uri="{FF2B5EF4-FFF2-40B4-BE49-F238E27FC236}">
                <a16:creationId xmlns:a16="http://schemas.microsoft.com/office/drawing/2014/main" id="{C1491742-77D7-43AB-8BDC-9FD6A033892D}"/>
              </a:ext>
            </a:extLst>
          </p:cNvPr>
          <p:cNvSpPr>
            <a:spLocks xmlns:a="http://schemas.openxmlformats.org/drawingml/2006/main" noGrp="1"/>
          </p:cNvSpPr>
          <p:nvPr/>
        </p:nvSpPr>
        <p:spPr>
          <a:xfrm xmlns:a="http://schemas.openxmlformats.org/drawingml/2006/main">
            <a:off x="5391150" y="4191000"/>
            <a:ext cx="323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4</a:t>
            </a:r>
          </a:p>
        </p:txBody>
      </p:sp>
      <p:sp>
        <p:nvSpPr>
          <p:cNvPr id="30" name="">
            <a:extLst xmlns:a="http://schemas.openxmlformats.org/drawingml/2006/main">
              <a:ext uri="{FF2B5EF4-FFF2-40B4-BE49-F238E27FC236}">
                <a16:creationId xmlns:a16="http://schemas.microsoft.com/office/drawing/2014/main" id="{FA6B25AF-7270-4734-A401-177F4773873D}"/>
              </a:ext>
            </a:extLst>
          </p:cNvPr>
          <p:cNvSpPr>
            <a:spLocks xmlns:a="http://schemas.openxmlformats.org/drawingml/2006/main" noGrp="1"/>
          </p:cNvSpPr>
          <p:nvPr/>
        </p:nvSpPr>
        <p:spPr>
          <a:xfrm xmlns:a="http://schemas.openxmlformats.org/drawingml/2006/main">
            <a:off x="5848350" y="4105275"/>
            <a:ext cx="497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a:ea typeface="Aptos"/>
                <a:cs typeface="Aptos"/>
              </a:defRPr>
            </a:pPr>
            <a:r>
              <a:rPr sz="1200" b="1">
                <a:solidFill>
                  <a:srgbClr val="0F172A"/>
                </a:solidFill>
                <a:latin typeface="Aptos"/>
                <a:ea typeface="Aptos"/>
                <a:cs typeface="Aptos"/>
              </a:rPr>
              <a:t>Implementation</a:t>
            </a:r>
          </a:p>
        </p:txBody>
      </p:sp>
      <p:sp>
        <p:nvSpPr>
          <p:cNvPr id="31" name="">
            <a:extLst xmlns:a="http://schemas.openxmlformats.org/drawingml/2006/main">
              <a:ext uri="{FF2B5EF4-FFF2-40B4-BE49-F238E27FC236}">
                <a16:creationId xmlns:a16="http://schemas.microsoft.com/office/drawing/2014/main" id="{4A8F4462-0C6A-44B6-8A76-A0BB6DA542F3}"/>
              </a:ext>
            </a:extLst>
          </p:cNvPr>
          <p:cNvSpPr>
            <a:spLocks xmlns:a="http://schemas.openxmlformats.org/drawingml/2006/main" noGrp="1"/>
          </p:cNvSpPr>
          <p:nvPr/>
        </p:nvSpPr>
        <p:spPr>
          <a:xfrm xmlns:a="http://schemas.openxmlformats.org/drawingml/2006/main">
            <a:off x="5848350" y="4343400"/>
            <a:ext cx="4972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Build the full-stack application using Next.js, FastAPI, Supabase, Qdrant, and Anthropic.</a:t>
            </a:r>
          </a:p>
        </p:txBody>
      </p:sp>
      <p:sp>
        <p:nvSpPr>
          <p:cNvPr id="32" name="">
            <a:extLst xmlns:a="http://schemas.openxmlformats.org/drawingml/2006/main">
              <a:ext uri="{FF2B5EF4-FFF2-40B4-BE49-F238E27FC236}">
                <a16:creationId xmlns:a16="http://schemas.microsoft.com/office/drawing/2014/main" id="{9C632581-A9E1-4C78-86D4-8FE9E3665111}"/>
              </a:ext>
            </a:extLst>
          </p:cNvPr>
          <p:cNvSpPr>
            <a:spLocks xmlns:a="http://schemas.openxmlformats.org/drawingml/2006/main" noGrp="1"/>
          </p:cNvSpPr>
          <p:nvPr/>
        </p:nvSpPr>
        <p:spPr>
          <a:xfrm xmlns:a="http://schemas.openxmlformats.org/drawingml/2006/main">
            <a:off x="5238750" y="4819650"/>
            <a:ext cx="57531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241EA10E-CDA8-490B-ACF0-99B7DF3E2111}"/>
              </a:ext>
            </a:extLst>
          </p:cNvPr>
          <p:cNvSpPr>
            <a:spLocks xmlns:a="http://schemas.openxmlformats.org/drawingml/2006/main" noGrp="1"/>
          </p:cNvSpPr>
          <p:nvPr/>
        </p:nvSpPr>
        <p:spPr>
          <a:xfrm xmlns:a="http://schemas.openxmlformats.org/drawingml/2006/main">
            <a:off x="5391150" y="4972050"/>
            <a:ext cx="323850" cy="323850"/>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sp>
      <p:sp>
        <p:nvSpPr>
          <p:cNvPr id="34" name="">
            <a:extLst xmlns:a="http://schemas.openxmlformats.org/drawingml/2006/main">
              <a:ext uri="{FF2B5EF4-FFF2-40B4-BE49-F238E27FC236}">
                <a16:creationId xmlns:a16="http://schemas.microsoft.com/office/drawing/2014/main" id="{C597B21C-60B0-4C01-A7C6-65E7BB9A1F8B}"/>
              </a:ext>
            </a:extLst>
          </p:cNvPr>
          <p:cNvSpPr>
            <a:spLocks xmlns:a="http://schemas.openxmlformats.org/drawingml/2006/main" noGrp="1"/>
          </p:cNvSpPr>
          <p:nvPr/>
        </p:nvSpPr>
        <p:spPr>
          <a:xfrm xmlns:a="http://schemas.openxmlformats.org/drawingml/2006/main">
            <a:off x="5391150" y="5029200"/>
            <a:ext cx="323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5</a:t>
            </a:r>
          </a:p>
        </p:txBody>
      </p:sp>
      <p:sp>
        <p:nvSpPr>
          <p:cNvPr id="35" name="">
            <a:extLst xmlns:a="http://schemas.openxmlformats.org/drawingml/2006/main">
              <a:ext uri="{FF2B5EF4-FFF2-40B4-BE49-F238E27FC236}">
                <a16:creationId xmlns:a16="http://schemas.microsoft.com/office/drawing/2014/main" id="{FC487EE7-5FDB-431E-AEBF-EE4322977740}"/>
              </a:ext>
            </a:extLst>
          </p:cNvPr>
          <p:cNvSpPr>
            <a:spLocks xmlns:a="http://schemas.openxmlformats.org/drawingml/2006/main" noGrp="1"/>
          </p:cNvSpPr>
          <p:nvPr/>
        </p:nvSpPr>
        <p:spPr>
          <a:xfrm xmlns:a="http://schemas.openxmlformats.org/drawingml/2006/main">
            <a:off x="5848350" y="4943475"/>
            <a:ext cx="497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a:ea typeface="Aptos"/>
                <a:cs typeface="Aptos"/>
              </a:defRPr>
            </a:pPr>
            <a:r>
              <a:rPr sz="1200" b="1">
                <a:solidFill>
                  <a:srgbClr val="0F172A"/>
                </a:solidFill>
                <a:latin typeface="Aptos"/>
                <a:ea typeface="Aptos"/>
                <a:cs typeface="Aptos"/>
              </a:rPr>
              <a:t>Validation</a:t>
            </a:r>
          </a:p>
        </p:txBody>
      </p:sp>
      <p:sp>
        <p:nvSpPr>
          <p:cNvPr id="36" name="">
            <a:extLst xmlns:a="http://schemas.openxmlformats.org/drawingml/2006/main">
              <a:ext uri="{FF2B5EF4-FFF2-40B4-BE49-F238E27FC236}">
                <a16:creationId xmlns:a16="http://schemas.microsoft.com/office/drawing/2014/main" id="{EF150FC0-1FD9-4EE5-8D84-41176069CB85}"/>
              </a:ext>
            </a:extLst>
          </p:cNvPr>
          <p:cNvSpPr>
            <a:spLocks xmlns:a="http://schemas.openxmlformats.org/drawingml/2006/main" noGrp="1"/>
          </p:cNvSpPr>
          <p:nvPr/>
        </p:nvSpPr>
        <p:spPr>
          <a:xfrm xmlns:a="http://schemas.openxmlformats.org/drawingml/2006/main">
            <a:off x="5848350" y="5181600"/>
            <a:ext cx="4972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Run synthetic document workflows and verify reports, events, citations, approvals, and tasks.</a:t>
            </a:r>
          </a:p>
        </p:txBody>
      </p:sp>
    </p:spTree>
    <p:extLst>
      <p:ext uri="{BB962C8B-B14F-4D97-AF65-F5344CB8AC3E}">
        <p14:creationId xmlns:p14="http://schemas.microsoft.com/office/powerpoint/2010/main" val="6460226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BBE116-E02C-4F53-B8F4-338A93EE024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91491A9-BA65-4AC5-BC0C-29F942CBAD13}"/>
              </a:ext>
            </a:extLst>
          </p:cNvPr>
          <p:cNvSpPr>
            <a:spLocks xmlns:a="http://schemas.openxmlformats.org/drawingml/2006/main" noGrp="1"/>
          </p:cNvSpPr>
          <p:nvPr/>
        </p:nvSpPr>
        <p:spPr>
          <a:xfrm xmlns:a="http://schemas.openxmlformats.org/drawingml/2006/main">
            <a:off x="0" y="76200"/>
            <a:ext cx="12192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F225C25-319F-4510-A527-0AAFFD633DF1}"/>
              </a:ext>
            </a:extLst>
          </p:cNvPr>
          <p:cNvSpPr>
            <a:spLocks xmlns:a="http://schemas.openxmlformats.org/drawingml/2006/main" noGrp="1"/>
          </p:cNvSpPr>
          <p:nvPr/>
        </p:nvSpPr>
        <p:spPr>
          <a:xfrm xmlns:a="http://schemas.openxmlformats.org/drawingml/2006/main">
            <a:off x="514350" y="6419850"/>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ModelWeave | Service-oriented architecture for scalable LLM use</a:t>
            </a:r>
          </a:p>
        </p:txBody>
      </p:sp>
      <p:sp>
        <p:nvSpPr>
          <p:cNvPr id="4" name="">
            <a:extLst xmlns:a="http://schemas.openxmlformats.org/drawingml/2006/main">
              <a:ext uri="{FF2B5EF4-FFF2-40B4-BE49-F238E27FC236}">
                <a16:creationId xmlns:a16="http://schemas.microsoft.com/office/drawing/2014/main" id="{7D9193FA-02AA-49CE-AA03-A63924660C85}"/>
              </a:ext>
            </a:extLst>
          </p:cNvPr>
          <p:cNvSpPr>
            <a:spLocks xmlns:a="http://schemas.openxmlformats.org/drawingml/2006/main" noGrp="1"/>
          </p:cNvSpPr>
          <p:nvPr/>
        </p:nvSpPr>
        <p:spPr>
          <a:xfrm xmlns:a="http://schemas.openxmlformats.org/drawingml/2006/main">
            <a:off x="11239500" y="64198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3</a:t>
            </a:r>
          </a:p>
        </p:txBody>
      </p:sp>
      <p:sp>
        <p:nvSpPr>
          <p:cNvPr id="5" name="">
            <a:extLst xmlns:a="http://schemas.openxmlformats.org/drawingml/2006/main">
              <a:ext uri="{FF2B5EF4-FFF2-40B4-BE49-F238E27FC236}">
                <a16:creationId xmlns:a16="http://schemas.microsoft.com/office/drawing/2014/main" id="{726875B3-6C62-4924-92E9-E43B46583BF6}"/>
              </a:ext>
            </a:extLst>
          </p:cNvPr>
          <p:cNvSpPr>
            <a:spLocks xmlns:a="http://schemas.openxmlformats.org/drawingml/2006/main" noGrp="1"/>
          </p:cNvSpPr>
          <p:nvPr/>
        </p:nvSpPr>
        <p:spPr>
          <a:xfrm xmlns:a="http://schemas.openxmlformats.org/drawingml/2006/main">
            <a:off x="9144000" y="64198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Relevance</a:t>
            </a:r>
          </a:p>
        </p:txBody>
      </p:sp>
      <p:sp>
        <p:nvSpPr>
          <p:cNvPr id="6" name="">
            <a:extLst xmlns:a="http://schemas.openxmlformats.org/drawingml/2006/main">
              <a:ext uri="{FF2B5EF4-FFF2-40B4-BE49-F238E27FC236}">
                <a16:creationId xmlns:a16="http://schemas.microsoft.com/office/drawing/2014/main" id="{C3A3EF95-6CF6-4194-B3A0-11C5DE0F9A05}"/>
              </a:ext>
            </a:extLst>
          </p:cNvPr>
          <p:cNvSpPr>
            <a:spLocks xmlns:a="http://schemas.openxmlformats.org/drawingml/2006/main" noGrp="1"/>
          </p:cNvSpPr>
          <p:nvPr/>
        </p:nvSpPr>
        <p:spPr>
          <a:xfrm xmlns:a="http://schemas.openxmlformats.org/drawingml/2006/main">
            <a:off x="609600" y="4191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RELEVANCE</a:t>
            </a:r>
          </a:p>
        </p:txBody>
      </p:sp>
      <p:sp>
        <p:nvSpPr>
          <p:cNvPr id="7" name="">
            <a:extLst xmlns:a="http://schemas.openxmlformats.org/drawingml/2006/main">
              <a:ext uri="{FF2B5EF4-FFF2-40B4-BE49-F238E27FC236}">
                <a16:creationId xmlns:a16="http://schemas.microsoft.com/office/drawing/2014/main" id="{0E4F64CA-665F-4561-ADF3-87ED257AE4E7}"/>
              </a:ext>
            </a:extLst>
          </p:cNvPr>
          <p:cNvSpPr>
            <a:spLocks xmlns:a="http://schemas.openxmlformats.org/drawingml/2006/main" noGrp="1"/>
          </p:cNvSpPr>
          <p:nvPr/>
        </p:nvSpPr>
        <p:spPr>
          <a:xfrm xmlns:a="http://schemas.openxmlformats.org/drawingml/2006/main">
            <a:off x="609600" y="685800"/>
            <a:ext cx="7810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Commercial LLM adoption fails when model output is not connected to workflow control</a:t>
            </a:r>
          </a:p>
        </p:txBody>
      </p:sp>
      <p:sp>
        <p:nvSpPr>
          <p:cNvPr id="8" name="">
            <a:extLst xmlns:a="http://schemas.openxmlformats.org/drawingml/2006/main">
              <a:ext uri="{FF2B5EF4-FFF2-40B4-BE49-F238E27FC236}">
                <a16:creationId xmlns:a16="http://schemas.microsoft.com/office/drawing/2014/main" id="{ABA1DBF0-42E0-42EC-9436-E72535F3D56C}"/>
              </a:ext>
            </a:extLst>
          </p:cNvPr>
          <p:cNvSpPr>
            <a:spLocks xmlns:a="http://schemas.openxmlformats.org/drawingml/2006/main" noGrp="1"/>
          </p:cNvSpPr>
          <p:nvPr/>
        </p:nvSpPr>
        <p:spPr>
          <a:xfrm xmlns:a="http://schemas.openxmlformats.org/drawingml/2006/main">
            <a:off x="609600" y="1619250"/>
            <a:ext cx="4905375" cy="2857500"/>
          </a:xfrm>
          <a:prstGeom xmlns:a="http://schemas.openxmlformats.org/drawingml/2006/main" prst="roundRect">
            <a:avLst>
              <a:gd name="adj" fmla="val 2667"/>
            </a:avLst>
          </a:prstGeom>
          <a:solidFill xmlns:a="http://schemas.openxmlformats.org/drawingml/2006/main">
            <a:srgbClr val="FFF7ED"/>
          </a:solidFill>
          <a:ln xmlns:a="http://schemas.openxmlformats.org/drawingml/2006/main" w="9525">
            <a:solidFill>
              <a:srgbClr val="FDBA74"/>
            </a:solidFill>
            <a:prstDash val="solid"/>
          </a:ln>
        </p:spPr>
      </p:sp>
      <p:sp>
        <p:nvSpPr>
          <p:cNvPr id="9" name="">
            <a:extLst xmlns:a="http://schemas.openxmlformats.org/drawingml/2006/main">
              <a:ext uri="{FF2B5EF4-FFF2-40B4-BE49-F238E27FC236}">
                <a16:creationId xmlns:a16="http://schemas.microsoft.com/office/drawing/2014/main" id="{82A1ED3A-8701-438B-B48A-FACED8B96EBF}"/>
              </a:ext>
            </a:extLst>
          </p:cNvPr>
          <p:cNvSpPr>
            <a:spLocks xmlns:a="http://schemas.openxmlformats.org/drawingml/2006/main" noGrp="1"/>
          </p:cNvSpPr>
          <p:nvPr/>
        </p:nvSpPr>
        <p:spPr>
          <a:xfrm xmlns:a="http://schemas.openxmlformats.org/drawingml/2006/main">
            <a:off x="914400" y="1924050"/>
            <a:ext cx="3524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F172A"/>
                </a:solidFill>
                <a:latin typeface="Aptos"/>
                <a:ea typeface="Aptos"/>
                <a:cs typeface="Aptos"/>
              </a:defRPr>
            </a:pPr>
            <a:r>
              <a:rPr sz="1875" b="1">
                <a:solidFill>
                  <a:srgbClr val="0F172A"/>
                </a:solidFill>
                <a:latin typeface="Aptos"/>
                <a:ea typeface="Aptos"/>
                <a:cs typeface="Aptos"/>
              </a:rPr>
              <a:t>A chatbot can answer</a:t>
            </a:r>
          </a:p>
        </p:txBody>
      </p:sp>
      <p:sp>
        <p:nvSpPr>
          <p:cNvPr id="10" name="">
            <a:extLst xmlns:a="http://schemas.openxmlformats.org/drawingml/2006/main">
              <a:ext uri="{FF2B5EF4-FFF2-40B4-BE49-F238E27FC236}">
                <a16:creationId xmlns:a16="http://schemas.microsoft.com/office/drawing/2014/main" id="{069B1C86-E49B-4CAD-8537-EC88BA35262A}"/>
              </a:ext>
            </a:extLst>
          </p:cNvPr>
          <p:cNvSpPr>
            <a:spLocks xmlns:a="http://schemas.openxmlformats.org/drawingml/2006/main" noGrp="1"/>
          </p:cNvSpPr>
          <p:nvPr/>
        </p:nvSpPr>
        <p:spPr>
          <a:xfrm xmlns:a="http://schemas.openxmlformats.org/drawingml/2006/main">
            <a:off x="952500" y="251460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11" name="">
            <a:extLst xmlns:a="http://schemas.openxmlformats.org/drawingml/2006/main">
              <a:ext uri="{FF2B5EF4-FFF2-40B4-BE49-F238E27FC236}">
                <a16:creationId xmlns:a16="http://schemas.microsoft.com/office/drawing/2014/main" id="{FFA41034-F355-400C-820D-24967416E692}"/>
              </a:ext>
            </a:extLst>
          </p:cNvPr>
          <p:cNvSpPr>
            <a:spLocks xmlns:a="http://schemas.openxmlformats.org/drawingml/2006/main" noGrp="1"/>
          </p:cNvSpPr>
          <p:nvPr/>
        </p:nvSpPr>
        <p:spPr>
          <a:xfrm xmlns:a="http://schemas.openxmlformats.org/drawingml/2006/main">
            <a:off x="1162050" y="2438400"/>
            <a:ext cx="4000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34155"/>
                </a:solidFill>
                <a:latin typeface="Aptos"/>
                <a:ea typeface="Aptos"/>
                <a:cs typeface="Aptos"/>
              </a:defRPr>
            </a:pPr>
            <a:r>
              <a:rPr sz="1350" b="0">
                <a:solidFill>
                  <a:srgbClr val="334155"/>
                </a:solidFill>
                <a:latin typeface="Aptos"/>
                <a:ea typeface="Aptos"/>
                <a:cs typeface="Aptos"/>
              </a:rPr>
              <a:t>Respond to a prompt without persistent business state</a:t>
            </a:r>
          </a:p>
        </p:txBody>
      </p:sp>
      <p:sp>
        <p:nvSpPr>
          <p:cNvPr id="12" name="">
            <a:extLst xmlns:a="http://schemas.openxmlformats.org/drawingml/2006/main">
              <a:ext uri="{FF2B5EF4-FFF2-40B4-BE49-F238E27FC236}">
                <a16:creationId xmlns:a16="http://schemas.microsoft.com/office/drawing/2014/main" id="{8E7FA3D7-9955-45B6-8375-6E6608CF70B1}"/>
              </a:ext>
            </a:extLst>
          </p:cNvPr>
          <p:cNvSpPr>
            <a:spLocks xmlns:a="http://schemas.openxmlformats.org/drawingml/2006/main" noGrp="1"/>
          </p:cNvSpPr>
          <p:nvPr/>
        </p:nvSpPr>
        <p:spPr>
          <a:xfrm xmlns:a="http://schemas.openxmlformats.org/drawingml/2006/main">
            <a:off x="952500" y="299085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13" name="">
            <a:extLst xmlns:a="http://schemas.openxmlformats.org/drawingml/2006/main">
              <a:ext uri="{FF2B5EF4-FFF2-40B4-BE49-F238E27FC236}">
                <a16:creationId xmlns:a16="http://schemas.microsoft.com/office/drawing/2014/main" id="{607CAD2C-54D2-469C-84DE-835FC3A3D42B}"/>
              </a:ext>
            </a:extLst>
          </p:cNvPr>
          <p:cNvSpPr>
            <a:spLocks xmlns:a="http://schemas.openxmlformats.org/drawingml/2006/main" noGrp="1"/>
          </p:cNvSpPr>
          <p:nvPr/>
        </p:nvSpPr>
        <p:spPr>
          <a:xfrm xmlns:a="http://schemas.openxmlformats.org/drawingml/2006/main">
            <a:off x="1162050" y="2914650"/>
            <a:ext cx="4000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34155"/>
                </a:solidFill>
                <a:latin typeface="Aptos"/>
                <a:ea typeface="Aptos"/>
                <a:cs typeface="Aptos"/>
              </a:defRPr>
            </a:pPr>
            <a:r>
              <a:rPr sz="1350" b="0">
                <a:solidFill>
                  <a:srgbClr val="334155"/>
                </a:solidFill>
                <a:latin typeface="Aptos"/>
                <a:ea typeface="Aptos"/>
                <a:cs typeface="Aptos"/>
              </a:rPr>
              <a:t>Summarize text without proving every operational decision</a:t>
            </a:r>
          </a:p>
        </p:txBody>
      </p:sp>
      <p:sp>
        <p:nvSpPr>
          <p:cNvPr id="14" name="">
            <a:extLst xmlns:a="http://schemas.openxmlformats.org/drawingml/2006/main">
              <a:ext uri="{FF2B5EF4-FFF2-40B4-BE49-F238E27FC236}">
                <a16:creationId xmlns:a16="http://schemas.microsoft.com/office/drawing/2014/main" id="{91E30312-C519-426C-B277-37E811265C7B}"/>
              </a:ext>
            </a:extLst>
          </p:cNvPr>
          <p:cNvSpPr>
            <a:spLocks xmlns:a="http://schemas.openxmlformats.org/drawingml/2006/main" noGrp="1"/>
          </p:cNvSpPr>
          <p:nvPr/>
        </p:nvSpPr>
        <p:spPr>
          <a:xfrm xmlns:a="http://schemas.openxmlformats.org/drawingml/2006/main">
            <a:off x="952500" y="346710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15" name="">
            <a:extLst xmlns:a="http://schemas.openxmlformats.org/drawingml/2006/main">
              <a:ext uri="{FF2B5EF4-FFF2-40B4-BE49-F238E27FC236}">
                <a16:creationId xmlns:a16="http://schemas.microsoft.com/office/drawing/2014/main" id="{4B4D14D5-D568-44C7-A2D0-4A0006556EA1}"/>
              </a:ext>
            </a:extLst>
          </p:cNvPr>
          <p:cNvSpPr>
            <a:spLocks xmlns:a="http://schemas.openxmlformats.org/drawingml/2006/main" noGrp="1"/>
          </p:cNvSpPr>
          <p:nvPr/>
        </p:nvSpPr>
        <p:spPr>
          <a:xfrm xmlns:a="http://schemas.openxmlformats.org/drawingml/2006/main">
            <a:off x="1162050" y="3390900"/>
            <a:ext cx="4000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34155"/>
                </a:solidFill>
                <a:latin typeface="Aptos"/>
                <a:ea typeface="Aptos"/>
                <a:cs typeface="Aptos"/>
              </a:defRPr>
            </a:pPr>
            <a:r>
              <a:rPr sz="1350" b="0">
                <a:solidFill>
                  <a:srgbClr val="334155"/>
                </a:solidFill>
                <a:latin typeface="Aptos"/>
                <a:ea typeface="Aptos"/>
                <a:cs typeface="Aptos"/>
              </a:rPr>
              <a:t>Draft recommendations but not safely execute team workflows</a:t>
            </a:r>
          </a:p>
        </p:txBody>
      </p:sp>
      <p:sp>
        <p:nvSpPr>
          <p:cNvPr id="16" name="">
            <a:extLst xmlns:a="http://schemas.openxmlformats.org/drawingml/2006/main">
              <a:ext uri="{FF2B5EF4-FFF2-40B4-BE49-F238E27FC236}">
                <a16:creationId xmlns:a16="http://schemas.microsoft.com/office/drawing/2014/main" id="{71A50BC4-A0F2-4206-9EE1-03CE0B2B4B38}"/>
              </a:ext>
            </a:extLst>
          </p:cNvPr>
          <p:cNvSpPr>
            <a:spLocks xmlns:a="http://schemas.openxmlformats.org/drawingml/2006/main" noGrp="1"/>
          </p:cNvSpPr>
          <p:nvPr/>
        </p:nvSpPr>
        <p:spPr>
          <a:xfrm xmlns:a="http://schemas.openxmlformats.org/drawingml/2006/main">
            <a:off x="952500" y="394335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17" name="">
            <a:extLst xmlns:a="http://schemas.openxmlformats.org/drawingml/2006/main">
              <a:ext uri="{FF2B5EF4-FFF2-40B4-BE49-F238E27FC236}">
                <a16:creationId xmlns:a16="http://schemas.microsoft.com/office/drawing/2014/main" id="{19BEF89E-8469-4D18-854F-362DC84091CE}"/>
              </a:ext>
            </a:extLst>
          </p:cNvPr>
          <p:cNvSpPr>
            <a:spLocks xmlns:a="http://schemas.openxmlformats.org/drawingml/2006/main" noGrp="1"/>
          </p:cNvSpPr>
          <p:nvPr/>
        </p:nvSpPr>
        <p:spPr>
          <a:xfrm xmlns:a="http://schemas.openxmlformats.org/drawingml/2006/main">
            <a:off x="1162050" y="3867150"/>
            <a:ext cx="4000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34155"/>
                </a:solidFill>
                <a:latin typeface="Aptos"/>
                <a:ea typeface="Aptos"/>
                <a:cs typeface="Aptos"/>
              </a:defRPr>
            </a:pPr>
            <a:r>
              <a:rPr sz="1350" b="0">
                <a:solidFill>
                  <a:srgbClr val="334155"/>
                </a:solidFill>
                <a:latin typeface="Aptos"/>
                <a:ea typeface="Aptos"/>
                <a:cs typeface="Aptos"/>
              </a:rPr>
              <a:t>Give fluent output while hiding retrieval, risk, and audit context</a:t>
            </a:r>
          </a:p>
        </p:txBody>
      </p:sp>
      <p:sp>
        <p:nvSpPr>
          <p:cNvPr id="18" name="">
            <a:extLst xmlns:a="http://schemas.openxmlformats.org/drawingml/2006/main">
              <a:ext uri="{FF2B5EF4-FFF2-40B4-BE49-F238E27FC236}">
                <a16:creationId xmlns:a16="http://schemas.microsoft.com/office/drawing/2014/main" id="{294D8E1E-B239-442F-9790-0F7FE8A66E96}"/>
              </a:ext>
            </a:extLst>
          </p:cNvPr>
          <p:cNvSpPr>
            <a:spLocks xmlns:a="http://schemas.openxmlformats.org/drawingml/2006/main" noGrp="1"/>
          </p:cNvSpPr>
          <p:nvPr/>
        </p:nvSpPr>
        <p:spPr>
          <a:xfrm xmlns:a="http://schemas.openxmlformats.org/drawingml/2006/main">
            <a:off x="6115050" y="1619250"/>
            <a:ext cx="4905375" cy="2857500"/>
          </a:xfrm>
          <a:prstGeom xmlns:a="http://schemas.openxmlformats.org/drawingml/2006/main" prst="roundRect">
            <a:avLst>
              <a:gd name="adj" fmla="val 2667"/>
            </a:avLst>
          </a:prstGeom>
          <a:solidFill xmlns:a="http://schemas.openxmlformats.org/drawingml/2006/main">
            <a:srgbClr val="ECFDF5"/>
          </a:solidFill>
          <a:ln xmlns:a="http://schemas.openxmlformats.org/drawingml/2006/main" w="9525">
            <a:solidFill>
              <a:srgbClr val="99F6E4"/>
            </a:solidFill>
            <a:prstDash val="solid"/>
          </a:ln>
        </p:spPr>
      </p:sp>
      <p:sp>
        <p:nvSpPr>
          <p:cNvPr id="19" name="">
            <a:extLst xmlns:a="http://schemas.openxmlformats.org/drawingml/2006/main">
              <a:ext uri="{FF2B5EF4-FFF2-40B4-BE49-F238E27FC236}">
                <a16:creationId xmlns:a16="http://schemas.microsoft.com/office/drawing/2014/main" id="{6652FB41-14DB-4DE1-B9B1-620D80D4F271}"/>
              </a:ext>
            </a:extLst>
          </p:cNvPr>
          <p:cNvSpPr>
            <a:spLocks xmlns:a="http://schemas.openxmlformats.org/drawingml/2006/main" noGrp="1"/>
          </p:cNvSpPr>
          <p:nvPr/>
        </p:nvSpPr>
        <p:spPr>
          <a:xfrm xmlns:a="http://schemas.openxmlformats.org/drawingml/2006/main">
            <a:off x="6419850" y="192405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F172A"/>
                </a:solidFill>
                <a:latin typeface="Aptos"/>
                <a:ea typeface="Aptos"/>
                <a:cs typeface="Aptos"/>
              </a:defRPr>
            </a:pPr>
            <a:r>
              <a:rPr sz="1875" b="1">
                <a:solidFill>
                  <a:srgbClr val="0F172A"/>
                </a:solidFill>
                <a:latin typeface="Aptos"/>
                <a:ea typeface="Aptos"/>
                <a:cs typeface="Aptos"/>
              </a:rPr>
              <a:t>A commercial system must control</a:t>
            </a:r>
          </a:p>
        </p:txBody>
      </p:sp>
      <p:sp>
        <p:nvSpPr>
          <p:cNvPr id="20" name="">
            <a:extLst xmlns:a="http://schemas.openxmlformats.org/drawingml/2006/main">
              <a:ext uri="{FF2B5EF4-FFF2-40B4-BE49-F238E27FC236}">
                <a16:creationId xmlns:a16="http://schemas.microsoft.com/office/drawing/2014/main" id="{9B26198B-4CB4-4322-AB3D-096B6A8C6E2F}"/>
              </a:ext>
            </a:extLst>
          </p:cNvPr>
          <p:cNvSpPr>
            <a:spLocks xmlns:a="http://schemas.openxmlformats.org/drawingml/2006/main" noGrp="1"/>
          </p:cNvSpPr>
          <p:nvPr/>
        </p:nvSpPr>
        <p:spPr>
          <a:xfrm xmlns:a="http://schemas.openxmlformats.org/drawingml/2006/main">
            <a:off x="6457950" y="2514600"/>
            <a:ext cx="85725" cy="85725"/>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sp>
      <p:sp>
        <p:nvSpPr>
          <p:cNvPr id="21" name="">
            <a:extLst xmlns:a="http://schemas.openxmlformats.org/drawingml/2006/main">
              <a:ext uri="{FF2B5EF4-FFF2-40B4-BE49-F238E27FC236}">
                <a16:creationId xmlns:a16="http://schemas.microsoft.com/office/drawing/2014/main" id="{AD55AA12-2964-4918-9A1E-DA580FCAA7A2}"/>
              </a:ext>
            </a:extLst>
          </p:cNvPr>
          <p:cNvSpPr>
            <a:spLocks xmlns:a="http://schemas.openxmlformats.org/drawingml/2006/main" noGrp="1"/>
          </p:cNvSpPr>
          <p:nvPr/>
        </p:nvSpPr>
        <p:spPr>
          <a:xfrm xmlns:a="http://schemas.openxmlformats.org/drawingml/2006/main">
            <a:off x="6667500" y="2438400"/>
            <a:ext cx="4000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34155"/>
                </a:solidFill>
                <a:latin typeface="Aptos"/>
                <a:ea typeface="Aptos"/>
                <a:cs typeface="Aptos"/>
              </a:defRPr>
            </a:pPr>
            <a:r>
              <a:rPr sz="1350" b="0">
                <a:solidFill>
                  <a:srgbClr val="334155"/>
                </a:solidFill>
                <a:latin typeface="Aptos"/>
                <a:ea typeface="Aptos"/>
                <a:cs typeface="Aptos"/>
              </a:rPr>
              <a:t>Users, documents, model keys, permissions, and storage</a:t>
            </a:r>
          </a:p>
        </p:txBody>
      </p:sp>
      <p:sp>
        <p:nvSpPr>
          <p:cNvPr id="22" name="">
            <a:extLst xmlns:a="http://schemas.openxmlformats.org/drawingml/2006/main">
              <a:ext uri="{FF2B5EF4-FFF2-40B4-BE49-F238E27FC236}">
                <a16:creationId xmlns:a16="http://schemas.microsoft.com/office/drawing/2014/main" id="{6B877BE0-0C5B-4494-98B2-479A2A40F377}"/>
              </a:ext>
            </a:extLst>
          </p:cNvPr>
          <p:cNvSpPr>
            <a:spLocks xmlns:a="http://schemas.openxmlformats.org/drawingml/2006/main" noGrp="1"/>
          </p:cNvSpPr>
          <p:nvPr/>
        </p:nvSpPr>
        <p:spPr>
          <a:xfrm xmlns:a="http://schemas.openxmlformats.org/drawingml/2006/main">
            <a:off x="6457950" y="2990850"/>
            <a:ext cx="85725" cy="85725"/>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sp>
      <p:sp>
        <p:nvSpPr>
          <p:cNvPr id="23" name="">
            <a:extLst xmlns:a="http://schemas.openxmlformats.org/drawingml/2006/main">
              <a:ext uri="{FF2B5EF4-FFF2-40B4-BE49-F238E27FC236}">
                <a16:creationId xmlns:a16="http://schemas.microsoft.com/office/drawing/2014/main" id="{E0B42ED0-24E5-4A1A-87CF-2FE62EDD37EF}"/>
              </a:ext>
            </a:extLst>
          </p:cNvPr>
          <p:cNvSpPr>
            <a:spLocks xmlns:a="http://schemas.openxmlformats.org/drawingml/2006/main" noGrp="1"/>
          </p:cNvSpPr>
          <p:nvPr/>
        </p:nvSpPr>
        <p:spPr>
          <a:xfrm xmlns:a="http://schemas.openxmlformats.org/drawingml/2006/main">
            <a:off x="6667500" y="2914650"/>
            <a:ext cx="4000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34155"/>
                </a:solidFill>
                <a:latin typeface="Aptos"/>
                <a:ea typeface="Aptos"/>
                <a:cs typeface="Aptos"/>
              </a:defRPr>
            </a:pPr>
            <a:r>
              <a:rPr sz="1350" b="0">
                <a:solidFill>
                  <a:srgbClr val="334155"/>
                </a:solidFill>
                <a:latin typeface="Aptos"/>
                <a:ea typeface="Aptos"/>
                <a:cs typeface="Aptos"/>
              </a:rPr>
              <a:t>Retrieval, citations, agents, approvals, and audit events</a:t>
            </a:r>
          </a:p>
        </p:txBody>
      </p:sp>
      <p:sp>
        <p:nvSpPr>
          <p:cNvPr id="24" name="">
            <a:extLst xmlns:a="http://schemas.openxmlformats.org/drawingml/2006/main">
              <a:ext uri="{FF2B5EF4-FFF2-40B4-BE49-F238E27FC236}">
                <a16:creationId xmlns:a16="http://schemas.microsoft.com/office/drawing/2014/main" id="{01A8D0B7-187E-410F-9DE3-BE2859890D53}"/>
              </a:ext>
            </a:extLst>
          </p:cNvPr>
          <p:cNvSpPr>
            <a:spLocks xmlns:a="http://schemas.openxmlformats.org/drawingml/2006/main" noGrp="1"/>
          </p:cNvSpPr>
          <p:nvPr/>
        </p:nvSpPr>
        <p:spPr>
          <a:xfrm xmlns:a="http://schemas.openxmlformats.org/drawingml/2006/main">
            <a:off x="6457950" y="3467100"/>
            <a:ext cx="85725" cy="85725"/>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sp>
      <p:sp>
        <p:nvSpPr>
          <p:cNvPr id="25" name="">
            <a:extLst xmlns:a="http://schemas.openxmlformats.org/drawingml/2006/main">
              <a:ext uri="{FF2B5EF4-FFF2-40B4-BE49-F238E27FC236}">
                <a16:creationId xmlns:a16="http://schemas.microsoft.com/office/drawing/2014/main" id="{21F6BE12-72FC-472F-81EE-F567ED8D9B56}"/>
              </a:ext>
            </a:extLst>
          </p:cNvPr>
          <p:cNvSpPr>
            <a:spLocks xmlns:a="http://schemas.openxmlformats.org/drawingml/2006/main" noGrp="1"/>
          </p:cNvSpPr>
          <p:nvPr/>
        </p:nvSpPr>
        <p:spPr>
          <a:xfrm xmlns:a="http://schemas.openxmlformats.org/drawingml/2006/main">
            <a:off x="6667500" y="3390900"/>
            <a:ext cx="4000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34155"/>
                </a:solidFill>
                <a:latin typeface="Aptos"/>
                <a:ea typeface="Aptos"/>
                <a:cs typeface="Aptos"/>
              </a:defRPr>
            </a:pPr>
            <a:r>
              <a:rPr sz="1350" b="0">
                <a:solidFill>
                  <a:srgbClr val="334155"/>
                </a:solidFill>
                <a:latin typeface="Aptos"/>
                <a:ea typeface="Aptos"/>
                <a:cs typeface="Aptos"/>
              </a:rPr>
              <a:t>Typed workflow nodes that turn outputs into proposed actions</a:t>
            </a:r>
          </a:p>
        </p:txBody>
      </p:sp>
      <p:sp>
        <p:nvSpPr>
          <p:cNvPr id="26" name="">
            <a:extLst xmlns:a="http://schemas.openxmlformats.org/drawingml/2006/main">
              <a:ext uri="{FF2B5EF4-FFF2-40B4-BE49-F238E27FC236}">
                <a16:creationId xmlns:a16="http://schemas.microsoft.com/office/drawing/2014/main" id="{D56632CC-692E-4B79-BED8-39A3038C694C}"/>
              </a:ext>
            </a:extLst>
          </p:cNvPr>
          <p:cNvSpPr>
            <a:spLocks xmlns:a="http://schemas.openxmlformats.org/drawingml/2006/main" noGrp="1"/>
          </p:cNvSpPr>
          <p:nvPr/>
        </p:nvSpPr>
        <p:spPr>
          <a:xfrm xmlns:a="http://schemas.openxmlformats.org/drawingml/2006/main">
            <a:off x="6457950" y="3943350"/>
            <a:ext cx="85725" cy="85725"/>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sp>
      <p:sp>
        <p:nvSpPr>
          <p:cNvPr id="27" name="">
            <a:extLst xmlns:a="http://schemas.openxmlformats.org/drawingml/2006/main">
              <a:ext uri="{FF2B5EF4-FFF2-40B4-BE49-F238E27FC236}">
                <a16:creationId xmlns:a16="http://schemas.microsoft.com/office/drawing/2014/main" id="{B920B802-F9E7-4F81-A731-1818DD440A82}"/>
              </a:ext>
            </a:extLst>
          </p:cNvPr>
          <p:cNvSpPr>
            <a:spLocks xmlns:a="http://schemas.openxmlformats.org/drawingml/2006/main" noGrp="1"/>
          </p:cNvSpPr>
          <p:nvPr/>
        </p:nvSpPr>
        <p:spPr>
          <a:xfrm xmlns:a="http://schemas.openxmlformats.org/drawingml/2006/main">
            <a:off x="6667500" y="3867150"/>
            <a:ext cx="4000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34155"/>
                </a:solidFill>
                <a:latin typeface="Aptos"/>
                <a:ea typeface="Aptos"/>
                <a:cs typeface="Aptos"/>
              </a:defRPr>
            </a:pPr>
            <a:r>
              <a:rPr sz="1350" b="0">
                <a:solidFill>
                  <a:srgbClr val="334155"/>
                </a:solidFill>
                <a:latin typeface="Aptos"/>
                <a:ea typeface="Aptos"/>
                <a:cs typeface="Aptos"/>
              </a:rPr>
              <a:t>Exported deliverables that can be reviewed outside the app</a:t>
            </a:r>
          </a:p>
        </p:txBody>
      </p:sp>
      <p:sp>
        <p:nvSpPr>
          <p:cNvPr id="28" name="">
            <a:extLst xmlns:a="http://schemas.openxmlformats.org/drawingml/2006/main">
              <a:ext uri="{FF2B5EF4-FFF2-40B4-BE49-F238E27FC236}">
                <a16:creationId xmlns:a16="http://schemas.microsoft.com/office/drawing/2014/main" id="{862111D1-0B29-47C4-A1A4-111B42223D40}"/>
              </a:ext>
            </a:extLst>
          </p:cNvPr>
          <p:cNvSpPr>
            <a:spLocks xmlns:a="http://schemas.openxmlformats.org/drawingml/2006/main" noGrp="1"/>
          </p:cNvSpPr>
          <p:nvPr/>
        </p:nvSpPr>
        <p:spPr>
          <a:xfrm xmlns:a="http://schemas.openxmlformats.org/drawingml/2006/main">
            <a:off x="1600200" y="4953000"/>
            <a:ext cx="847725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161974A6-9B45-4C7A-A651-E0A40F70F413}"/>
              </a:ext>
            </a:extLst>
          </p:cNvPr>
          <p:cNvSpPr>
            <a:spLocks xmlns:a="http://schemas.openxmlformats.org/drawingml/2006/main" noGrp="1"/>
          </p:cNvSpPr>
          <p:nvPr/>
        </p:nvSpPr>
        <p:spPr>
          <a:xfrm xmlns:a="http://schemas.openxmlformats.org/drawingml/2006/main">
            <a:off x="1943100" y="5105400"/>
            <a:ext cx="1047750" cy="514350"/>
          </a:xfrm>
          <a:prstGeom xmlns:a="http://schemas.openxmlformats.org/drawingml/2006/main" prst="roundRect">
            <a:avLst>
              <a:gd name="adj" fmla="val 14815"/>
            </a:avLst>
          </a:prstGeom>
          <a:solidFill xmlns:a="http://schemas.openxmlformats.org/drawingml/2006/main">
            <a:srgbClr val="DBEAFE"/>
          </a:solidFill>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70335A99-7CFE-4AFF-AC41-E4293990BFE6}"/>
              </a:ext>
            </a:extLst>
          </p:cNvPr>
          <p:cNvSpPr>
            <a:spLocks xmlns:a="http://schemas.openxmlformats.org/drawingml/2006/main" noGrp="1"/>
          </p:cNvSpPr>
          <p:nvPr/>
        </p:nvSpPr>
        <p:spPr>
          <a:xfrm xmlns:a="http://schemas.openxmlformats.org/drawingml/2006/main">
            <a:off x="2019300" y="521970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Model</a:t>
            </a:r>
          </a:p>
        </p:txBody>
      </p:sp>
      <p:sp>
        <p:nvSpPr>
          <p:cNvPr id="31" name="">
            <a:extLst xmlns:a="http://schemas.openxmlformats.org/drawingml/2006/main">
              <a:ext uri="{FF2B5EF4-FFF2-40B4-BE49-F238E27FC236}">
                <a16:creationId xmlns:a16="http://schemas.microsoft.com/office/drawing/2014/main" id="{9B8DCAA9-01B4-43E3-9419-BD9365225B30}"/>
              </a:ext>
            </a:extLst>
          </p:cNvPr>
          <p:cNvSpPr>
            <a:spLocks xmlns:a="http://schemas.openxmlformats.org/drawingml/2006/main" noGrp="1"/>
          </p:cNvSpPr>
          <p:nvPr/>
        </p:nvSpPr>
        <p:spPr>
          <a:xfrm xmlns:a="http://schemas.openxmlformats.org/drawingml/2006/main">
            <a:off x="3352800" y="5105400"/>
            <a:ext cx="1047750" cy="514350"/>
          </a:xfrm>
          <a:prstGeom xmlns:a="http://schemas.openxmlformats.org/drawingml/2006/main" prst="roundRect">
            <a:avLst>
              <a:gd name="adj" fmla="val 14815"/>
            </a:avLst>
          </a:prstGeom>
          <a:solidFill xmlns:a="http://schemas.openxmlformats.org/drawingml/2006/main">
            <a:srgbClr val="CCFBF1"/>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046B367C-D87E-4B03-BB5B-1A18DF7379F1}"/>
              </a:ext>
            </a:extLst>
          </p:cNvPr>
          <p:cNvSpPr>
            <a:spLocks xmlns:a="http://schemas.openxmlformats.org/drawingml/2006/main" noGrp="1"/>
          </p:cNvSpPr>
          <p:nvPr/>
        </p:nvSpPr>
        <p:spPr>
          <a:xfrm xmlns:a="http://schemas.openxmlformats.org/drawingml/2006/main">
            <a:off x="3429000" y="521970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Data</a:t>
            </a:r>
          </a:p>
        </p:txBody>
      </p:sp>
      <p:sp>
        <p:nvSpPr>
          <p:cNvPr id="33" name="">
            <a:extLst xmlns:a="http://schemas.openxmlformats.org/drawingml/2006/main">
              <a:ext uri="{FF2B5EF4-FFF2-40B4-BE49-F238E27FC236}">
                <a16:creationId xmlns:a16="http://schemas.microsoft.com/office/drawing/2014/main" id="{6D32B931-53CD-40C3-B1EA-4AA919123ACC}"/>
              </a:ext>
            </a:extLst>
          </p:cNvPr>
          <p:cNvSpPr>
            <a:spLocks xmlns:a="http://schemas.openxmlformats.org/drawingml/2006/main" noGrp="1"/>
          </p:cNvSpPr>
          <p:nvPr/>
        </p:nvSpPr>
        <p:spPr>
          <a:xfrm xmlns:a="http://schemas.openxmlformats.org/drawingml/2006/main">
            <a:off x="4762500" y="5105400"/>
            <a:ext cx="1047750" cy="514350"/>
          </a:xfrm>
          <a:prstGeom xmlns:a="http://schemas.openxmlformats.org/drawingml/2006/main" prst="roundRect">
            <a:avLst>
              <a:gd name="adj" fmla="val 14815"/>
            </a:avLst>
          </a:prstGeom>
          <a:solidFill xmlns:a="http://schemas.openxmlformats.org/drawingml/2006/main">
            <a:srgbClr val="E0E7FF"/>
          </a:solidFill>
          <a:ln xmlns:a="http://schemas.openxmlformats.org/drawingml/2006/main" w="9525">
            <a:solidFill>
              <a:srgbClr val="CBD5E1"/>
            </a:solidFill>
            <a:prstDash val="solid"/>
          </a:ln>
        </p:spPr>
      </p:sp>
      <p:sp>
        <p:nvSpPr>
          <p:cNvPr id="34" name="">
            <a:extLst xmlns:a="http://schemas.openxmlformats.org/drawingml/2006/main">
              <a:ext uri="{FF2B5EF4-FFF2-40B4-BE49-F238E27FC236}">
                <a16:creationId xmlns:a16="http://schemas.microsoft.com/office/drawing/2014/main" id="{A3301EFA-41C1-4284-A10E-E9A4D14B0D7C}"/>
              </a:ext>
            </a:extLst>
          </p:cNvPr>
          <p:cNvSpPr>
            <a:spLocks xmlns:a="http://schemas.openxmlformats.org/drawingml/2006/main" noGrp="1"/>
          </p:cNvSpPr>
          <p:nvPr/>
        </p:nvSpPr>
        <p:spPr>
          <a:xfrm xmlns:a="http://schemas.openxmlformats.org/drawingml/2006/main">
            <a:off x="4838700" y="521970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Agents</a:t>
            </a:r>
          </a:p>
        </p:txBody>
      </p:sp>
      <p:sp>
        <p:nvSpPr>
          <p:cNvPr id="35" name="">
            <a:extLst xmlns:a="http://schemas.openxmlformats.org/drawingml/2006/main">
              <a:ext uri="{FF2B5EF4-FFF2-40B4-BE49-F238E27FC236}">
                <a16:creationId xmlns:a16="http://schemas.microsoft.com/office/drawing/2014/main" id="{749D6B3F-1C63-4B39-A2F3-38A77A995874}"/>
              </a:ext>
            </a:extLst>
          </p:cNvPr>
          <p:cNvSpPr>
            <a:spLocks xmlns:a="http://schemas.openxmlformats.org/drawingml/2006/main" noGrp="1"/>
          </p:cNvSpPr>
          <p:nvPr/>
        </p:nvSpPr>
        <p:spPr>
          <a:xfrm xmlns:a="http://schemas.openxmlformats.org/drawingml/2006/main">
            <a:off x="6172200" y="5105400"/>
            <a:ext cx="1143000" cy="514350"/>
          </a:xfrm>
          <a:prstGeom xmlns:a="http://schemas.openxmlformats.org/drawingml/2006/main" prst="roundRect">
            <a:avLst>
              <a:gd name="adj" fmla="val 14815"/>
            </a:avLst>
          </a:prstGeom>
          <a:solidFill xmlns:a="http://schemas.openxmlformats.org/drawingml/2006/main">
            <a:srgbClr val="FEF3C7"/>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EA8D5BD5-9D3B-4136-AF72-84EBAF005C03}"/>
              </a:ext>
            </a:extLst>
          </p:cNvPr>
          <p:cNvSpPr>
            <a:spLocks xmlns:a="http://schemas.openxmlformats.org/drawingml/2006/main" noGrp="1"/>
          </p:cNvSpPr>
          <p:nvPr/>
        </p:nvSpPr>
        <p:spPr>
          <a:xfrm xmlns:a="http://schemas.openxmlformats.org/drawingml/2006/main">
            <a:off x="6248400" y="5219700"/>
            <a:ext cx="990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Approvals</a:t>
            </a:r>
          </a:p>
        </p:txBody>
      </p:sp>
      <p:sp>
        <p:nvSpPr>
          <p:cNvPr id="37" name="">
            <a:extLst xmlns:a="http://schemas.openxmlformats.org/drawingml/2006/main">
              <a:ext uri="{FF2B5EF4-FFF2-40B4-BE49-F238E27FC236}">
                <a16:creationId xmlns:a16="http://schemas.microsoft.com/office/drawing/2014/main" id="{DF75BC7C-8FD1-49EB-BFFA-B50662171BA9}"/>
              </a:ext>
            </a:extLst>
          </p:cNvPr>
          <p:cNvSpPr>
            <a:spLocks xmlns:a="http://schemas.openxmlformats.org/drawingml/2006/main" noGrp="1"/>
          </p:cNvSpPr>
          <p:nvPr/>
        </p:nvSpPr>
        <p:spPr>
          <a:xfrm xmlns:a="http://schemas.openxmlformats.org/drawingml/2006/main">
            <a:off x="7696200" y="5105400"/>
            <a:ext cx="1047750" cy="514350"/>
          </a:xfrm>
          <a:prstGeom xmlns:a="http://schemas.openxmlformats.org/drawingml/2006/main" prst="roundRect">
            <a:avLst>
              <a:gd name="adj" fmla="val 14815"/>
            </a:avLst>
          </a:prstGeom>
          <a:solidFill xmlns:a="http://schemas.openxmlformats.org/drawingml/2006/main">
            <a:srgbClr val="DCFCE7"/>
          </a:solidFill>
          <a:ln xmlns:a="http://schemas.openxmlformats.org/drawingml/2006/main" w="9525">
            <a:solidFill>
              <a:srgbClr val="CBD5E1"/>
            </a:solidFill>
            <a:prstDash val="solid"/>
          </a:ln>
        </p:spPr>
      </p:sp>
      <p:sp>
        <p:nvSpPr>
          <p:cNvPr id="38" name="">
            <a:extLst xmlns:a="http://schemas.openxmlformats.org/drawingml/2006/main">
              <a:ext uri="{FF2B5EF4-FFF2-40B4-BE49-F238E27FC236}">
                <a16:creationId xmlns:a16="http://schemas.microsoft.com/office/drawing/2014/main" id="{E75855B7-7310-43B3-92CD-8FBB585CF4EB}"/>
              </a:ext>
            </a:extLst>
          </p:cNvPr>
          <p:cNvSpPr>
            <a:spLocks xmlns:a="http://schemas.openxmlformats.org/drawingml/2006/main" noGrp="1"/>
          </p:cNvSpPr>
          <p:nvPr/>
        </p:nvSpPr>
        <p:spPr>
          <a:xfrm xmlns:a="http://schemas.openxmlformats.org/drawingml/2006/main">
            <a:off x="7772400" y="521970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Reports</a:t>
            </a:r>
          </a:p>
        </p:txBody>
      </p:sp>
      <p:sp>
        <p:nvSpPr>
          <p:cNvPr id="39" name="">
            <a:extLst xmlns:a="http://schemas.openxmlformats.org/drawingml/2006/main">
              <a:ext uri="{FF2B5EF4-FFF2-40B4-BE49-F238E27FC236}">
                <a16:creationId xmlns:a16="http://schemas.microsoft.com/office/drawing/2014/main" id="{2D1C08D2-7770-4C1C-9035-EE4A21F638E0}"/>
              </a:ext>
            </a:extLst>
          </p:cNvPr>
          <p:cNvSpPr>
            <a:spLocks xmlns:a="http://schemas.openxmlformats.org/drawingml/2006/main" noGrp="1"/>
          </p:cNvSpPr>
          <p:nvPr/>
        </p:nvSpPr>
        <p:spPr>
          <a:xfrm xmlns:a="http://schemas.openxmlformats.org/drawingml/2006/main">
            <a:off x="3562350" y="57531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4748B"/>
                </a:solidFill>
                <a:latin typeface="Aptos"/>
                <a:ea typeface="Aptos"/>
                <a:cs typeface="Aptos"/>
              </a:defRPr>
            </a:pPr>
            <a:r>
              <a:rPr sz="1050" b="0">
                <a:solidFill>
                  <a:srgbClr val="64748B"/>
                </a:solidFill>
                <a:latin typeface="Aptos"/>
                <a:ea typeface="Aptos"/>
                <a:cs typeface="Aptos"/>
              </a:rPr>
              <a:t>ModelWeave connects these parts into one controlled workflow.</a:t>
            </a:r>
          </a:p>
        </p:txBody>
      </p:sp>
    </p:spTree>
    <p:extLst>
      <p:ext uri="{BB962C8B-B14F-4D97-AF65-F5344CB8AC3E}">
        <p14:creationId xmlns:p14="http://schemas.microsoft.com/office/powerpoint/2010/main" val="13239549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D44B7B-584E-4B33-8E07-B29D29BACC4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F49E93E-6EE5-476C-9376-573722E70C3D}"/>
              </a:ext>
            </a:extLst>
          </p:cNvPr>
          <p:cNvSpPr>
            <a:spLocks xmlns:a="http://schemas.openxmlformats.org/drawingml/2006/main" noGrp="1"/>
          </p:cNvSpPr>
          <p:nvPr/>
        </p:nvSpPr>
        <p:spPr>
          <a:xfrm xmlns:a="http://schemas.openxmlformats.org/drawingml/2006/main">
            <a:off x="0" y="76200"/>
            <a:ext cx="12192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51762B3-04BC-4584-8967-BA33C070DD60}"/>
              </a:ext>
            </a:extLst>
          </p:cNvPr>
          <p:cNvSpPr>
            <a:spLocks xmlns:a="http://schemas.openxmlformats.org/drawingml/2006/main" noGrp="1"/>
          </p:cNvSpPr>
          <p:nvPr/>
        </p:nvSpPr>
        <p:spPr>
          <a:xfrm xmlns:a="http://schemas.openxmlformats.org/drawingml/2006/main">
            <a:off x="514350" y="6419850"/>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ModelWeave | Service-oriented architecture for scalable LLM use</a:t>
            </a:r>
          </a:p>
        </p:txBody>
      </p:sp>
      <p:sp>
        <p:nvSpPr>
          <p:cNvPr id="4" name="">
            <a:extLst xmlns:a="http://schemas.openxmlformats.org/drawingml/2006/main">
              <a:ext uri="{FF2B5EF4-FFF2-40B4-BE49-F238E27FC236}">
                <a16:creationId xmlns:a16="http://schemas.microsoft.com/office/drawing/2014/main" id="{1DAD572F-9E06-46CC-B45F-E01C1E59A290}"/>
              </a:ext>
            </a:extLst>
          </p:cNvPr>
          <p:cNvSpPr>
            <a:spLocks xmlns:a="http://schemas.openxmlformats.org/drawingml/2006/main" noGrp="1"/>
          </p:cNvSpPr>
          <p:nvPr/>
        </p:nvSpPr>
        <p:spPr>
          <a:xfrm xmlns:a="http://schemas.openxmlformats.org/drawingml/2006/main">
            <a:off x="11239500" y="64198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4</a:t>
            </a:r>
          </a:p>
        </p:txBody>
      </p:sp>
      <p:sp>
        <p:nvSpPr>
          <p:cNvPr id="5" name="">
            <a:extLst xmlns:a="http://schemas.openxmlformats.org/drawingml/2006/main">
              <a:ext uri="{FF2B5EF4-FFF2-40B4-BE49-F238E27FC236}">
                <a16:creationId xmlns:a16="http://schemas.microsoft.com/office/drawing/2014/main" id="{B3939A79-E916-4678-86E4-D6E30E8B1783}"/>
              </a:ext>
            </a:extLst>
          </p:cNvPr>
          <p:cNvSpPr>
            <a:spLocks xmlns:a="http://schemas.openxmlformats.org/drawingml/2006/main" noGrp="1"/>
          </p:cNvSpPr>
          <p:nvPr/>
        </p:nvSpPr>
        <p:spPr>
          <a:xfrm xmlns:a="http://schemas.openxmlformats.org/drawingml/2006/main">
            <a:off x="9144000" y="64198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Methods</a:t>
            </a:r>
          </a:p>
        </p:txBody>
      </p:sp>
      <p:sp>
        <p:nvSpPr>
          <p:cNvPr id="6" name="">
            <a:extLst xmlns:a="http://schemas.openxmlformats.org/drawingml/2006/main">
              <a:ext uri="{FF2B5EF4-FFF2-40B4-BE49-F238E27FC236}">
                <a16:creationId xmlns:a16="http://schemas.microsoft.com/office/drawing/2014/main" id="{E4B56CD1-1B99-4AA9-8AE8-013A810C778E}"/>
              </a:ext>
            </a:extLst>
          </p:cNvPr>
          <p:cNvSpPr>
            <a:spLocks xmlns:a="http://schemas.openxmlformats.org/drawingml/2006/main" noGrp="1"/>
          </p:cNvSpPr>
          <p:nvPr/>
        </p:nvSpPr>
        <p:spPr>
          <a:xfrm xmlns:a="http://schemas.openxmlformats.org/drawingml/2006/main">
            <a:off x="609600" y="4191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METHODS AND COMPARISON</a:t>
            </a:r>
          </a:p>
        </p:txBody>
      </p:sp>
      <p:sp>
        <p:nvSpPr>
          <p:cNvPr id="7" name="">
            <a:extLst xmlns:a="http://schemas.openxmlformats.org/drawingml/2006/main">
              <a:ext uri="{FF2B5EF4-FFF2-40B4-BE49-F238E27FC236}">
                <a16:creationId xmlns:a16="http://schemas.microsoft.com/office/drawing/2014/main" id="{5299144A-8CC5-420D-97DF-CB6489A0CFBC}"/>
              </a:ext>
            </a:extLst>
          </p:cNvPr>
          <p:cNvSpPr>
            <a:spLocks xmlns:a="http://schemas.openxmlformats.org/drawingml/2006/main" noGrp="1"/>
          </p:cNvSpPr>
          <p:nvPr/>
        </p:nvSpPr>
        <p:spPr>
          <a:xfrm xmlns:a="http://schemas.openxmlformats.org/drawingml/2006/main">
            <a:off x="609600" y="685800"/>
            <a:ext cx="7810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The prototype combines retrieval, agent workflows, and governance controls</a:t>
            </a:r>
          </a:p>
        </p:txBody>
      </p:sp>
      <p:sp>
        <p:nvSpPr>
          <p:cNvPr id="8" name="">
            <a:extLst xmlns:a="http://schemas.openxmlformats.org/drawingml/2006/main">
              <a:ext uri="{FF2B5EF4-FFF2-40B4-BE49-F238E27FC236}">
                <a16:creationId xmlns:a16="http://schemas.microsoft.com/office/drawing/2014/main" id="{AD847327-1585-4304-9908-576825796190}"/>
              </a:ext>
            </a:extLst>
          </p:cNvPr>
          <p:cNvSpPr>
            <a:spLocks xmlns:a="http://schemas.openxmlformats.org/drawingml/2006/main" noGrp="1"/>
          </p:cNvSpPr>
          <p:nvPr/>
        </p:nvSpPr>
        <p:spPr>
          <a:xfrm xmlns:a="http://schemas.openxmlformats.org/drawingml/2006/main">
            <a:off x="609600" y="1504950"/>
            <a:ext cx="1314450" cy="323850"/>
          </a:xfrm>
          <a:prstGeom xmlns:a="http://schemas.openxmlformats.org/drawingml/2006/main" prst="roundRect">
            <a:avLst>
              <a:gd name="adj" fmla="val 23529"/>
            </a:avLst>
          </a:prstGeom>
          <a:solidFill xmlns:a="http://schemas.openxmlformats.org/drawingml/2006/main">
            <a:srgbClr val="CCFBF1"/>
          </a:solidFill>
          <a:ln xmlns:a="http://schemas.openxmlformats.org/drawingml/2006/main" w="0">
            <a:solidFill>
              <a:srgbClr val="CCFBF1"/>
            </a:solidFill>
            <a:prstDash val="solid"/>
          </a:ln>
        </p:spPr>
      </p:sp>
      <p:sp>
        <p:nvSpPr>
          <p:cNvPr id="9" name="">
            <a:extLst xmlns:a="http://schemas.openxmlformats.org/drawingml/2006/main">
              <a:ext uri="{FF2B5EF4-FFF2-40B4-BE49-F238E27FC236}">
                <a16:creationId xmlns:a16="http://schemas.microsoft.com/office/drawing/2014/main" id="{7D7D08FA-8010-473C-8D8E-CA9DB722EC47}"/>
              </a:ext>
            </a:extLst>
          </p:cNvPr>
          <p:cNvSpPr>
            <a:spLocks xmlns:a="http://schemas.openxmlformats.org/drawingml/2006/main" noGrp="1"/>
          </p:cNvSpPr>
          <p:nvPr/>
        </p:nvSpPr>
        <p:spPr>
          <a:xfrm xmlns:a="http://schemas.openxmlformats.org/drawingml/2006/main">
            <a:off x="723900" y="1571625"/>
            <a:ext cx="1085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SOA</a:t>
            </a:r>
          </a:p>
        </p:txBody>
      </p:sp>
      <p:sp>
        <p:nvSpPr>
          <p:cNvPr id="10" name="">
            <a:extLst xmlns:a="http://schemas.openxmlformats.org/drawingml/2006/main">
              <a:ext uri="{FF2B5EF4-FFF2-40B4-BE49-F238E27FC236}">
                <a16:creationId xmlns:a16="http://schemas.microsoft.com/office/drawing/2014/main" id="{99645276-795D-4C12-95A4-43BA53B788A8}"/>
              </a:ext>
            </a:extLst>
          </p:cNvPr>
          <p:cNvSpPr>
            <a:spLocks xmlns:a="http://schemas.openxmlformats.org/drawingml/2006/main" noGrp="1"/>
          </p:cNvSpPr>
          <p:nvPr/>
        </p:nvSpPr>
        <p:spPr>
          <a:xfrm xmlns:a="http://schemas.openxmlformats.org/drawingml/2006/main">
            <a:off x="2114550" y="1504950"/>
            <a:ext cx="1314450" cy="323850"/>
          </a:xfrm>
          <a:prstGeom xmlns:a="http://schemas.openxmlformats.org/drawingml/2006/main" prst="roundRect">
            <a:avLst>
              <a:gd name="adj" fmla="val 23529"/>
            </a:avLst>
          </a:prstGeom>
          <a:solidFill xmlns:a="http://schemas.openxmlformats.org/drawingml/2006/main">
            <a:srgbClr val="DBEAFE"/>
          </a:solidFill>
          <a:ln xmlns:a="http://schemas.openxmlformats.org/drawingml/2006/main" w="0">
            <a:solidFill>
              <a:srgbClr val="DBEAFE"/>
            </a:solidFill>
            <a:prstDash val="solid"/>
          </a:ln>
        </p:spPr>
      </p:sp>
      <p:sp>
        <p:nvSpPr>
          <p:cNvPr id="11" name="">
            <a:extLst xmlns:a="http://schemas.openxmlformats.org/drawingml/2006/main">
              <a:ext uri="{FF2B5EF4-FFF2-40B4-BE49-F238E27FC236}">
                <a16:creationId xmlns:a16="http://schemas.microsoft.com/office/drawing/2014/main" id="{8136A0AB-2C3B-439E-90AD-C06EA366E25B}"/>
              </a:ext>
            </a:extLst>
          </p:cNvPr>
          <p:cNvSpPr>
            <a:spLocks xmlns:a="http://schemas.openxmlformats.org/drawingml/2006/main" noGrp="1"/>
          </p:cNvSpPr>
          <p:nvPr/>
        </p:nvSpPr>
        <p:spPr>
          <a:xfrm xmlns:a="http://schemas.openxmlformats.org/drawingml/2006/main">
            <a:off x="2228850" y="1571625"/>
            <a:ext cx="1085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RAG</a:t>
            </a:r>
          </a:p>
        </p:txBody>
      </p:sp>
      <p:sp>
        <p:nvSpPr>
          <p:cNvPr id="12" name="">
            <a:extLst xmlns:a="http://schemas.openxmlformats.org/drawingml/2006/main">
              <a:ext uri="{FF2B5EF4-FFF2-40B4-BE49-F238E27FC236}">
                <a16:creationId xmlns:a16="http://schemas.microsoft.com/office/drawing/2014/main" id="{5F68A5C3-E802-45D4-812F-9A1A711973C2}"/>
              </a:ext>
            </a:extLst>
          </p:cNvPr>
          <p:cNvSpPr>
            <a:spLocks xmlns:a="http://schemas.openxmlformats.org/drawingml/2006/main" noGrp="1"/>
          </p:cNvSpPr>
          <p:nvPr/>
        </p:nvSpPr>
        <p:spPr>
          <a:xfrm xmlns:a="http://schemas.openxmlformats.org/drawingml/2006/main">
            <a:off x="3619500" y="1504950"/>
            <a:ext cx="1314450" cy="323850"/>
          </a:xfrm>
          <a:prstGeom xmlns:a="http://schemas.openxmlformats.org/drawingml/2006/main" prst="roundRect">
            <a:avLst>
              <a:gd name="adj" fmla="val 23529"/>
            </a:avLst>
          </a:prstGeom>
          <a:solidFill xmlns:a="http://schemas.openxmlformats.org/drawingml/2006/main">
            <a:srgbClr val="CCFBF1"/>
          </a:solidFill>
          <a:ln xmlns:a="http://schemas.openxmlformats.org/drawingml/2006/main" w="0">
            <a:solidFill>
              <a:srgbClr val="CCFBF1"/>
            </a:solidFill>
            <a:prstDash val="solid"/>
          </a:ln>
        </p:spPr>
      </p:sp>
      <p:sp>
        <p:nvSpPr>
          <p:cNvPr id="13" name="">
            <a:extLst xmlns:a="http://schemas.openxmlformats.org/drawingml/2006/main">
              <a:ext uri="{FF2B5EF4-FFF2-40B4-BE49-F238E27FC236}">
                <a16:creationId xmlns:a16="http://schemas.microsoft.com/office/drawing/2014/main" id="{437832C4-B0DB-4206-9234-98B0F531820D}"/>
              </a:ext>
            </a:extLst>
          </p:cNvPr>
          <p:cNvSpPr>
            <a:spLocks xmlns:a="http://schemas.openxmlformats.org/drawingml/2006/main" noGrp="1"/>
          </p:cNvSpPr>
          <p:nvPr/>
        </p:nvSpPr>
        <p:spPr>
          <a:xfrm xmlns:a="http://schemas.openxmlformats.org/drawingml/2006/main">
            <a:off x="3733800" y="1571625"/>
            <a:ext cx="1085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Embeddings</a:t>
            </a:r>
          </a:p>
        </p:txBody>
      </p:sp>
      <p:sp>
        <p:nvSpPr>
          <p:cNvPr id="14" name="">
            <a:extLst xmlns:a="http://schemas.openxmlformats.org/drawingml/2006/main">
              <a:ext uri="{FF2B5EF4-FFF2-40B4-BE49-F238E27FC236}">
                <a16:creationId xmlns:a16="http://schemas.microsoft.com/office/drawing/2014/main" id="{968A4CBB-CA9C-41A9-8D6F-B14B0822BA2D}"/>
              </a:ext>
            </a:extLst>
          </p:cNvPr>
          <p:cNvSpPr>
            <a:spLocks xmlns:a="http://schemas.openxmlformats.org/drawingml/2006/main" noGrp="1"/>
          </p:cNvSpPr>
          <p:nvPr/>
        </p:nvSpPr>
        <p:spPr>
          <a:xfrm xmlns:a="http://schemas.openxmlformats.org/drawingml/2006/main">
            <a:off x="5124450" y="1504950"/>
            <a:ext cx="1314450" cy="323850"/>
          </a:xfrm>
          <a:prstGeom xmlns:a="http://schemas.openxmlformats.org/drawingml/2006/main" prst="roundRect">
            <a:avLst>
              <a:gd name="adj" fmla="val 23529"/>
            </a:avLst>
          </a:prstGeom>
          <a:solidFill xmlns:a="http://schemas.openxmlformats.org/drawingml/2006/main">
            <a:srgbClr val="DBEAFE"/>
          </a:solidFill>
          <a:ln xmlns:a="http://schemas.openxmlformats.org/drawingml/2006/main" w="0">
            <a:solidFill>
              <a:srgbClr val="DBEAFE"/>
            </a:solidFill>
            <a:prstDash val="solid"/>
          </a:ln>
        </p:spPr>
      </p:sp>
      <p:sp>
        <p:nvSpPr>
          <p:cNvPr id="15" name="">
            <a:extLst xmlns:a="http://schemas.openxmlformats.org/drawingml/2006/main">
              <a:ext uri="{FF2B5EF4-FFF2-40B4-BE49-F238E27FC236}">
                <a16:creationId xmlns:a16="http://schemas.microsoft.com/office/drawing/2014/main" id="{4028170D-8BF4-41AB-91DF-BABDAA020C40}"/>
              </a:ext>
            </a:extLst>
          </p:cNvPr>
          <p:cNvSpPr>
            <a:spLocks xmlns:a="http://schemas.openxmlformats.org/drawingml/2006/main" noGrp="1"/>
          </p:cNvSpPr>
          <p:nvPr/>
        </p:nvSpPr>
        <p:spPr>
          <a:xfrm xmlns:a="http://schemas.openxmlformats.org/drawingml/2006/main">
            <a:off x="5238750" y="1571625"/>
            <a:ext cx="1085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Vector search</a:t>
            </a:r>
          </a:p>
        </p:txBody>
      </p:sp>
      <p:sp>
        <p:nvSpPr>
          <p:cNvPr id="16" name="">
            <a:extLst xmlns:a="http://schemas.openxmlformats.org/drawingml/2006/main">
              <a:ext uri="{FF2B5EF4-FFF2-40B4-BE49-F238E27FC236}">
                <a16:creationId xmlns:a16="http://schemas.microsoft.com/office/drawing/2014/main" id="{D1D51629-A93E-4954-9626-ED0C60620178}"/>
              </a:ext>
            </a:extLst>
          </p:cNvPr>
          <p:cNvSpPr>
            <a:spLocks xmlns:a="http://schemas.openxmlformats.org/drawingml/2006/main" noGrp="1"/>
          </p:cNvSpPr>
          <p:nvPr/>
        </p:nvSpPr>
        <p:spPr>
          <a:xfrm xmlns:a="http://schemas.openxmlformats.org/drawingml/2006/main">
            <a:off x="6629400" y="1504950"/>
            <a:ext cx="1314450" cy="323850"/>
          </a:xfrm>
          <a:prstGeom xmlns:a="http://schemas.openxmlformats.org/drawingml/2006/main" prst="roundRect">
            <a:avLst>
              <a:gd name="adj" fmla="val 23529"/>
            </a:avLst>
          </a:prstGeom>
          <a:solidFill xmlns:a="http://schemas.openxmlformats.org/drawingml/2006/main">
            <a:srgbClr val="CCFBF1"/>
          </a:solidFill>
          <a:ln xmlns:a="http://schemas.openxmlformats.org/drawingml/2006/main" w="0">
            <a:solidFill>
              <a:srgbClr val="CCFBF1"/>
            </a:solidFill>
            <a:prstDash val="solid"/>
          </a:ln>
        </p:spPr>
      </p:sp>
      <p:sp>
        <p:nvSpPr>
          <p:cNvPr id="17" name="">
            <a:extLst xmlns:a="http://schemas.openxmlformats.org/drawingml/2006/main">
              <a:ext uri="{FF2B5EF4-FFF2-40B4-BE49-F238E27FC236}">
                <a16:creationId xmlns:a16="http://schemas.microsoft.com/office/drawing/2014/main" id="{E830F692-029A-41D3-A392-EE95EBB7DFF2}"/>
              </a:ext>
            </a:extLst>
          </p:cNvPr>
          <p:cNvSpPr>
            <a:spLocks xmlns:a="http://schemas.openxmlformats.org/drawingml/2006/main" noGrp="1"/>
          </p:cNvSpPr>
          <p:nvPr/>
        </p:nvSpPr>
        <p:spPr>
          <a:xfrm xmlns:a="http://schemas.openxmlformats.org/drawingml/2006/main">
            <a:off x="6743700" y="1571625"/>
            <a:ext cx="1085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Multi-agent graph</a:t>
            </a:r>
          </a:p>
        </p:txBody>
      </p:sp>
      <p:sp>
        <p:nvSpPr>
          <p:cNvPr id="18" name="">
            <a:extLst xmlns:a="http://schemas.openxmlformats.org/drawingml/2006/main">
              <a:ext uri="{FF2B5EF4-FFF2-40B4-BE49-F238E27FC236}">
                <a16:creationId xmlns:a16="http://schemas.microsoft.com/office/drawing/2014/main" id="{3FB6FFF3-00E2-4CC0-AB4D-254EB70A63F5}"/>
              </a:ext>
            </a:extLst>
          </p:cNvPr>
          <p:cNvSpPr>
            <a:spLocks xmlns:a="http://schemas.openxmlformats.org/drawingml/2006/main" noGrp="1"/>
          </p:cNvSpPr>
          <p:nvPr/>
        </p:nvSpPr>
        <p:spPr>
          <a:xfrm xmlns:a="http://schemas.openxmlformats.org/drawingml/2006/main">
            <a:off x="8134350" y="1504950"/>
            <a:ext cx="1314450" cy="323850"/>
          </a:xfrm>
          <a:prstGeom xmlns:a="http://schemas.openxmlformats.org/drawingml/2006/main" prst="roundRect">
            <a:avLst>
              <a:gd name="adj" fmla="val 23529"/>
            </a:avLst>
          </a:prstGeom>
          <a:solidFill xmlns:a="http://schemas.openxmlformats.org/drawingml/2006/main">
            <a:srgbClr val="DBEAFE"/>
          </a:solidFill>
          <a:ln xmlns:a="http://schemas.openxmlformats.org/drawingml/2006/main" w="0">
            <a:solidFill>
              <a:srgbClr val="DBEAFE"/>
            </a:solidFill>
            <a:prstDash val="solid"/>
          </a:ln>
        </p:spPr>
      </p:sp>
      <p:sp>
        <p:nvSpPr>
          <p:cNvPr id="19" name="">
            <a:extLst xmlns:a="http://schemas.openxmlformats.org/drawingml/2006/main">
              <a:ext uri="{FF2B5EF4-FFF2-40B4-BE49-F238E27FC236}">
                <a16:creationId xmlns:a16="http://schemas.microsoft.com/office/drawing/2014/main" id="{19AD6199-D570-4036-8DF2-132B0B0495A5}"/>
              </a:ext>
            </a:extLst>
          </p:cNvPr>
          <p:cNvSpPr>
            <a:spLocks xmlns:a="http://schemas.openxmlformats.org/drawingml/2006/main" noGrp="1"/>
          </p:cNvSpPr>
          <p:nvPr/>
        </p:nvSpPr>
        <p:spPr>
          <a:xfrm xmlns:a="http://schemas.openxmlformats.org/drawingml/2006/main">
            <a:off x="8248650" y="1571625"/>
            <a:ext cx="1085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Approval gates</a:t>
            </a:r>
          </a:p>
        </p:txBody>
      </p:sp>
      <p:sp>
        <p:nvSpPr>
          <p:cNvPr id="20" name="">
            <a:extLst xmlns:a="http://schemas.openxmlformats.org/drawingml/2006/main">
              <a:ext uri="{FF2B5EF4-FFF2-40B4-BE49-F238E27FC236}">
                <a16:creationId xmlns:a16="http://schemas.microsoft.com/office/drawing/2014/main" id="{FEED12E3-CF6D-4165-92B8-755574FFB4DC}"/>
              </a:ext>
            </a:extLst>
          </p:cNvPr>
          <p:cNvSpPr>
            <a:spLocks xmlns:a="http://schemas.openxmlformats.org/drawingml/2006/main" noGrp="1"/>
          </p:cNvSpPr>
          <p:nvPr/>
        </p:nvSpPr>
        <p:spPr>
          <a:xfrm xmlns:a="http://schemas.openxmlformats.org/drawingml/2006/main">
            <a:off x="9639300" y="1504950"/>
            <a:ext cx="1314450" cy="323850"/>
          </a:xfrm>
          <a:prstGeom xmlns:a="http://schemas.openxmlformats.org/drawingml/2006/main" prst="roundRect">
            <a:avLst>
              <a:gd name="adj" fmla="val 23529"/>
            </a:avLst>
          </a:prstGeom>
          <a:solidFill xmlns:a="http://schemas.openxmlformats.org/drawingml/2006/main">
            <a:srgbClr val="CCFBF1"/>
          </a:solidFill>
          <a:ln xmlns:a="http://schemas.openxmlformats.org/drawingml/2006/main" w="0">
            <a:solidFill>
              <a:srgbClr val="CCFBF1"/>
            </a:solidFill>
            <a:prstDash val="solid"/>
          </a:ln>
        </p:spPr>
      </p:sp>
      <p:sp>
        <p:nvSpPr>
          <p:cNvPr id="21" name="">
            <a:extLst xmlns:a="http://schemas.openxmlformats.org/drawingml/2006/main">
              <a:ext uri="{FF2B5EF4-FFF2-40B4-BE49-F238E27FC236}">
                <a16:creationId xmlns:a16="http://schemas.microsoft.com/office/drawing/2014/main" id="{DB59B97E-43A0-4B6E-AA78-2CB2992B63B0}"/>
              </a:ext>
            </a:extLst>
          </p:cNvPr>
          <p:cNvSpPr>
            <a:spLocks xmlns:a="http://schemas.openxmlformats.org/drawingml/2006/main" noGrp="1"/>
          </p:cNvSpPr>
          <p:nvPr/>
        </p:nvSpPr>
        <p:spPr>
          <a:xfrm xmlns:a="http://schemas.openxmlformats.org/drawingml/2006/main">
            <a:off x="9753600" y="1571625"/>
            <a:ext cx="1085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BYOK</a:t>
            </a:r>
          </a:p>
        </p:txBody>
      </p:sp>
      <p:sp>
        <p:nvSpPr>
          <p:cNvPr id="22" name="">
            <a:extLst xmlns:a="http://schemas.openxmlformats.org/drawingml/2006/main">
              <a:ext uri="{FF2B5EF4-FFF2-40B4-BE49-F238E27FC236}">
                <a16:creationId xmlns:a16="http://schemas.microsoft.com/office/drawing/2014/main" id="{6F024B8A-2E61-4DE2-B4C3-5EADF7B07D51}"/>
              </a:ext>
            </a:extLst>
          </p:cNvPr>
          <p:cNvSpPr>
            <a:spLocks xmlns:a="http://schemas.openxmlformats.org/drawingml/2006/main" noGrp="1"/>
          </p:cNvSpPr>
          <p:nvPr/>
        </p:nvSpPr>
        <p:spPr>
          <a:xfrm xmlns:a="http://schemas.openxmlformats.org/drawingml/2006/main">
            <a:off x="609600" y="2095500"/>
            <a:ext cx="10420350" cy="32194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C18DE914-C748-47F5-B142-A68884D21435}"/>
              </a:ext>
            </a:extLst>
          </p:cNvPr>
          <p:cNvSpPr>
            <a:spLocks xmlns:a="http://schemas.openxmlformats.org/drawingml/2006/main" noGrp="1"/>
          </p:cNvSpPr>
          <p:nvPr/>
        </p:nvSpPr>
        <p:spPr>
          <a:xfrm xmlns:a="http://schemas.openxmlformats.org/drawingml/2006/main">
            <a:off x="819150" y="2381250"/>
            <a:ext cx="2190750" cy="438150"/>
          </a:xfrm>
          <a:prstGeom xmlns:a="http://schemas.openxmlformats.org/drawingml/2006/main" prst="rect">
            <a:avLst/>
          </a:prstGeom>
          <a:solidFill xmlns:a="http://schemas.openxmlformats.org/drawingml/2006/main">
            <a:srgbClr val="0F172A"/>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CBBC4B02-057B-4480-ADF0-5DF6D498593A}"/>
              </a:ext>
            </a:extLst>
          </p:cNvPr>
          <p:cNvSpPr>
            <a:spLocks xmlns:a="http://schemas.openxmlformats.org/drawingml/2006/main" noGrp="1"/>
          </p:cNvSpPr>
          <p:nvPr/>
        </p:nvSpPr>
        <p:spPr>
          <a:xfrm xmlns:a="http://schemas.openxmlformats.org/drawingml/2006/main">
            <a:off x="914400" y="2466975"/>
            <a:ext cx="2000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Approach</a:t>
            </a:r>
          </a:p>
        </p:txBody>
      </p:sp>
      <p:sp>
        <p:nvSpPr>
          <p:cNvPr id="25" name="">
            <a:extLst xmlns:a="http://schemas.openxmlformats.org/drawingml/2006/main">
              <a:ext uri="{FF2B5EF4-FFF2-40B4-BE49-F238E27FC236}">
                <a16:creationId xmlns:a16="http://schemas.microsoft.com/office/drawing/2014/main" id="{95B03B21-DF56-40DA-93C4-F6B63BDA8A54}"/>
              </a:ext>
            </a:extLst>
          </p:cNvPr>
          <p:cNvSpPr>
            <a:spLocks xmlns:a="http://schemas.openxmlformats.org/drawingml/2006/main" noGrp="1"/>
          </p:cNvSpPr>
          <p:nvPr/>
        </p:nvSpPr>
        <p:spPr>
          <a:xfrm xmlns:a="http://schemas.openxmlformats.org/drawingml/2006/main">
            <a:off x="3009900" y="2381250"/>
            <a:ext cx="2209800" cy="438150"/>
          </a:xfrm>
          <a:prstGeom xmlns:a="http://schemas.openxmlformats.org/drawingml/2006/main" prst="rect">
            <a:avLst/>
          </a:prstGeom>
          <a:solidFill xmlns:a="http://schemas.openxmlformats.org/drawingml/2006/main">
            <a:srgbClr val="0F172A"/>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856D5CEE-7793-453A-9C65-964A0070F517}"/>
              </a:ext>
            </a:extLst>
          </p:cNvPr>
          <p:cNvSpPr>
            <a:spLocks xmlns:a="http://schemas.openxmlformats.org/drawingml/2006/main" noGrp="1"/>
          </p:cNvSpPr>
          <p:nvPr/>
        </p:nvSpPr>
        <p:spPr>
          <a:xfrm xmlns:a="http://schemas.openxmlformats.org/drawingml/2006/main">
            <a:off x="3105150" y="2466975"/>
            <a:ext cx="20193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Workflow control</a:t>
            </a:r>
          </a:p>
        </p:txBody>
      </p:sp>
      <p:sp>
        <p:nvSpPr>
          <p:cNvPr id="27" name="">
            <a:extLst xmlns:a="http://schemas.openxmlformats.org/drawingml/2006/main">
              <a:ext uri="{FF2B5EF4-FFF2-40B4-BE49-F238E27FC236}">
                <a16:creationId xmlns:a16="http://schemas.microsoft.com/office/drawing/2014/main" id="{A41ED006-A82F-43F6-9B61-C02662B0608F}"/>
              </a:ext>
            </a:extLst>
          </p:cNvPr>
          <p:cNvSpPr>
            <a:spLocks xmlns:a="http://schemas.openxmlformats.org/drawingml/2006/main" noGrp="1"/>
          </p:cNvSpPr>
          <p:nvPr/>
        </p:nvSpPr>
        <p:spPr>
          <a:xfrm xmlns:a="http://schemas.openxmlformats.org/drawingml/2006/main">
            <a:off x="5219700" y="2381250"/>
            <a:ext cx="2209800" cy="438150"/>
          </a:xfrm>
          <a:prstGeom xmlns:a="http://schemas.openxmlformats.org/drawingml/2006/main" prst="rect">
            <a:avLst/>
          </a:prstGeom>
          <a:solidFill xmlns:a="http://schemas.openxmlformats.org/drawingml/2006/main">
            <a:srgbClr val="0F172A"/>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6D3609AD-DE10-46B0-9916-D9C9E4985408}"/>
              </a:ext>
            </a:extLst>
          </p:cNvPr>
          <p:cNvSpPr>
            <a:spLocks xmlns:a="http://schemas.openxmlformats.org/drawingml/2006/main" noGrp="1"/>
          </p:cNvSpPr>
          <p:nvPr/>
        </p:nvSpPr>
        <p:spPr>
          <a:xfrm xmlns:a="http://schemas.openxmlformats.org/drawingml/2006/main">
            <a:off x="5314950" y="2466975"/>
            <a:ext cx="20193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Grounding</a:t>
            </a:r>
          </a:p>
        </p:txBody>
      </p:sp>
      <p:sp>
        <p:nvSpPr>
          <p:cNvPr id="29" name="">
            <a:extLst xmlns:a="http://schemas.openxmlformats.org/drawingml/2006/main">
              <a:ext uri="{FF2B5EF4-FFF2-40B4-BE49-F238E27FC236}">
                <a16:creationId xmlns:a16="http://schemas.microsoft.com/office/drawing/2014/main" id="{DC3882E2-EA12-4C5F-A7E6-647E85D8F37C}"/>
              </a:ext>
            </a:extLst>
          </p:cNvPr>
          <p:cNvSpPr>
            <a:spLocks xmlns:a="http://schemas.openxmlformats.org/drawingml/2006/main" noGrp="1"/>
          </p:cNvSpPr>
          <p:nvPr/>
        </p:nvSpPr>
        <p:spPr>
          <a:xfrm xmlns:a="http://schemas.openxmlformats.org/drawingml/2006/main">
            <a:off x="7429500" y="2381250"/>
            <a:ext cx="2209800" cy="438150"/>
          </a:xfrm>
          <a:prstGeom xmlns:a="http://schemas.openxmlformats.org/drawingml/2006/main" prst="rect">
            <a:avLst/>
          </a:prstGeom>
          <a:solidFill xmlns:a="http://schemas.openxmlformats.org/drawingml/2006/main">
            <a:srgbClr val="0F172A"/>
          </a:solidFill>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01337BF5-3B52-4DEA-BF5E-330A34094D03}"/>
              </a:ext>
            </a:extLst>
          </p:cNvPr>
          <p:cNvSpPr>
            <a:spLocks xmlns:a="http://schemas.openxmlformats.org/drawingml/2006/main" noGrp="1"/>
          </p:cNvSpPr>
          <p:nvPr/>
        </p:nvSpPr>
        <p:spPr>
          <a:xfrm xmlns:a="http://schemas.openxmlformats.org/drawingml/2006/main">
            <a:off x="7524750" y="2466975"/>
            <a:ext cx="20193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Mutation safety</a:t>
            </a:r>
          </a:p>
        </p:txBody>
      </p:sp>
      <p:sp>
        <p:nvSpPr>
          <p:cNvPr id="31" name="">
            <a:extLst xmlns:a="http://schemas.openxmlformats.org/drawingml/2006/main">
              <a:ext uri="{FF2B5EF4-FFF2-40B4-BE49-F238E27FC236}">
                <a16:creationId xmlns:a16="http://schemas.microsoft.com/office/drawing/2014/main" id="{0FF55D0B-CD70-47A2-9D60-213F4A06B104}"/>
              </a:ext>
            </a:extLst>
          </p:cNvPr>
          <p:cNvSpPr>
            <a:spLocks xmlns:a="http://schemas.openxmlformats.org/drawingml/2006/main" noGrp="1"/>
          </p:cNvSpPr>
          <p:nvPr/>
        </p:nvSpPr>
        <p:spPr>
          <a:xfrm xmlns:a="http://schemas.openxmlformats.org/drawingml/2006/main">
            <a:off x="9639300" y="2381250"/>
            <a:ext cx="1181100" cy="438150"/>
          </a:xfrm>
          <a:prstGeom xmlns:a="http://schemas.openxmlformats.org/drawingml/2006/main" prst="rect">
            <a:avLst/>
          </a:prstGeom>
          <a:solidFill xmlns:a="http://schemas.openxmlformats.org/drawingml/2006/main">
            <a:srgbClr val="0F172A"/>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EF9D43F5-D2EC-4FD3-BD99-12E9EE55B17B}"/>
              </a:ext>
            </a:extLst>
          </p:cNvPr>
          <p:cNvSpPr>
            <a:spLocks xmlns:a="http://schemas.openxmlformats.org/drawingml/2006/main" noGrp="1"/>
          </p:cNvSpPr>
          <p:nvPr/>
        </p:nvSpPr>
        <p:spPr>
          <a:xfrm xmlns:a="http://schemas.openxmlformats.org/drawingml/2006/main">
            <a:off x="9734550" y="2466975"/>
            <a:ext cx="9906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Fit for thesis</a:t>
            </a:r>
          </a:p>
        </p:txBody>
      </p:sp>
      <p:sp>
        <p:nvSpPr>
          <p:cNvPr id="33" name="">
            <a:extLst xmlns:a="http://schemas.openxmlformats.org/drawingml/2006/main">
              <a:ext uri="{FF2B5EF4-FFF2-40B4-BE49-F238E27FC236}">
                <a16:creationId xmlns:a16="http://schemas.microsoft.com/office/drawing/2014/main" id="{B0272A15-FCE7-4AC9-BF14-8FD013DB1E1B}"/>
              </a:ext>
            </a:extLst>
          </p:cNvPr>
          <p:cNvSpPr>
            <a:spLocks xmlns:a="http://schemas.openxmlformats.org/drawingml/2006/main" noGrp="1"/>
          </p:cNvSpPr>
          <p:nvPr/>
        </p:nvSpPr>
        <p:spPr>
          <a:xfrm xmlns:a="http://schemas.openxmlformats.org/drawingml/2006/main">
            <a:off x="819150" y="2819400"/>
            <a:ext cx="219075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4" name="">
            <a:extLst xmlns:a="http://schemas.openxmlformats.org/drawingml/2006/main">
              <a:ext uri="{FF2B5EF4-FFF2-40B4-BE49-F238E27FC236}">
                <a16:creationId xmlns:a16="http://schemas.microsoft.com/office/drawing/2014/main" id="{8DAAF550-3EF0-43DC-B026-CCC77AC45216}"/>
              </a:ext>
            </a:extLst>
          </p:cNvPr>
          <p:cNvSpPr>
            <a:spLocks xmlns:a="http://schemas.openxmlformats.org/drawingml/2006/main" noGrp="1"/>
          </p:cNvSpPr>
          <p:nvPr/>
        </p:nvSpPr>
        <p:spPr>
          <a:xfrm xmlns:a="http://schemas.openxmlformats.org/drawingml/2006/main">
            <a:off x="914400" y="2905125"/>
            <a:ext cx="200025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F172A"/>
                </a:solidFill>
                <a:latin typeface="Aptos"/>
                <a:ea typeface="Aptos"/>
                <a:cs typeface="Aptos"/>
              </a:defRPr>
            </a:pPr>
            <a:r>
              <a:rPr sz="975" b="1">
                <a:solidFill>
                  <a:srgbClr val="0F172A"/>
                </a:solidFill>
                <a:latin typeface="Aptos"/>
                <a:ea typeface="Aptos"/>
                <a:cs typeface="Aptos"/>
              </a:rPr>
              <a:t>Generic chatbot</a:t>
            </a:r>
          </a:p>
        </p:txBody>
      </p:sp>
      <p:sp>
        <p:nvSpPr>
          <p:cNvPr id="35" name="">
            <a:extLst xmlns:a="http://schemas.openxmlformats.org/drawingml/2006/main">
              <a:ext uri="{FF2B5EF4-FFF2-40B4-BE49-F238E27FC236}">
                <a16:creationId xmlns:a16="http://schemas.microsoft.com/office/drawing/2014/main" id="{F18C7C8F-764E-4F2B-ACC4-B51FC0085AA9}"/>
              </a:ext>
            </a:extLst>
          </p:cNvPr>
          <p:cNvSpPr>
            <a:spLocks xmlns:a="http://schemas.openxmlformats.org/drawingml/2006/main" noGrp="1"/>
          </p:cNvSpPr>
          <p:nvPr/>
        </p:nvSpPr>
        <p:spPr>
          <a:xfrm xmlns:a="http://schemas.openxmlformats.org/drawingml/2006/main">
            <a:off x="3009900" y="2819400"/>
            <a:ext cx="22098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8DA8E843-E023-43DA-B943-505E1F7D62CB}"/>
              </a:ext>
            </a:extLst>
          </p:cNvPr>
          <p:cNvSpPr>
            <a:spLocks xmlns:a="http://schemas.openxmlformats.org/drawingml/2006/main" noGrp="1"/>
          </p:cNvSpPr>
          <p:nvPr/>
        </p:nvSpPr>
        <p:spPr>
          <a:xfrm xmlns:a="http://schemas.openxmlformats.org/drawingml/2006/main">
            <a:off x="3105150" y="2905125"/>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Conversation only</a:t>
            </a:r>
          </a:p>
        </p:txBody>
      </p:sp>
      <p:sp>
        <p:nvSpPr>
          <p:cNvPr id="37" name="">
            <a:extLst xmlns:a="http://schemas.openxmlformats.org/drawingml/2006/main">
              <a:ext uri="{FF2B5EF4-FFF2-40B4-BE49-F238E27FC236}">
                <a16:creationId xmlns:a16="http://schemas.microsoft.com/office/drawing/2014/main" id="{61B00D45-344E-49E3-AA04-5A644946EE0E}"/>
              </a:ext>
            </a:extLst>
          </p:cNvPr>
          <p:cNvSpPr>
            <a:spLocks xmlns:a="http://schemas.openxmlformats.org/drawingml/2006/main" noGrp="1"/>
          </p:cNvSpPr>
          <p:nvPr/>
        </p:nvSpPr>
        <p:spPr>
          <a:xfrm xmlns:a="http://schemas.openxmlformats.org/drawingml/2006/main">
            <a:off x="5219700" y="2819400"/>
            <a:ext cx="22098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8" name="">
            <a:extLst xmlns:a="http://schemas.openxmlformats.org/drawingml/2006/main">
              <a:ext uri="{FF2B5EF4-FFF2-40B4-BE49-F238E27FC236}">
                <a16:creationId xmlns:a16="http://schemas.microsoft.com/office/drawing/2014/main" id="{4485CE24-D9C8-406F-B0B9-C853C4CCD99F}"/>
              </a:ext>
            </a:extLst>
          </p:cNvPr>
          <p:cNvSpPr>
            <a:spLocks xmlns:a="http://schemas.openxmlformats.org/drawingml/2006/main" noGrp="1"/>
          </p:cNvSpPr>
          <p:nvPr/>
        </p:nvSpPr>
        <p:spPr>
          <a:xfrm xmlns:a="http://schemas.openxmlformats.org/drawingml/2006/main">
            <a:off x="5314950" y="2905125"/>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Weak or implicit</a:t>
            </a:r>
          </a:p>
        </p:txBody>
      </p:sp>
      <p:sp>
        <p:nvSpPr>
          <p:cNvPr id="39" name="">
            <a:extLst xmlns:a="http://schemas.openxmlformats.org/drawingml/2006/main">
              <a:ext uri="{FF2B5EF4-FFF2-40B4-BE49-F238E27FC236}">
                <a16:creationId xmlns:a16="http://schemas.microsoft.com/office/drawing/2014/main" id="{FCC12B50-EBD0-4963-815E-1BD64361C340}"/>
              </a:ext>
            </a:extLst>
          </p:cNvPr>
          <p:cNvSpPr>
            <a:spLocks xmlns:a="http://schemas.openxmlformats.org/drawingml/2006/main" noGrp="1"/>
          </p:cNvSpPr>
          <p:nvPr/>
        </p:nvSpPr>
        <p:spPr>
          <a:xfrm xmlns:a="http://schemas.openxmlformats.org/drawingml/2006/main">
            <a:off x="7429500" y="2819400"/>
            <a:ext cx="22098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0" name="">
            <a:extLst xmlns:a="http://schemas.openxmlformats.org/drawingml/2006/main">
              <a:ext uri="{FF2B5EF4-FFF2-40B4-BE49-F238E27FC236}">
                <a16:creationId xmlns:a16="http://schemas.microsoft.com/office/drawing/2014/main" id="{04F5968C-39D0-41E4-8C54-F582ED8C7D79}"/>
              </a:ext>
            </a:extLst>
          </p:cNvPr>
          <p:cNvSpPr>
            <a:spLocks xmlns:a="http://schemas.openxmlformats.org/drawingml/2006/main" noGrp="1"/>
          </p:cNvSpPr>
          <p:nvPr/>
        </p:nvSpPr>
        <p:spPr>
          <a:xfrm xmlns:a="http://schemas.openxmlformats.org/drawingml/2006/main">
            <a:off x="7524750" y="2905125"/>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None</a:t>
            </a:r>
          </a:p>
        </p:txBody>
      </p:sp>
      <p:sp>
        <p:nvSpPr>
          <p:cNvPr id="41" name="">
            <a:extLst xmlns:a="http://schemas.openxmlformats.org/drawingml/2006/main">
              <a:ext uri="{FF2B5EF4-FFF2-40B4-BE49-F238E27FC236}">
                <a16:creationId xmlns:a16="http://schemas.microsoft.com/office/drawing/2014/main" id="{2C0AD356-BEDE-44B0-8358-2381768B0F4F}"/>
              </a:ext>
            </a:extLst>
          </p:cNvPr>
          <p:cNvSpPr>
            <a:spLocks xmlns:a="http://schemas.openxmlformats.org/drawingml/2006/main" noGrp="1"/>
          </p:cNvSpPr>
          <p:nvPr/>
        </p:nvSpPr>
        <p:spPr>
          <a:xfrm xmlns:a="http://schemas.openxmlformats.org/drawingml/2006/main">
            <a:off x="9639300" y="2819400"/>
            <a:ext cx="11811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2" name="">
            <a:extLst xmlns:a="http://schemas.openxmlformats.org/drawingml/2006/main">
              <a:ext uri="{FF2B5EF4-FFF2-40B4-BE49-F238E27FC236}">
                <a16:creationId xmlns:a16="http://schemas.microsoft.com/office/drawing/2014/main" id="{DE8146D1-92C0-45B9-A0AA-849232C0D605}"/>
              </a:ext>
            </a:extLst>
          </p:cNvPr>
          <p:cNvSpPr>
            <a:spLocks xmlns:a="http://schemas.openxmlformats.org/drawingml/2006/main" noGrp="1"/>
          </p:cNvSpPr>
          <p:nvPr/>
        </p:nvSpPr>
        <p:spPr>
          <a:xfrm xmlns:a="http://schemas.openxmlformats.org/drawingml/2006/main">
            <a:off x="9734550" y="2905125"/>
            <a:ext cx="9906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334155"/>
                </a:solidFill>
                <a:latin typeface="Aptos"/>
                <a:ea typeface="Aptos"/>
                <a:cs typeface="Aptos"/>
              </a:defRPr>
            </a:pPr>
            <a:r>
              <a:rPr sz="1200" b="0">
                <a:solidFill>
                  <a:srgbClr val="334155"/>
                </a:solidFill>
                <a:latin typeface="Aptos"/>
                <a:ea typeface="Aptos"/>
                <a:cs typeface="Aptos"/>
              </a:rPr>
              <a:t>Low</a:t>
            </a:r>
          </a:p>
        </p:txBody>
      </p:sp>
      <p:sp>
        <p:nvSpPr>
          <p:cNvPr id="43" name="">
            <a:extLst xmlns:a="http://schemas.openxmlformats.org/drawingml/2006/main">
              <a:ext uri="{FF2B5EF4-FFF2-40B4-BE49-F238E27FC236}">
                <a16:creationId xmlns:a16="http://schemas.microsoft.com/office/drawing/2014/main" id="{BFCA3D23-761D-477F-8956-847D50F15AF2}"/>
              </a:ext>
            </a:extLst>
          </p:cNvPr>
          <p:cNvSpPr>
            <a:spLocks xmlns:a="http://schemas.openxmlformats.org/drawingml/2006/main" noGrp="1"/>
          </p:cNvSpPr>
          <p:nvPr/>
        </p:nvSpPr>
        <p:spPr>
          <a:xfrm xmlns:a="http://schemas.openxmlformats.org/drawingml/2006/main">
            <a:off x="819150" y="3343275"/>
            <a:ext cx="219075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4" name="">
            <a:extLst xmlns:a="http://schemas.openxmlformats.org/drawingml/2006/main">
              <a:ext uri="{FF2B5EF4-FFF2-40B4-BE49-F238E27FC236}">
                <a16:creationId xmlns:a16="http://schemas.microsoft.com/office/drawing/2014/main" id="{D09F8DE2-A3C3-4886-B575-879E8131EB4D}"/>
              </a:ext>
            </a:extLst>
          </p:cNvPr>
          <p:cNvSpPr>
            <a:spLocks xmlns:a="http://schemas.openxmlformats.org/drawingml/2006/main" noGrp="1"/>
          </p:cNvSpPr>
          <p:nvPr/>
        </p:nvSpPr>
        <p:spPr>
          <a:xfrm xmlns:a="http://schemas.openxmlformats.org/drawingml/2006/main">
            <a:off x="914400" y="3429000"/>
            <a:ext cx="200025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F172A"/>
                </a:solidFill>
                <a:latin typeface="Aptos"/>
                <a:ea typeface="Aptos"/>
                <a:cs typeface="Aptos"/>
              </a:defRPr>
            </a:pPr>
            <a:r>
              <a:rPr sz="975" b="1">
                <a:solidFill>
                  <a:srgbClr val="0F172A"/>
                </a:solidFill>
                <a:latin typeface="Aptos"/>
                <a:ea typeface="Aptos"/>
                <a:cs typeface="Aptos"/>
              </a:rPr>
              <a:t>Simple RAG report tool</a:t>
            </a:r>
          </a:p>
        </p:txBody>
      </p:sp>
      <p:sp>
        <p:nvSpPr>
          <p:cNvPr id="45" name="">
            <a:extLst xmlns:a="http://schemas.openxmlformats.org/drawingml/2006/main">
              <a:ext uri="{FF2B5EF4-FFF2-40B4-BE49-F238E27FC236}">
                <a16:creationId xmlns:a16="http://schemas.microsoft.com/office/drawing/2014/main" id="{1B64124D-BAE5-43EC-B097-AB5508D13877}"/>
              </a:ext>
            </a:extLst>
          </p:cNvPr>
          <p:cNvSpPr>
            <a:spLocks xmlns:a="http://schemas.openxmlformats.org/drawingml/2006/main" noGrp="1"/>
          </p:cNvSpPr>
          <p:nvPr/>
        </p:nvSpPr>
        <p:spPr>
          <a:xfrm xmlns:a="http://schemas.openxmlformats.org/drawingml/2006/main">
            <a:off x="3009900" y="3343275"/>
            <a:ext cx="22098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6" name="">
            <a:extLst xmlns:a="http://schemas.openxmlformats.org/drawingml/2006/main">
              <a:ext uri="{FF2B5EF4-FFF2-40B4-BE49-F238E27FC236}">
                <a16:creationId xmlns:a16="http://schemas.microsoft.com/office/drawing/2014/main" id="{8818998F-968C-4A50-BD5E-17FBE2352E06}"/>
              </a:ext>
            </a:extLst>
          </p:cNvPr>
          <p:cNvSpPr>
            <a:spLocks xmlns:a="http://schemas.openxmlformats.org/drawingml/2006/main" noGrp="1"/>
          </p:cNvSpPr>
          <p:nvPr/>
        </p:nvSpPr>
        <p:spPr>
          <a:xfrm xmlns:a="http://schemas.openxmlformats.org/drawingml/2006/main">
            <a:off x="3105150" y="3429000"/>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Report generation</a:t>
            </a:r>
          </a:p>
        </p:txBody>
      </p:sp>
      <p:sp>
        <p:nvSpPr>
          <p:cNvPr id="47" name="">
            <a:extLst xmlns:a="http://schemas.openxmlformats.org/drawingml/2006/main">
              <a:ext uri="{FF2B5EF4-FFF2-40B4-BE49-F238E27FC236}">
                <a16:creationId xmlns:a16="http://schemas.microsoft.com/office/drawing/2014/main" id="{F9D0FE12-7BB6-4A6B-BC96-DA26E55D4FFA}"/>
              </a:ext>
            </a:extLst>
          </p:cNvPr>
          <p:cNvSpPr>
            <a:spLocks xmlns:a="http://schemas.openxmlformats.org/drawingml/2006/main" noGrp="1"/>
          </p:cNvSpPr>
          <p:nvPr/>
        </p:nvSpPr>
        <p:spPr>
          <a:xfrm xmlns:a="http://schemas.openxmlformats.org/drawingml/2006/main">
            <a:off x="5219700" y="3343275"/>
            <a:ext cx="22098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8" name="">
            <a:extLst xmlns:a="http://schemas.openxmlformats.org/drawingml/2006/main">
              <a:ext uri="{FF2B5EF4-FFF2-40B4-BE49-F238E27FC236}">
                <a16:creationId xmlns:a16="http://schemas.microsoft.com/office/drawing/2014/main" id="{0EB04FBB-B7BD-42FD-BEEF-ACE52F7D067D}"/>
              </a:ext>
            </a:extLst>
          </p:cNvPr>
          <p:cNvSpPr>
            <a:spLocks xmlns:a="http://schemas.openxmlformats.org/drawingml/2006/main" noGrp="1"/>
          </p:cNvSpPr>
          <p:nvPr/>
        </p:nvSpPr>
        <p:spPr>
          <a:xfrm xmlns:a="http://schemas.openxmlformats.org/drawingml/2006/main">
            <a:off x="5314950" y="3429000"/>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Document citations</a:t>
            </a:r>
          </a:p>
        </p:txBody>
      </p:sp>
      <p:sp>
        <p:nvSpPr>
          <p:cNvPr id="49" name="">
            <a:extLst xmlns:a="http://schemas.openxmlformats.org/drawingml/2006/main">
              <a:ext uri="{FF2B5EF4-FFF2-40B4-BE49-F238E27FC236}">
                <a16:creationId xmlns:a16="http://schemas.microsoft.com/office/drawing/2014/main" id="{693493AD-A5A2-4B8C-975C-58ED9CA81D85}"/>
              </a:ext>
            </a:extLst>
          </p:cNvPr>
          <p:cNvSpPr>
            <a:spLocks xmlns:a="http://schemas.openxmlformats.org/drawingml/2006/main" noGrp="1"/>
          </p:cNvSpPr>
          <p:nvPr/>
        </p:nvSpPr>
        <p:spPr>
          <a:xfrm xmlns:a="http://schemas.openxmlformats.org/drawingml/2006/main">
            <a:off x="7429500" y="3343275"/>
            <a:ext cx="22098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50" name="">
            <a:extLst xmlns:a="http://schemas.openxmlformats.org/drawingml/2006/main">
              <a:ext uri="{FF2B5EF4-FFF2-40B4-BE49-F238E27FC236}">
                <a16:creationId xmlns:a16="http://schemas.microsoft.com/office/drawing/2014/main" id="{B28FD0F5-CDA8-4A30-944B-6A578BA05444}"/>
              </a:ext>
            </a:extLst>
          </p:cNvPr>
          <p:cNvSpPr>
            <a:spLocks xmlns:a="http://schemas.openxmlformats.org/drawingml/2006/main" noGrp="1"/>
          </p:cNvSpPr>
          <p:nvPr/>
        </p:nvSpPr>
        <p:spPr>
          <a:xfrm xmlns:a="http://schemas.openxmlformats.org/drawingml/2006/main">
            <a:off x="7524750" y="3429000"/>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Limited</a:t>
            </a:r>
          </a:p>
        </p:txBody>
      </p:sp>
      <p:sp>
        <p:nvSpPr>
          <p:cNvPr id="51" name="">
            <a:extLst xmlns:a="http://schemas.openxmlformats.org/drawingml/2006/main">
              <a:ext uri="{FF2B5EF4-FFF2-40B4-BE49-F238E27FC236}">
                <a16:creationId xmlns:a16="http://schemas.microsoft.com/office/drawing/2014/main" id="{37D5848C-04D1-447E-B0B4-1276FB254D56}"/>
              </a:ext>
            </a:extLst>
          </p:cNvPr>
          <p:cNvSpPr>
            <a:spLocks xmlns:a="http://schemas.openxmlformats.org/drawingml/2006/main" noGrp="1"/>
          </p:cNvSpPr>
          <p:nvPr/>
        </p:nvSpPr>
        <p:spPr>
          <a:xfrm xmlns:a="http://schemas.openxmlformats.org/drawingml/2006/main">
            <a:off x="9639300" y="3343275"/>
            <a:ext cx="11811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52" name="">
            <a:extLst xmlns:a="http://schemas.openxmlformats.org/drawingml/2006/main">
              <a:ext uri="{FF2B5EF4-FFF2-40B4-BE49-F238E27FC236}">
                <a16:creationId xmlns:a16="http://schemas.microsoft.com/office/drawing/2014/main" id="{4FDC1938-04FA-4B52-AE1A-F51B5814BD69}"/>
              </a:ext>
            </a:extLst>
          </p:cNvPr>
          <p:cNvSpPr>
            <a:spLocks xmlns:a="http://schemas.openxmlformats.org/drawingml/2006/main" noGrp="1"/>
          </p:cNvSpPr>
          <p:nvPr/>
        </p:nvSpPr>
        <p:spPr>
          <a:xfrm xmlns:a="http://schemas.openxmlformats.org/drawingml/2006/main">
            <a:off x="9734550" y="3429000"/>
            <a:ext cx="9906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334155"/>
                </a:solidFill>
                <a:latin typeface="Aptos"/>
                <a:ea typeface="Aptos"/>
                <a:cs typeface="Aptos"/>
              </a:defRPr>
            </a:pPr>
            <a:r>
              <a:rPr sz="1200" b="0">
                <a:solidFill>
                  <a:srgbClr val="334155"/>
                </a:solidFill>
                <a:latin typeface="Aptos"/>
                <a:ea typeface="Aptos"/>
                <a:cs typeface="Aptos"/>
              </a:rPr>
              <a:t>Medium</a:t>
            </a:r>
          </a:p>
        </p:txBody>
      </p:sp>
      <p:sp>
        <p:nvSpPr>
          <p:cNvPr id="53" name="">
            <a:extLst xmlns:a="http://schemas.openxmlformats.org/drawingml/2006/main">
              <a:ext uri="{FF2B5EF4-FFF2-40B4-BE49-F238E27FC236}">
                <a16:creationId xmlns:a16="http://schemas.microsoft.com/office/drawing/2014/main" id="{FEED2C8D-1869-4EB2-A8FB-CE8C67CBC38B}"/>
              </a:ext>
            </a:extLst>
          </p:cNvPr>
          <p:cNvSpPr>
            <a:spLocks xmlns:a="http://schemas.openxmlformats.org/drawingml/2006/main" noGrp="1"/>
          </p:cNvSpPr>
          <p:nvPr/>
        </p:nvSpPr>
        <p:spPr>
          <a:xfrm xmlns:a="http://schemas.openxmlformats.org/drawingml/2006/main">
            <a:off x="819150" y="3867150"/>
            <a:ext cx="219075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54" name="">
            <a:extLst xmlns:a="http://schemas.openxmlformats.org/drawingml/2006/main">
              <a:ext uri="{FF2B5EF4-FFF2-40B4-BE49-F238E27FC236}">
                <a16:creationId xmlns:a16="http://schemas.microsoft.com/office/drawing/2014/main" id="{E27C56F9-3893-41F9-952B-20A63A894D8A}"/>
              </a:ext>
            </a:extLst>
          </p:cNvPr>
          <p:cNvSpPr>
            <a:spLocks xmlns:a="http://schemas.openxmlformats.org/drawingml/2006/main" noGrp="1"/>
          </p:cNvSpPr>
          <p:nvPr/>
        </p:nvSpPr>
        <p:spPr>
          <a:xfrm xmlns:a="http://schemas.openxmlformats.org/drawingml/2006/main">
            <a:off x="914400" y="3952875"/>
            <a:ext cx="200025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F172A"/>
                </a:solidFill>
                <a:latin typeface="Aptos"/>
                <a:ea typeface="Aptos"/>
                <a:cs typeface="Aptos"/>
              </a:defRPr>
            </a:pPr>
            <a:r>
              <a:rPr sz="975" b="1">
                <a:solidFill>
                  <a:srgbClr val="0F172A"/>
                </a:solidFill>
                <a:latin typeface="Aptos"/>
                <a:ea typeface="Aptos"/>
                <a:cs typeface="Aptos"/>
              </a:rPr>
              <a:t>Generic agent builder</a:t>
            </a:r>
          </a:p>
        </p:txBody>
      </p:sp>
      <p:sp>
        <p:nvSpPr>
          <p:cNvPr id="55" name="">
            <a:extLst xmlns:a="http://schemas.openxmlformats.org/drawingml/2006/main">
              <a:ext uri="{FF2B5EF4-FFF2-40B4-BE49-F238E27FC236}">
                <a16:creationId xmlns:a16="http://schemas.microsoft.com/office/drawing/2014/main" id="{AC359FCA-D7C7-4906-B556-AEA9D35823FC}"/>
              </a:ext>
            </a:extLst>
          </p:cNvPr>
          <p:cNvSpPr>
            <a:spLocks xmlns:a="http://schemas.openxmlformats.org/drawingml/2006/main" noGrp="1"/>
          </p:cNvSpPr>
          <p:nvPr/>
        </p:nvSpPr>
        <p:spPr>
          <a:xfrm xmlns:a="http://schemas.openxmlformats.org/drawingml/2006/main">
            <a:off x="3009900" y="3867150"/>
            <a:ext cx="22098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56" name="">
            <a:extLst xmlns:a="http://schemas.openxmlformats.org/drawingml/2006/main">
              <a:ext uri="{FF2B5EF4-FFF2-40B4-BE49-F238E27FC236}">
                <a16:creationId xmlns:a16="http://schemas.microsoft.com/office/drawing/2014/main" id="{EE98B106-FEB0-4115-B6D8-5E274087645F}"/>
              </a:ext>
            </a:extLst>
          </p:cNvPr>
          <p:cNvSpPr>
            <a:spLocks xmlns:a="http://schemas.openxmlformats.org/drawingml/2006/main" noGrp="1"/>
          </p:cNvSpPr>
          <p:nvPr/>
        </p:nvSpPr>
        <p:spPr>
          <a:xfrm xmlns:a="http://schemas.openxmlformats.org/drawingml/2006/main">
            <a:off x="3105150" y="3952875"/>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Flexible automation</a:t>
            </a:r>
          </a:p>
        </p:txBody>
      </p:sp>
      <p:sp>
        <p:nvSpPr>
          <p:cNvPr id="57" name="">
            <a:extLst xmlns:a="http://schemas.openxmlformats.org/drawingml/2006/main">
              <a:ext uri="{FF2B5EF4-FFF2-40B4-BE49-F238E27FC236}">
                <a16:creationId xmlns:a16="http://schemas.microsoft.com/office/drawing/2014/main" id="{34236492-5636-4869-8FB2-238B0E8AF261}"/>
              </a:ext>
            </a:extLst>
          </p:cNvPr>
          <p:cNvSpPr>
            <a:spLocks xmlns:a="http://schemas.openxmlformats.org/drawingml/2006/main" noGrp="1"/>
          </p:cNvSpPr>
          <p:nvPr/>
        </p:nvSpPr>
        <p:spPr>
          <a:xfrm xmlns:a="http://schemas.openxmlformats.org/drawingml/2006/main">
            <a:off x="5219700" y="3867150"/>
            <a:ext cx="22098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58" name="">
            <a:extLst xmlns:a="http://schemas.openxmlformats.org/drawingml/2006/main">
              <a:ext uri="{FF2B5EF4-FFF2-40B4-BE49-F238E27FC236}">
                <a16:creationId xmlns:a16="http://schemas.microsoft.com/office/drawing/2014/main" id="{FD65921D-5FB5-4991-809E-E8AE1149BB7B}"/>
              </a:ext>
            </a:extLst>
          </p:cNvPr>
          <p:cNvSpPr>
            <a:spLocks xmlns:a="http://schemas.openxmlformats.org/drawingml/2006/main" noGrp="1"/>
          </p:cNvSpPr>
          <p:nvPr/>
        </p:nvSpPr>
        <p:spPr>
          <a:xfrm xmlns:a="http://schemas.openxmlformats.org/drawingml/2006/main">
            <a:off x="5314950" y="3952875"/>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Depends on setup</a:t>
            </a:r>
          </a:p>
        </p:txBody>
      </p:sp>
      <p:sp>
        <p:nvSpPr>
          <p:cNvPr id="59" name="">
            <a:extLst xmlns:a="http://schemas.openxmlformats.org/drawingml/2006/main">
              <a:ext uri="{FF2B5EF4-FFF2-40B4-BE49-F238E27FC236}">
                <a16:creationId xmlns:a16="http://schemas.microsoft.com/office/drawing/2014/main" id="{149CB582-EBEA-4551-AABE-5333485121FA}"/>
              </a:ext>
            </a:extLst>
          </p:cNvPr>
          <p:cNvSpPr>
            <a:spLocks xmlns:a="http://schemas.openxmlformats.org/drawingml/2006/main" noGrp="1"/>
          </p:cNvSpPr>
          <p:nvPr/>
        </p:nvSpPr>
        <p:spPr>
          <a:xfrm xmlns:a="http://schemas.openxmlformats.org/drawingml/2006/main">
            <a:off x="7429500" y="3867150"/>
            <a:ext cx="22098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60" name="">
            <a:extLst xmlns:a="http://schemas.openxmlformats.org/drawingml/2006/main">
              <a:ext uri="{FF2B5EF4-FFF2-40B4-BE49-F238E27FC236}">
                <a16:creationId xmlns:a16="http://schemas.microsoft.com/office/drawing/2014/main" id="{553FD0AB-F89C-40A4-B4D3-290D84D75D5C}"/>
              </a:ext>
            </a:extLst>
          </p:cNvPr>
          <p:cNvSpPr>
            <a:spLocks xmlns:a="http://schemas.openxmlformats.org/drawingml/2006/main" noGrp="1"/>
          </p:cNvSpPr>
          <p:nvPr/>
        </p:nvSpPr>
        <p:spPr>
          <a:xfrm xmlns:a="http://schemas.openxmlformats.org/drawingml/2006/main">
            <a:off x="7524750" y="3952875"/>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Often optional</a:t>
            </a:r>
          </a:p>
        </p:txBody>
      </p:sp>
      <p:sp>
        <p:nvSpPr>
          <p:cNvPr id="61" name="">
            <a:extLst xmlns:a="http://schemas.openxmlformats.org/drawingml/2006/main">
              <a:ext uri="{FF2B5EF4-FFF2-40B4-BE49-F238E27FC236}">
                <a16:creationId xmlns:a16="http://schemas.microsoft.com/office/drawing/2014/main" id="{CA6FD0AC-E1B4-4A85-A9B1-671192A2C7F3}"/>
              </a:ext>
            </a:extLst>
          </p:cNvPr>
          <p:cNvSpPr>
            <a:spLocks xmlns:a="http://schemas.openxmlformats.org/drawingml/2006/main" noGrp="1"/>
          </p:cNvSpPr>
          <p:nvPr/>
        </p:nvSpPr>
        <p:spPr>
          <a:xfrm xmlns:a="http://schemas.openxmlformats.org/drawingml/2006/main">
            <a:off x="9639300" y="3867150"/>
            <a:ext cx="118110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62" name="">
            <a:extLst xmlns:a="http://schemas.openxmlformats.org/drawingml/2006/main">
              <a:ext uri="{FF2B5EF4-FFF2-40B4-BE49-F238E27FC236}">
                <a16:creationId xmlns:a16="http://schemas.microsoft.com/office/drawing/2014/main" id="{54B32289-51C2-4274-96BF-EA5024CDC406}"/>
              </a:ext>
            </a:extLst>
          </p:cNvPr>
          <p:cNvSpPr>
            <a:spLocks xmlns:a="http://schemas.openxmlformats.org/drawingml/2006/main" noGrp="1"/>
          </p:cNvSpPr>
          <p:nvPr/>
        </p:nvSpPr>
        <p:spPr>
          <a:xfrm xmlns:a="http://schemas.openxmlformats.org/drawingml/2006/main">
            <a:off x="9734550" y="3952875"/>
            <a:ext cx="9906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334155"/>
                </a:solidFill>
                <a:latin typeface="Aptos"/>
                <a:ea typeface="Aptos"/>
                <a:cs typeface="Aptos"/>
              </a:defRPr>
            </a:pPr>
            <a:r>
              <a:rPr sz="1200" b="0">
                <a:solidFill>
                  <a:srgbClr val="334155"/>
                </a:solidFill>
                <a:latin typeface="Aptos"/>
                <a:ea typeface="Aptos"/>
                <a:cs typeface="Aptos"/>
              </a:rPr>
              <a:t>Medium</a:t>
            </a:r>
          </a:p>
        </p:txBody>
      </p:sp>
      <p:sp>
        <p:nvSpPr>
          <p:cNvPr id="63" name="">
            <a:extLst xmlns:a="http://schemas.openxmlformats.org/drawingml/2006/main">
              <a:ext uri="{FF2B5EF4-FFF2-40B4-BE49-F238E27FC236}">
                <a16:creationId xmlns:a16="http://schemas.microsoft.com/office/drawing/2014/main" id="{9A4540BA-512B-4719-A108-4B19E0DAF5EB}"/>
              </a:ext>
            </a:extLst>
          </p:cNvPr>
          <p:cNvSpPr>
            <a:spLocks xmlns:a="http://schemas.openxmlformats.org/drawingml/2006/main" noGrp="1"/>
          </p:cNvSpPr>
          <p:nvPr/>
        </p:nvSpPr>
        <p:spPr>
          <a:xfrm xmlns:a="http://schemas.openxmlformats.org/drawingml/2006/main">
            <a:off x="819150" y="4391025"/>
            <a:ext cx="2190750" cy="523875"/>
          </a:xfrm>
          <a:prstGeom xmlns:a="http://schemas.openxmlformats.org/drawingml/2006/main" prst="rect">
            <a:avLst/>
          </a:prstGeom>
          <a:solidFill xmlns:a="http://schemas.openxmlformats.org/drawingml/2006/main">
            <a:srgbClr val="ECFDF5"/>
          </a:solidFill>
          <a:ln xmlns:a="http://schemas.openxmlformats.org/drawingml/2006/main" w="9525">
            <a:solidFill>
              <a:srgbClr val="5EEAD4"/>
            </a:solidFill>
            <a:prstDash val="solid"/>
          </a:ln>
        </p:spPr>
      </p:sp>
      <p:sp>
        <p:nvSpPr>
          <p:cNvPr id="64" name="">
            <a:extLst xmlns:a="http://schemas.openxmlformats.org/drawingml/2006/main">
              <a:ext uri="{FF2B5EF4-FFF2-40B4-BE49-F238E27FC236}">
                <a16:creationId xmlns:a16="http://schemas.microsoft.com/office/drawing/2014/main" id="{C2558649-9798-44AD-B3BE-EA1DAF72D643}"/>
              </a:ext>
            </a:extLst>
          </p:cNvPr>
          <p:cNvSpPr>
            <a:spLocks xmlns:a="http://schemas.openxmlformats.org/drawingml/2006/main" noGrp="1"/>
          </p:cNvSpPr>
          <p:nvPr/>
        </p:nvSpPr>
        <p:spPr>
          <a:xfrm xmlns:a="http://schemas.openxmlformats.org/drawingml/2006/main">
            <a:off x="914400" y="4476750"/>
            <a:ext cx="200025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F172A"/>
                </a:solidFill>
                <a:latin typeface="Aptos"/>
                <a:ea typeface="Aptos"/>
                <a:cs typeface="Aptos"/>
              </a:defRPr>
            </a:pPr>
            <a:r>
              <a:rPr sz="975" b="1">
                <a:solidFill>
                  <a:srgbClr val="0F172A"/>
                </a:solidFill>
                <a:latin typeface="Aptos"/>
                <a:ea typeface="Aptos"/>
                <a:cs typeface="Aptos"/>
              </a:rPr>
              <a:t>ModelWeave</a:t>
            </a:r>
          </a:p>
        </p:txBody>
      </p:sp>
      <p:sp>
        <p:nvSpPr>
          <p:cNvPr id="65" name="">
            <a:extLst xmlns:a="http://schemas.openxmlformats.org/drawingml/2006/main">
              <a:ext uri="{FF2B5EF4-FFF2-40B4-BE49-F238E27FC236}">
                <a16:creationId xmlns:a16="http://schemas.microsoft.com/office/drawing/2014/main" id="{5C021AA7-2D1D-4F26-8031-F128663DD915}"/>
              </a:ext>
            </a:extLst>
          </p:cNvPr>
          <p:cNvSpPr>
            <a:spLocks xmlns:a="http://schemas.openxmlformats.org/drawingml/2006/main" noGrp="1"/>
          </p:cNvSpPr>
          <p:nvPr/>
        </p:nvSpPr>
        <p:spPr>
          <a:xfrm xmlns:a="http://schemas.openxmlformats.org/drawingml/2006/main">
            <a:off x="3009900" y="4391025"/>
            <a:ext cx="2209800" cy="523875"/>
          </a:xfrm>
          <a:prstGeom xmlns:a="http://schemas.openxmlformats.org/drawingml/2006/main" prst="rect">
            <a:avLst/>
          </a:prstGeom>
          <a:solidFill xmlns:a="http://schemas.openxmlformats.org/drawingml/2006/main">
            <a:srgbClr val="ECFDF5"/>
          </a:solidFill>
          <a:ln xmlns:a="http://schemas.openxmlformats.org/drawingml/2006/main" w="9525">
            <a:solidFill>
              <a:srgbClr val="5EEAD4"/>
            </a:solidFill>
            <a:prstDash val="solid"/>
          </a:ln>
        </p:spPr>
      </p:sp>
      <p:sp>
        <p:nvSpPr>
          <p:cNvPr id="66" name="">
            <a:extLst xmlns:a="http://schemas.openxmlformats.org/drawingml/2006/main">
              <a:ext uri="{FF2B5EF4-FFF2-40B4-BE49-F238E27FC236}">
                <a16:creationId xmlns:a16="http://schemas.microsoft.com/office/drawing/2014/main" id="{F2FEBFCB-6A87-414F-B0A1-55A73480641D}"/>
              </a:ext>
            </a:extLst>
          </p:cNvPr>
          <p:cNvSpPr>
            <a:spLocks xmlns:a="http://schemas.openxmlformats.org/drawingml/2006/main" noGrp="1"/>
          </p:cNvSpPr>
          <p:nvPr/>
        </p:nvSpPr>
        <p:spPr>
          <a:xfrm xmlns:a="http://schemas.openxmlformats.org/drawingml/2006/main">
            <a:off x="3105150" y="4476750"/>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F172A"/>
                </a:solidFill>
                <a:latin typeface="Aptos"/>
                <a:ea typeface="Aptos"/>
                <a:cs typeface="Aptos"/>
              </a:defRPr>
            </a:pPr>
            <a:r>
              <a:rPr sz="975" b="1">
                <a:solidFill>
                  <a:srgbClr val="0F172A"/>
                </a:solidFill>
                <a:latin typeface="Aptos"/>
                <a:ea typeface="Aptos"/>
                <a:cs typeface="Aptos"/>
              </a:rPr>
              <a:t>Typed document workflow</a:t>
            </a:r>
          </a:p>
        </p:txBody>
      </p:sp>
      <p:sp>
        <p:nvSpPr>
          <p:cNvPr id="67" name="">
            <a:extLst xmlns:a="http://schemas.openxmlformats.org/drawingml/2006/main">
              <a:ext uri="{FF2B5EF4-FFF2-40B4-BE49-F238E27FC236}">
                <a16:creationId xmlns:a16="http://schemas.microsoft.com/office/drawing/2014/main" id="{2051B089-53B2-4BC8-A009-343F7D2B8943}"/>
              </a:ext>
            </a:extLst>
          </p:cNvPr>
          <p:cNvSpPr>
            <a:spLocks xmlns:a="http://schemas.openxmlformats.org/drawingml/2006/main" noGrp="1"/>
          </p:cNvSpPr>
          <p:nvPr/>
        </p:nvSpPr>
        <p:spPr>
          <a:xfrm xmlns:a="http://schemas.openxmlformats.org/drawingml/2006/main">
            <a:off x="5219700" y="4391025"/>
            <a:ext cx="2209800" cy="523875"/>
          </a:xfrm>
          <a:prstGeom xmlns:a="http://schemas.openxmlformats.org/drawingml/2006/main" prst="rect">
            <a:avLst/>
          </a:prstGeom>
          <a:solidFill xmlns:a="http://schemas.openxmlformats.org/drawingml/2006/main">
            <a:srgbClr val="ECFDF5"/>
          </a:solidFill>
          <a:ln xmlns:a="http://schemas.openxmlformats.org/drawingml/2006/main" w="9525">
            <a:solidFill>
              <a:srgbClr val="5EEAD4"/>
            </a:solidFill>
            <a:prstDash val="solid"/>
          </a:ln>
        </p:spPr>
      </p:sp>
      <p:sp>
        <p:nvSpPr>
          <p:cNvPr id="68" name="">
            <a:extLst xmlns:a="http://schemas.openxmlformats.org/drawingml/2006/main">
              <a:ext uri="{FF2B5EF4-FFF2-40B4-BE49-F238E27FC236}">
                <a16:creationId xmlns:a16="http://schemas.microsoft.com/office/drawing/2014/main" id="{CCA7D8E4-2AEE-42E2-9105-811881A58336}"/>
              </a:ext>
            </a:extLst>
          </p:cNvPr>
          <p:cNvSpPr>
            <a:spLocks xmlns:a="http://schemas.openxmlformats.org/drawingml/2006/main" noGrp="1"/>
          </p:cNvSpPr>
          <p:nvPr/>
        </p:nvSpPr>
        <p:spPr>
          <a:xfrm xmlns:a="http://schemas.openxmlformats.org/drawingml/2006/main">
            <a:off x="5314950" y="4476750"/>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F172A"/>
                </a:solidFill>
                <a:latin typeface="Aptos"/>
                <a:ea typeface="Aptos"/>
                <a:cs typeface="Aptos"/>
              </a:defRPr>
            </a:pPr>
            <a:r>
              <a:rPr sz="975" b="1">
                <a:solidFill>
                  <a:srgbClr val="0F172A"/>
                </a:solidFill>
                <a:latin typeface="Aptos"/>
                <a:ea typeface="Aptos"/>
                <a:cs typeface="Aptos"/>
              </a:rPr>
              <a:t>RAG citations</a:t>
            </a:r>
          </a:p>
        </p:txBody>
      </p:sp>
      <p:sp>
        <p:nvSpPr>
          <p:cNvPr id="69" name="">
            <a:extLst xmlns:a="http://schemas.openxmlformats.org/drawingml/2006/main">
              <a:ext uri="{FF2B5EF4-FFF2-40B4-BE49-F238E27FC236}">
                <a16:creationId xmlns:a16="http://schemas.microsoft.com/office/drawing/2014/main" id="{46CB14F9-03EA-4AD3-90F1-11E3CBD04A83}"/>
              </a:ext>
            </a:extLst>
          </p:cNvPr>
          <p:cNvSpPr>
            <a:spLocks xmlns:a="http://schemas.openxmlformats.org/drawingml/2006/main" noGrp="1"/>
          </p:cNvSpPr>
          <p:nvPr/>
        </p:nvSpPr>
        <p:spPr>
          <a:xfrm xmlns:a="http://schemas.openxmlformats.org/drawingml/2006/main">
            <a:off x="7429500" y="4391025"/>
            <a:ext cx="2209800" cy="523875"/>
          </a:xfrm>
          <a:prstGeom xmlns:a="http://schemas.openxmlformats.org/drawingml/2006/main" prst="rect">
            <a:avLst/>
          </a:prstGeom>
          <a:solidFill xmlns:a="http://schemas.openxmlformats.org/drawingml/2006/main">
            <a:srgbClr val="ECFDF5"/>
          </a:solidFill>
          <a:ln xmlns:a="http://schemas.openxmlformats.org/drawingml/2006/main" w="9525">
            <a:solidFill>
              <a:srgbClr val="5EEAD4"/>
            </a:solidFill>
            <a:prstDash val="solid"/>
          </a:ln>
        </p:spPr>
      </p:sp>
      <p:sp>
        <p:nvSpPr>
          <p:cNvPr id="70" name="">
            <a:extLst xmlns:a="http://schemas.openxmlformats.org/drawingml/2006/main">
              <a:ext uri="{FF2B5EF4-FFF2-40B4-BE49-F238E27FC236}">
                <a16:creationId xmlns:a16="http://schemas.microsoft.com/office/drawing/2014/main" id="{4E1D9C69-0836-4580-8DAD-74A14CBF5D52}"/>
              </a:ext>
            </a:extLst>
          </p:cNvPr>
          <p:cNvSpPr>
            <a:spLocks xmlns:a="http://schemas.openxmlformats.org/drawingml/2006/main" noGrp="1"/>
          </p:cNvSpPr>
          <p:nvPr/>
        </p:nvSpPr>
        <p:spPr>
          <a:xfrm xmlns:a="http://schemas.openxmlformats.org/drawingml/2006/main">
            <a:off x="7524750" y="4476750"/>
            <a:ext cx="20193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F172A"/>
                </a:solidFill>
                <a:latin typeface="Aptos"/>
                <a:ea typeface="Aptos"/>
                <a:cs typeface="Aptos"/>
              </a:defRPr>
            </a:pPr>
            <a:r>
              <a:rPr sz="975" b="1">
                <a:solidFill>
                  <a:srgbClr val="0F172A"/>
                </a:solidFill>
                <a:latin typeface="Aptos"/>
                <a:ea typeface="Aptos"/>
                <a:cs typeface="Aptos"/>
              </a:rPr>
              <a:t>Mandatory approvals</a:t>
            </a:r>
          </a:p>
        </p:txBody>
      </p:sp>
      <p:sp>
        <p:nvSpPr>
          <p:cNvPr id="71" name="">
            <a:extLst xmlns:a="http://schemas.openxmlformats.org/drawingml/2006/main">
              <a:ext uri="{FF2B5EF4-FFF2-40B4-BE49-F238E27FC236}">
                <a16:creationId xmlns:a16="http://schemas.microsoft.com/office/drawing/2014/main" id="{23BEFA86-534E-4AEE-86F4-4AD867C16458}"/>
              </a:ext>
            </a:extLst>
          </p:cNvPr>
          <p:cNvSpPr>
            <a:spLocks xmlns:a="http://schemas.openxmlformats.org/drawingml/2006/main" noGrp="1"/>
          </p:cNvSpPr>
          <p:nvPr/>
        </p:nvSpPr>
        <p:spPr>
          <a:xfrm xmlns:a="http://schemas.openxmlformats.org/drawingml/2006/main">
            <a:off x="9639300" y="4391025"/>
            <a:ext cx="1181100" cy="523875"/>
          </a:xfrm>
          <a:prstGeom xmlns:a="http://schemas.openxmlformats.org/drawingml/2006/main" prst="rect">
            <a:avLst/>
          </a:prstGeom>
          <a:solidFill xmlns:a="http://schemas.openxmlformats.org/drawingml/2006/main">
            <a:srgbClr val="ECFDF5"/>
          </a:solidFill>
          <a:ln xmlns:a="http://schemas.openxmlformats.org/drawingml/2006/main" w="9525">
            <a:solidFill>
              <a:srgbClr val="5EEAD4"/>
            </a:solidFill>
            <a:prstDash val="solid"/>
          </a:ln>
        </p:spPr>
      </p:sp>
      <p:sp>
        <p:nvSpPr>
          <p:cNvPr id="72" name="">
            <a:extLst xmlns:a="http://schemas.openxmlformats.org/drawingml/2006/main">
              <a:ext uri="{FF2B5EF4-FFF2-40B4-BE49-F238E27FC236}">
                <a16:creationId xmlns:a16="http://schemas.microsoft.com/office/drawing/2014/main" id="{43285A59-FC61-42E7-8E12-A9114A9E54EC}"/>
              </a:ext>
            </a:extLst>
          </p:cNvPr>
          <p:cNvSpPr>
            <a:spLocks xmlns:a="http://schemas.openxmlformats.org/drawingml/2006/main" noGrp="1"/>
          </p:cNvSpPr>
          <p:nvPr/>
        </p:nvSpPr>
        <p:spPr>
          <a:xfrm xmlns:a="http://schemas.openxmlformats.org/drawingml/2006/main">
            <a:off x="9734550" y="4476750"/>
            <a:ext cx="990600" cy="3905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0F172A"/>
                </a:solidFill>
                <a:latin typeface="Aptos"/>
                <a:ea typeface="Aptos"/>
                <a:cs typeface="Aptos"/>
              </a:defRPr>
            </a:pPr>
            <a:r>
              <a:rPr sz="1200" b="1">
                <a:solidFill>
                  <a:srgbClr val="0F172A"/>
                </a:solidFill>
                <a:latin typeface="Aptos"/>
                <a:ea typeface="Aptos"/>
                <a:cs typeface="Aptos"/>
              </a:rPr>
              <a:t>High</a:t>
            </a:r>
          </a:p>
        </p:txBody>
      </p:sp>
      <p:sp>
        <p:nvSpPr>
          <p:cNvPr id="73" name="">
            <a:extLst xmlns:a="http://schemas.openxmlformats.org/drawingml/2006/main">
              <a:ext uri="{FF2B5EF4-FFF2-40B4-BE49-F238E27FC236}">
                <a16:creationId xmlns:a16="http://schemas.microsoft.com/office/drawing/2014/main" id="{69E216C1-15B0-406F-9150-DFC1EE2141C7}"/>
              </a:ext>
            </a:extLst>
          </p:cNvPr>
          <p:cNvSpPr>
            <a:spLocks xmlns:a="http://schemas.openxmlformats.org/drawingml/2006/main" noGrp="1"/>
          </p:cNvSpPr>
          <p:nvPr/>
        </p:nvSpPr>
        <p:spPr>
          <a:xfrm xmlns:a="http://schemas.openxmlformats.org/drawingml/2006/main">
            <a:off x="990600" y="5619750"/>
            <a:ext cx="8953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Key idea: language model calls become controlled services inside a workflow, not isolated answers.</a:t>
            </a:r>
          </a:p>
        </p:txBody>
      </p:sp>
    </p:spTree>
    <p:extLst>
      <p:ext uri="{BB962C8B-B14F-4D97-AF65-F5344CB8AC3E}">
        <p14:creationId xmlns:p14="http://schemas.microsoft.com/office/powerpoint/2010/main" val="3035397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F6EBCF-5FD2-400B-AFF2-FE5903EDA2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31AE171-25E3-4C03-92F2-63A9324B7ADB}"/>
              </a:ext>
            </a:extLst>
          </p:cNvPr>
          <p:cNvSpPr>
            <a:spLocks xmlns:a="http://schemas.openxmlformats.org/drawingml/2006/main" noGrp="1"/>
          </p:cNvSpPr>
          <p:nvPr/>
        </p:nvSpPr>
        <p:spPr>
          <a:xfrm xmlns:a="http://schemas.openxmlformats.org/drawingml/2006/main">
            <a:off x="0" y="76200"/>
            <a:ext cx="12192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48144F7-CA26-4439-84F4-73A7435ABA92}"/>
              </a:ext>
            </a:extLst>
          </p:cNvPr>
          <p:cNvSpPr>
            <a:spLocks xmlns:a="http://schemas.openxmlformats.org/drawingml/2006/main" noGrp="1"/>
          </p:cNvSpPr>
          <p:nvPr/>
        </p:nvSpPr>
        <p:spPr>
          <a:xfrm xmlns:a="http://schemas.openxmlformats.org/drawingml/2006/main">
            <a:off x="514350" y="6419850"/>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ModelWeave | Service-oriented architecture for scalable LLM use</a:t>
            </a:r>
          </a:p>
        </p:txBody>
      </p:sp>
      <p:sp>
        <p:nvSpPr>
          <p:cNvPr id="4" name="">
            <a:extLst xmlns:a="http://schemas.openxmlformats.org/drawingml/2006/main">
              <a:ext uri="{FF2B5EF4-FFF2-40B4-BE49-F238E27FC236}">
                <a16:creationId xmlns:a16="http://schemas.microsoft.com/office/drawing/2014/main" id="{2B706340-A341-466B-AE7C-85FB15F61E1F}"/>
              </a:ext>
            </a:extLst>
          </p:cNvPr>
          <p:cNvSpPr>
            <a:spLocks xmlns:a="http://schemas.openxmlformats.org/drawingml/2006/main" noGrp="1"/>
          </p:cNvSpPr>
          <p:nvPr/>
        </p:nvSpPr>
        <p:spPr>
          <a:xfrm xmlns:a="http://schemas.openxmlformats.org/drawingml/2006/main">
            <a:off x="11239500" y="64198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5</a:t>
            </a:r>
          </a:p>
        </p:txBody>
      </p:sp>
      <p:sp>
        <p:nvSpPr>
          <p:cNvPr id="5" name="">
            <a:extLst xmlns:a="http://schemas.openxmlformats.org/drawingml/2006/main">
              <a:ext uri="{FF2B5EF4-FFF2-40B4-BE49-F238E27FC236}">
                <a16:creationId xmlns:a16="http://schemas.microsoft.com/office/drawing/2014/main" id="{D73F294B-4959-4018-B2FF-5546AFC2AD6E}"/>
              </a:ext>
            </a:extLst>
          </p:cNvPr>
          <p:cNvSpPr>
            <a:spLocks xmlns:a="http://schemas.openxmlformats.org/drawingml/2006/main" noGrp="1"/>
          </p:cNvSpPr>
          <p:nvPr/>
        </p:nvSpPr>
        <p:spPr>
          <a:xfrm xmlns:a="http://schemas.openxmlformats.org/drawingml/2006/main">
            <a:off x="9144000" y="64198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Math: RAG</a:t>
            </a:r>
          </a:p>
        </p:txBody>
      </p:sp>
      <p:sp>
        <p:nvSpPr>
          <p:cNvPr id="6" name="">
            <a:extLst xmlns:a="http://schemas.openxmlformats.org/drawingml/2006/main">
              <a:ext uri="{FF2B5EF4-FFF2-40B4-BE49-F238E27FC236}">
                <a16:creationId xmlns:a16="http://schemas.microsoft.com/office/drawing/2014/main" id="{B1053E97-4190-46F0-A6F2-5FA9339E19CC}"/>
              </a:ext>
            </a:extLst>
          </p:cNvPr>
          <p:cNvSpPr>
            <a:spLocks xmlns:a="http://schemas.openxmlformats.org/drawingml/2006/main" noGrp="1"/>
          </p:cNvSpPr>
          <p:nvPr/>
        </p:nvSpPr>
        <p:spPr>
          <a:xfrm xmlns:a="http://schemas.openxmlformats.org/drawingml/2006/main">
            <a:off x="609600" y="4191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MATHEMATICAL MODEL I</a:t>
            </a:r>
          </a:p>
        </p:txBody>
      </p:sp>
      <p:sp>
        <p:nvSpPr>
          <p:cNvPr id="7" name="">
            <a:extLst xmlns:a="http://schemas.openxmlformats.org/drawingml/2006/main">
              <a:ext uri="{FF2B5EF4-FFF2-40B4-BE49-F238E27FC236}">
                <a16:creationId xmlns:a16="http://schemas.microsoft.com/office/drawing/2014/main" id="{F8C9875D-1488-4447-8F9F-3B66AFF09862}"/>
              </a:ext>
            </a:extLst>
          </p:cNvPr>
          <p:cNvSpPr>
            <a:spLocks xmlns:a="http://schemas.openxmlformats.org/drawingml/2006/main" noGrp="1"/>
          </p:cNvSpPr>
          <p:nvPr/>
        </p:nvSpPr>
        <p:spPr>
          <a:xfrm xmlns:a="http://schemas.openxmlformats.org/drawingml/2006/main">
            <a:off x="609600" y="685800"/>
            <a:ext cx="7810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RAG turns documents into vectors, then ranks evidence before generation</a:t>
            </a:r>
          </a:p>
        </p:txBody>
      </p:sp>
      <p:sp>
        <p:nvSpPr>
          <p:cNvPr id="8" name="">
            <a:extLst xmlns:a="http://schemas.openxmlformats.org/drawingml/2006/main">
              <a:ext uri="{FF2B5EF4-FFF2-40B4-BE49-F238E27FC236}">
                <a16:creationId xmlns:a16="http://schemas.microsoft.com/office/drawing/2014/main" id="{10E1FD86-0276-4D3B-8DCE-69BBF4654727}"/>
              </a:ext>
            </a:extLst>
          </p:cNvPr>
          <p:cNvSpPr>
            <a:spLocks xmlns:a="http://schemas.openxmlformats.org/drawingml/2006/main" noGrp="1"/>
          </p:cNvSpPr>
          <p:nvPr/>
        </p:nvSpPr>
        <p:spPr>
          <a:xfrm xmlns:a="http://schemas.openxmlformats.org/drawingml/2006/main">
            <a:off x="609600" y="1485900"/>
            <a:ext cx="10382250" cy="723900"/>
          </a:xfrm>
          <a:prstGeom xmlns:a="http://schemas.openxmlformats.org/drawingml/2006/main" prst="roundRect">
            <a:avLst>
              <a:gd name="adj" fmla="val 10526"/>
            </a:avLst>
          </a:prstGeom>
          <a:solidFill xmlns:a="http://schemas.openxmlformats.org/drawingml/2006/main">
            <a:srgbClr val="F8FAFC"/>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F9EFCAEE-60D1-48D2-95C4-2D4E950BEED6}"/>
              </a:ext>
            </a:extLst>
          </p:cNvPr>
          <p:cNvSpPr>
            <a:spLocks xmlns:a="http://schemas.openxmlformats.org/drawingml/2006/main" noGrp="1"/>
          </p:cNvSpPr>
          <p:nvPr/>
        </p:nvSpPr>
        <p:spPr>
          <a:xfrm xmlns:a="http://schemas.openxmlformats.org/drawingml/2006/main">
            <a:off x="876300" y="16573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766E"/>
                </a:solidFill>
                <a:latin typeface="Aptos"/>
                <a:ea typeface="Aptos"/>
                <a:cs typeface="Aptos"/>
              </a:defRPr>
            </a:pPr>
            <a:r>
              <a:rPr sz="1125" b="1">
                <a:solidFill>
                  <a:srgbClr val="0F766E"/>
                </a:solidFill>
                <a:latin typeface="Aptos"/>
                <a:ea typeface="Aptos"/>
                <a:cs typeface="Aptos"/>
              </a:rPr>
              <a:t>Document corpus</a:t>
            </a:r>
          </a:p>
        </p:txBody>
      </p:sp>
      <p:sp>
        <p:nvSpPr>
          <p:cNvPr id="10" name="">
            <a:extLst xmlns:a="http://schemas.openxmlformats.org/drawingml/2006/main">
              <a:ext uri="{FF2B5EF4-FFF2-40B4-BE49-F238E27FC236}">
                <a16:creationId xmlns:a16="http://schemas.microsoft.com/office/drawing/2014/main" id="{C3A33927-EC0E-49C8-A1D9-62ECF0C5187E}"/>
              </a:ext>
            </a:extLst>
          </p:cNvPr>
          <p:cNvSpPr>
            <a:spLocks xmlns:a="http://schemas.openxmlformats.org/drawingml/2006/main" noGrp="1"/>
          </p:cNvSpPr>
          <p:nvPr/>
        </p:nvSpPr>
        <p:spPr>
          <a:xfrm xmlns:a="http://schemas.openxmlformats.org/drawingml/2006/main">
            <a:off x="2647950" y="165735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Mono"/>
                <a:ea typeface="Aptos Mono"/>
                <a:cs typeface="Aptos Mono"/>
              </a:defRPr>
            </a:pPr>
            <a:r>
              <a:rPr sz="1350" b="1">
                <a:solidFill>
                  <a:srgbClr val="0F172A"/>
                </a:solidFill>
                <a:latin typeface="Aptos Mono"/>
                <a:ea typeface="Aptos Mono"/>
                <a:cs typeface="Aptos Mono"/>
              </a:rPr>
              <a:t>D = {d1, d2, ..., dn};   di = {ci,1, ci,2, ..., ci,mi};   φ(cj) = ej ∈ Rᵈ</a:t>
            </a:r>
          </a:p>
        </p:txBody>
      </p:sp>
      <p:sp>
        <p:nvSpPr>
          <p:cNvPr id="11" name="">
            <a:extLst xmlns:a="http://schemas.openxmlformats.org/drawingml/2006/main">
              <a:ext uri="{FF2B5EF4-FFF2-40B4-BE49-F238E27FC236}">
                <a16:creationId xmlns:a16="http://schemas.microsoft.com/office/drawing/2014/main" id="{E394F097-26AE-4177-BDF6-A2C85C204196}"/>
              </a:ext>
            </a:extLst>
          </p:cNvPr>
          <p:cNvSpPr>
            <a:spLocks xmlns:a="http://schemas.openxmlformats.org/drawingml/2006/main" noGrp="1"/>
          </p:cNvSpPr>
          <p:nvPr/>
        </p:nvSpPr>
        <p:spPr>
          <a:xfrm xmlns:a="http://schemas.openxmlformats.org/drawingml/2006/main">
            <a:off x="2647950" y="1924050"/>
            <a:ext cx="6477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Documents are parsed, chunked, embedded, and stored as searchable vectors.</a:t>
            </a:r>
          </a:p>
        </p:txBody>
      </p:sp>
      <p:sp>
        <p:nvSpPr>
          <p:cNvPr id="12" name="">
            <a:extLst xmlns:a="http://schemas.openxmlformats.org/drawingml/2006/main">
              <a:ext uri="{FF2B5EF4-FFF2-40B4-BE49-F238E27FC236}">
                <a16:creationId xmlns:a16="http://schemas.microsoft.com/office/drawing/2014/main" id="{1BFB578A-B315-41B1-BCE7-BBA1D6CBC3C7}"/>
              </a:ext>
            </a:extLst>
          </p:cNvPr>
          <p:cNvSpPr>
            <a:spLocks xmlns:a="http://schemas.openxmlformats.org/drawingml/2006/main" noGrp="1"/>
          </p:cNvSpPr>
          <p:nvPr/>
        </p:nvSpPr>
        <p:spPr>
          <a:xfrm xmlns:a="http://schemas.openxmlformats.org/drawingml/2006/main">
            <a:off x="609600" y="2571750"/>
            <a:ext cx="4857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8E3EE"/>
            </a:solidFill>
            <a:prstDash val="solid"/>
          </a:ln>
        </p:spPr>
      </p:sp>
      <p:sp>
        <p:nvSpPr>
          <p:cNvPr id="13" name="">
            <a:extLst xmlns:a="http://schemas.openxmlformats.org/drawingml/2006/main">
              <a:ext uri="{FF2B5EF4-FFF2-40B4-BE49-F238E27FC236}">
                <a16:creationId xmlns:a16="http://schemas.microsoft.com/office/drawing/2014/main" id="{F5450860-3A26-49C7-B668-E820BCDBA047}"/>
              </a:ext>
            </a:extLst>
          </p:cNvPr>
          <p:cNvSpPr>
            <a:spLocks xmlns:a="http://schemas.openxmlformats.org/drawingml/2006/main" noGrp="1"/>
          </p:cNvSpPr>
          <p:nvPr/>
        </p:nvSpPr>
        <p:spPr>
          <a:xfrm xmlns:a="http://schemas.openxmlformats.org/drawingml/2006/main">
            <a:off x="609600" y="2571750"/>
            <a:ext cx="66675" cy="123825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3784D2D-1FF6-47FE-BFB3-FE9AD3D9AE2D}"/>
              </a:ext>
            </a:extLst>
          </p:cNvPr>
          <p:cNvSpPr>
            <a:spLocks xmlns:a="http://schemas.openxmlformats.org/drawingml/2006/main" noGrp="1"/>
          </p:cNvSpPr>
          <p:nvPr/>
        </p:nvSpPr>
        <p:spPr>
          <a:xfrm xmlns:a="http://schemas.openxmlformats.org/drawingml/2006/main">
            <a:off x="838200" y="2724150"/>
            <a:ext cx="4438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766E"/>
                </a:solidFill>
                <a:latin typeface="Aptos"/>
                <a:ea typeface="Aptos"/>
                <a:cs typeface="Aptos"/>
              </a:defRPr>
            </a:pPr>
            <a:r>
              <a:rPr sz="1050" b="1">
                <a:solidFill>
                  <a:srgbClr val="0F766E"/>
                </a:solidFill>
                <a:latin typeface="Aptos"/>
                <a:ea typeface="Aptos"/>
                <a:cs typeface="Aptos"/>
              </a:rPr>
              <a:t>Similarity</a:t>
            </a:r>
          </a:p>
        </p:txBody>
      </p:sp>
      <p:sp>
        <p:nvSpPr>
          <p:cNvPr id="15" name="">
            <a:extLst xmlns:a="http://schemas.openxmlformats.org/drawingml/2006/main">
              <a:ext uri="{FF2B5EF4-FFF2-40B4-BE49-F238E27FC236}">
                <a16:creationId xmlns:a16="http://schemas.microsoft.com/office/drawing/2014/main" id="{031A23B0-5FB3-42B5-89C5-9FB35029277D}"/>
              </a:ext>
            </a:extLst>
          </p:cNvPr>
          <p:cNvSpPr>
            <a:spLocks xmlns:a="http://schemas.openxmlformats.org/drawingml/2006/main" noGrp="1"/>
          </p:cNvSpPr>
          <p:nvPr/>
        </p:nvSpPr>
        <p:spPr>
          <a:xfrm xmlns:a="http://schemas.openxmlformats.org/drawingml/2006/main">
            <a:off x="838200" y="3009900"/>
            <a:ext cx="4438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Mono"/>
                <a:ea typeface="Aptos Mono"/>
                <a:cs typeface="Aptos Mono"/>
              </a:defRPr>
            </a:pPr>
            <a:r>
              <a:rPr sz="1350" b="1">
                <a:solidFill>
                  <a:srgbClr val="0F172A"/>
                </a:solidFill>
                <a:latin typeface="Aptos Mono"/>
                <a:ea typeface="Aptos Mono"/>
                <a:cs typeface="Aptos Mono"/>
              </a:rPr>
              <a:t>sim(q, cj) = (vq · ej) / (||vq|| ||ej||)</a:t>
            </a:r>
          </a:p>
        </p:txBody>
      </p:sp>
      <p:sp>
        <p:nvSpPr>
          <p:cNvPr id="16" name="">
            <a:extLst xmlns:a="http://schemas.openxmlformats.org/drawingml/2006/main">
              <a:ext uri="{FF2B5EF4-FFF2-40B4-BE49-F238E27FC236}">
                <a16:creationId xmlns:a16="http://schemas.microsoft.com/office/drawing/2014/main" id="{6549047F-07DD-4EEC-A939-D948D84DD349}"/>
              </a:ext>
            </a:extLst>
          </p:cNvPr>
          <p:cNvSpPr>
            <a:spLocks xmlns:a="http://schemas.openxmlformats.org/drawingml/2006/main" noGrp="1"/>
          </p:cNvSpPr>
          <p:nvPr/>
        </p:nvSpPr>
        <p:spPr>
          <a:xfrm xmlns:a="http://schemas.openxmlformats.org/drawingml/2006/main">
            <a:off x="838200" y="3390900"/>
            <a:ext cx="4438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Cosine similarity ranks text chunks by semantic closeness to the query.</a:t>
            </a:r>
          </a:p>
        </p:txBody>
      </p:sp>
      <p:sp>
        <p:nvSpPr>
          <p:cNvPr id="17" name="">
            <a:extLst xmlns:a="http://schemas.openxmlformats.org/drawingml/2006/main">
              <a:ext uri="{FF2B5EF4-FFF2-40B4-BE49-F238E27FC236}">
                <a16:creationId xmlns:a16="http://schemas.microsoft.com/office/drawing/2014/main" id="{C6E45C6E-8798-4E3C-8518-B2F400AFBE6B}"/>
              </a:ext>
            </a:extLst>
          </p:cNvPr>
          <p:cNvSpPr>
            <a:spLocks xmlns:a="http://schemas.openxmlformats.org/drawingml/2006/main" noGrp="1"/>
          </p:cNvSpPr>
          <p:nvPr/>
        </p:nvSpPr>
        <p:spPr>
          <a:xfrm xmlns:a="http://schemas.openxmlformats.org/drawingml/2006/main">
            <a:off x="6134100" y="2571750"/>
            <a:ext cx="4857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8E3EE"/>
            </a:solidFill>
            <a:prstDash val="solid"/>
          </a:ln>
        </p:spPr>
      </p:sp>
      <p:sp>
        <p:nvSpPr>
          <p:cNvPr id="18" name="">
            <a:extLst xmlns:a="http://schemas.openxmlformats.org/drawingml/2006/main">
              <a:ext uri="{FF2B5EF4-FFF2-40B4-BE49-F238E27FC236}">
                <a16:creationId xmlns:a16="http://schemas.microsoft.com/office/drawing/2014/main" id="{EE23E90F-6103-4F78-8D90-318870CEFCD9}"/>
              </a:ext>
            </a:extLst>
          </p:cNvPr>
          <p:cNvSpPr>
            <a:spLocks xmlns:a="http://schemas.openxmlformats.org/drawingml/2006/main" noGrp="1"/>
          </p:cNvSpPr>
          <p:nvPr/>
        </p:nvSpPr>
        <p:spPr>
          <a:xfrm xmlns:a="http://schemas.openxmlformats.org/drawingml/2006/main">
            <a:off x="6134100" y="2571750"/>
            <a:ext cx="66675" cy="123825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51F1FF5E-2245-4FA0-AEA7-6BABF1ECC30F}"/>
              </a:ext>
            </a:extLst>
          </p:cNvPr>
          <p:cNvSpPr>
            <a:spLocks xmlns:a="http://schemas.openxmlformats.org/drawingml/2006/main" noGrp="1"/>
          </p:cNvSpPr>
          <p:nvPr/>
        </p:nvSpPr>
        <p:spPr>
          <a:xfrm xmlns:a="http://schemas.openxmlformats.org/drawingml/2006/main">
            <a:off x="6362700" y="2724150"/>
            <a:ext cx="4438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766E"/>
                </a:solidFill>
                <a:latin typeface="Aptos"/>
                <a:ea typeface="Aptos"/>
                <a:cs typeface="Aptos"/>
              </a:defRPr>
            </a:pPr>
            <a:r>
              <a:rPr sz="1050" b="1">
                <a:solidFill>
                  <a:srgbClr val="0F766E"/>
                </a:solidFill>
                <a:latin typeface="Aptos"/>
                <a:ea typeface="Aptos"/>
                <a:cs typeface="Aptos"/>
              </a:rPr>
              <a:t>Top-k retrieval</a:t>
            </a:r>
          </a:p>
        </p:txBody>
      </p:sp>
      <p:sp>
        <p:nvSpPr>
          <p:cNvPr id="20" name="">
            <a:extLst xmlns:a="http://schemas.openxmlformats.org/drawingml/2006/main">
              <a:ext uri="{FF2B5EF4-FFF2-40B4-BE49-F238E27FC236}">
                <a16:creationId xmlns:a16="http://schemas.microsoft.com/office/drawing/2014/main" id="{952AB794-BA18-46DD-B30A-C06A3948545B}"/>
              </a:ext>
            </a:extLst>
          </p:cNvPr>
          <p:cNvSpPr>
            <a:spLocks xmlns:a="http://schemas.openxmlformats.org/drawingml/2006/main" noGrp="1"/>
          </p:cNvSpPr>
          <p:nvPr/>
        </p:nvSpPr>
        <p:spPr>
          <a:xfrm xmlns:a="http://schemas.openxmlformats.org/drawingml/2006/main">
            <a:off x="6362700" y="3009900"/>
            <a:ext cx="4438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Mono"/>
                <a:ea typeface="Aptos Mono"/>
                <a:cs typeface="Aptos Mono"/>
              </a:defRPr>
            </a:pPr>
            <a:r>
              <a:rPr sz="1350" b="1">
                <a:solidFill>
                  <a:srgbClr val="0F172A"/>
                </a:solidFill>
                <a:latin typeface="Aptos Mono"/>
                <a:ea typeface="Aptos Mono"/>
                <a:cs typeface="Aptos Mono"/>
              </a:rPr>
              <a:t>Rk(q) = arg top-k cj∈C sim(q, cj)</a:t>
            </a:r>
          </a:p>
        </p:txBody>
      </p:sp>
      <p:sp>
        <p:nvSpPr>
          <p:cNvPr id="21" name="">
            <a:extLst xmlns:a="http://schemas.openxmlformats.org/drawingml/2006/main">
              <a:ext uri="{FF2B5EF4-FFF2-40B4-BE49-F238E27FC236}">
                <a16:creationId xmlns:a16="http://schemas.microsoft.com/office/drawing/2014/main" id="{10B971CD-DCB2-4BEC-91DF-7E0A8F5F887A}"/>
              </a:ext>
            </a:extLst>
          </p:cNvPr>
          <p:cNvSpPr>
            <a:spLocks xmlns:a="http://schemas.openxmlformats.org/drawingml/2006/main" noGrp="1"/>
          </p:cNvSpPr>
          <p:nvPr/>
        </p:nvSpPr>
        <p:spPr>
          <a:xfrm xmlns:a="http://schemas.openxmlformats.org/drawingml/2006/main">
            <a:off x="6362700" y="3390900"/>
            <a:ext cx="4438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Only the most relevant chunks are injected into the agent context.</a:t>
            </a:r>
          </a:p>
        </p:txBody>
      </p:sp>
      <p:sp>
        <p:nvSpPr>
          <p:cNvPr id="22" name="">
            <a:extLst xmlns:a="http://schemas.openxmlformats.org/drawingml/2006/main">
              <a:ext uri="{FF2B5EF4-FFF2-40B4-BE49-F238E27FC236}">
                <a16:creationId xmlns:a16="http://schemas.microsoft.com/office/drawing/2014/main" id="{0DC026D8-2330-4BBB-9470-77E2850635DE}"/>
              </a:ext>
            </a:extLst>
          </p:cNvPr>
          <p:cNvSpPr>
            <a:spLocks xmlns:a="http://schemas.openxmlformats.org/drawingml/2006/main" noGrp="1"/>
          </p:cNvSpPr>
          <p:nvPr/>
        </p:nvSpPr>
        <p:spPr>
          <a:xfrm xmlns:a="http://schemas.openxmlformats.org/drawingml/2006/main">
            <a:off x="609600" y="4114800"/>
            <a:ext cx="4857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8E3EE"/>
            </a:solidFill>
            <a:prstDash val="solid"/>
          </a:ln>
        </p:spPr>
      </p:sp>
      <p:sp>
        <p:nvSpPr>
          <p:cNvPr id="23" name="">
            <a:extLst xmlns:a="http://schemas.openxmlformats.org/drawingml/2006/main">
              <a:ext uri="{FF2B5EF4-FFF2-40B4-BE49-F238E27FC236}">
                <a16:creationId xmlns:a16="http://schemas.microsoft.com/office/drawing/2014/main" id="{20242BA3-C6C7-4E03-B720-0659EDA47C75}"/>
              </a:ext>
            </a:extLst>
          </p:cNvPr>
          <p:cNvSpPr>
            <a:spLocks xmlns:a="http://schemas.openxmlformats.org/drawingml/2006/main" noGrp="1"/>
          </p:cNvSpPr>
          <p:nvPr/>
        </p:nvSpPr>
        <p:spPr>
          <a:xfrm xmlns:a="http://schemas.openxmlformats.org/drawingml/2006/main">
            <a:off x="609600" y="4114800"/>
            <a:ext cx="66675" cy="12382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CDCFBB73-DE7F-4DCC-B6B0-3392EBE27904}"/>
              </a:ext>
            </a:extLst>
          </p:cNvPr>
          <p:cNvSpPr>
            <a:spLocks xmlns:a="http://schemas.openxmlformats.org/drawingml/2006/main" noGrp="1"/>
          </p:cNvSpPr>
          <p:nvPr/>
        </p:nvSpPr>
        <p:spPr>
          <a:xfrm xmlns:a="http://schemas.openxmlformats.org/drawingml/2006/main">
            <a:off x="838200" y="4267200"/>
            <a:ext cx="4438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766E"/>
                </a:solidFill>
                <a:latin typeface="Aptos"/>
                <a:ea typeface="Aptos"/>
                <a:cs typeface="Aptos"/>
              </a:defRPr>
            </a:pPr>
            <a:r>
              <a:rPr sz="1050" b="1">
                <a:solidFill>
                  <a:srgbClr val="0F766E"/>
                </a:solidFill>
                <a:latin typeface="Aptos"/>
                <a:ea typeface="Aptos"/>
                <a:cs typeface="Aptos"/>
              </a:rPr>
              <a:t>RAG generation</a:t>
            </a:r>
          </a:p>
        </p:txBody>
      </p:sp>
      <p:sp>
        <p:nvSpPr>
          <p:cNvPr id="25" name="">
            <a:extLst xmlns:a="http://schemas.openxmlformats.org/drawingml/2006/main">
              <a:ext uri="{FF2B5EF4-FFF2-40B4-BE49-F238E27FC236}">
                <a16:creationId xmlns:a16="http://schemas.microsoft.com/office/drawing/2014/main" id="{DE2A4D82-37D2-4CCC-8005-C92B7DB59DB0}"/>
              </a:ext>
            </a:extLst>
          </p:cNvPr>
          <p:cNvSpPr>
            <a:spLocks xmlns:a="http://schemas.openxmlformats.org/drawingml/2006/main" noGrp="1"/>
          </p:cNvSpPr>
          <p:nvPr/>
        </p:nvSpPr>
        <p:spPr>
          <a:xfrm xmlns:a="http://schemas.openxmlformats.org/drawingml/2006/main">
            <a:off x="838200" y="4552950"/>
            <a:ext cx="4438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Mono"/>
                <a:ea typeface="Aptos Mono"/>
                <a:cs typeface="Aptos Mono"/>
              </a:defRPr>
            </a:pPr>
            <a:r>
              <a:rPr sz="1350" b="1">
                <a:solidFill>
                  <a:srgbClr val="0F172A"/>
                </a:solidFill>
                <a:latin typeface="Aptos Mono"/>
                <a:ea typeface="Aptos Mono"/>
                <a:cs typeface="Aptos Mono"/>
              </a:rPr>
              <a:t>P(y|q,Rk,a)=Πt P(yt | y&lt;t,q,Rk,a)</a:t>
            </a:r>
          </a:p>
        </p:txBody>
      </p:sp>
      <p:sp>
        <p:nvSpPr>
          <p:cNvPr id="26" name="">
            <a:extLst xmlns:a="http://schemas.openxmlformats.org/drawingml/2006/main">
              <a:ext uri="{FF2B5EF4-FFF2-40B4-BE49-F238E27FC236}">
                <a16:creationId xmlns:a16="http://schemas.microsoft.com/office/drawing/2014/main" id="{40340B87-A26D-4454-BC88-B3D8D2F9D8C6}"/>
              </a:ext>
            </a:extLst>
          </p:cNvPr>
          <p:cNvSpPr>
            <a:spLocks xmlns:a="http://schemas.openxmlformats.org/drawingml/2006/main" noGrp="1"/>
          </p:cNvSpPr>
          <p:nvPr/>
        </p:nvSpPr>
        <p:spPr>
          <a:xfrm xmlns:a="http://schemas.openxmlformats.org/drawingml/2006/main">
            <a:off x="838200" y="4933950"/>
            <a:ext cx="4438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The answer depends on the question, retrieved evidence, and agent role.</a:t>
            </a:r>
          </a:p>
        </p:txBody>
      </p:sp>
      <p:sp>
        <p:nvSpPr>
          <p:cNvPr id="27" name="">
            <a:extLst xmlns:a="http://schemas.openxmlformats.org/drawingml/2006/main">
              <a:ext uri="{FF2B5EF4-FFF2-40B4-BE49-F238E27FC236}">
                <a16:creationId xmlns:a16="http://schemas.microsoft.com/office/drawing/2014/main" id="{80E3178E-8D75-4DB3-908F-5198286CC491}"/>
              </a:ext>
            </a:extLst>
          </p:cNvPr>
          <p:cNvSpPr>
            <a:spLocks xmlns:a="http://schemas.openxmlformats.org/drawingml/2006/main" noGrp="1"/>
          </p:cNvSpPr>
          <p:nvPr/>
        </p:nvSpPr>
        <p:spPr>
          <a:xfrm xmlns:a="http://schemas.openxmlformats.org/drawingml/2006/main">
            <a:off x="6134100" y="4114800"/>
            <a:ext cx="4857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8E3EE"/>
            </a:solidFill>
            <a:prstDash val="solid"/>
          </a:ln>
        </p:spPr>
      </p:sp>
      <p:sp>
        <p:nvSpPr>
          <p:cNvPr id="28" name="">
            <a:extLst xmlns:a="http://schemas.openxmlformats.org/drawingml/2006/main">
              <a:ext uri="{FF2B5EF4-FFF2-40B4-BE49-F238E27FC236}">
                <a16:creationId xmlns:a16="http://schemas.microsoft.com/office/drawing/2014/main" id="{A95770C4-61F1-4283-8402-BFFDD95AD328}"/>
              </a:ext>
            </a:extLst>
          </p:cNvPr>
          <p:cNvSpPr>
            <a:spLocks xmlns:a="http://schemas.openxmlformats.org/drawingml/2006/main" noGrp="1"/>
          </p:cNvSpPr>
          <p:nvPr/>
        </p:nvSpPr>
        <p:spPr>
          <a:xfrm xmlns:a="http://schemas.openxmlformats.org/drawingml/2006/main">
            <a:off x="6134100" y="4114800"/>
            <a:ext cx="66675" cy="12382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C9FBDFFB-3B41-47CC-98EC-7B269D3E86E4}"/>
              </a:ext>
            </a:extLst>
          </p:cNvPr>
          <p:cNvSpPr>
            <a:spLocks xmlns:a="http://schemas.openxmlformats.org/drawingml/2006/main" noGrp="1"/>
          </p:cNvSpPr>
          <p:nvPr/>
        </p:nvSpPr>
        <p:spPr>
          <a:xfrm xmlns:a="http://schemas.openxmlformats.org/drawingml/2006/main">
            <a:off x="6362700" y="4267200"/>
            <a:ext cx="4438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766E"/>
                </a:solidFill>
                <a:latin typeface="Aptos"/>
                <a:ea typeface="Aptos"/>
                <a:cs typeface="Aptos"/>
              </a:defRPr>
            </a:pPr>
            <a:r>
              <a:rPr sz="1050" b="1">
                <a:solidFill>
                  <a:srgbClr val="0F766E"/>
                </a:solidFill>
                <a:latin typeface="Aptos"/>
                <a:ea typeface="Aptos"/>
                <a:cs typeface="Aptos"/>
              </a:rPr>
              <a:t>Retrieval metrics</a:t>
            </a:r>
          </a:p>
        </p:txBody>
      </p:sp>
      <p:sp>
        <p:nvSpPr>
          <p:cNvPr id="30" name="">
            <a:extLst xmlns:a="http://schemas.openxmlformats.org/drawingml/2006/main">
              <a:ext uri="{FF2B5EF4-FFF2-40B4-BE49-F238E27FC236}">
                <a16:creationId xmlns:a16="http://schemas.microsoft.com/office/drawing/2014/main" id="{9D02E210-07B0-45A3-887C-5F30FE3E7FF8}"/>
              </a:ext>
            </a:extLst>
          </p:cNvPr>
          <p:cNvSpPr>
            <a:spLocks xmlns:a="http://schemas.openxmlformats.org/drawingml/2006/main" noGrp="1"/>
          </p:cNvSpPr>
          <p:nvPr/>
        </p:nvSpPr>
        <p:spPr>
          <a:xfrm xmlns:a="http://schemas.openxmlformats.org/drawingml/2006/main">
            <a:off x="6362700" y="4552950"/>
            <a:ext cx="4438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Mono"/>
                <a:ea typeface="Aptos Mono"/>
                <a:cs typeface="Aptos Mono"/>
              </a:defRPr>
            </a:pPr>
            <a:r>
              <a:rPr sz="1350" b="1">
                <a:solidFill>
                  <a:srgbClr val="0F172A"/>
                </a:solidFill>
                <a:latin typeface="Aptos Mono"/>
                <a:ea typeface="Aptos Mono"/>
                <a:cs typeface="Aptos Mono"/>
              </a:rPr>
              <a:t>Precision@k = |Rel(q) ∩ Rk(q)| / k</a:t>
            </a:r>
          </a:p>
        </p:txBody>
      </p:sp>
      <p:sp>
        <p:nvSpPr>
          <p:cNvPr id="31" name="">
            <a:extLst xmlns:a="http://schemas.openxmlformats.org/drawingml/2006/main">
              <a:ext uri="{FF2B5EF4-FFF2-40B4-BE49-F238E27FC236}">
                <a16:creationId xmlns:a16="http://schemas.microsoft.com/office/drawing/2014/main" id="{E3C75D50-ED41-4352-8454-905DAB8F017D}"/>
              </a:ext>
            </a:extLst>
          </p:cNvPr>
          <p:cNvSpPr>
            <a:spLocks xmlns:a="http://schemas.openxmlformats.org/drawingml/2006/main" noGrp="1"/>
          </p:cNvSpPr>
          <p:nvPr/>
        </p:nvSpPr>
        <p:spPr>
          <a:xfrm xmlns:a="http://schemas.openxmlformats.org/drawingml/2006/main">
            <a:off x="6362700" y="4933950"/>
            <a:ext cx="4438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Citation coverage is a practical MVP proxy for retrieval quality.</a:t>
            </a:r>
          </a:p>
        </p:txBody>
      </p:sp>
      <p:sp>
        <p:nvSpPr>
          <p:cNvPr id="32" name="">
            <a:extLst xmlns:a="http://schemas.openxmlformats.org/drawingml/2006/main">
              <a:ext uri="{FF2B5EF4-FFF2-40B4-BE49-F238E27FC236}">
                <a16:creationId xmlns:a16="http://schemas.microsoft.com/office/drawing/2014/main" id="{B8CF49F2-C102-47E3-93F3-B3C1E8F6F612}"/>
              </a:ext>
            </a:extLst>
          </p:cNvPr>
          <p:cNvSpPr>
            <a:spLocks xmlns:a="http://schemas.openxmlformats.org/drawingml/2006/main" noGrp="1"/>
          </p:cNvSpPr>
          <p:nvPr/>
        </p:nvSpPr>
        <p:spPr>
          <a:xfrm xmlns:a="http://schemas.openxmlformats.org/drawingml/2006/main">
            <a:off x="1047750" y="5753100"/>
            <a:ext cx="1714500" cy="323850"/>
          </a:xfrm>
          <a:prstGeom xmlns:a="http://schemas.openxmlformats.org/drawingml/2006/main" prst="roundRect">
            <a:avLst>
              <a:gd name="adj" fmla="val 23529"/>
            </a:avLst>
          </a:prstGeom>
          <a:solidFill xmlns:a="http://schemas.openxmlformats.org/drawingml/2006/main">
            <a:srgbClr val="DBEAFE"/>
          </a:solidFill>
          <a:ln xmlns:a="http://schemas.openxmlformats.org/drawingml/2006/main" w="0">
            <a:solidFill>
              <a:srgbClr val="DBEAFE"/>
            </a:solidFill>
            <a:prstDash val="solid"/>
          </a:ln>
        </p:spPr>
      </p:sp>
      <p:sp>
        <p:nvSpPr>
          <p:cNvPr id="33" name="">
            <a:extLst xmlns:a="http://schemas.openxmlformats.org/drawingml/2006/main">
              <a:ext uri="{FF2B5EF4-FFF2-40B4-BE49-F238E27FC236}">
                <a16:creationId xmlns:a16="http://schemas.microsoft.com/office/drawing/2014/main" id="{700C4605-CC05-45DA-BF36-7676CB683451}"/>
              </a:ext>
            </a:extLst>
          </p:cNvPr>
          <p:cNvSpPr>
            <a:spLocks xmlns:a="http://schemas.openxmlformats.org/drawingml/2006/main" noGrp="1"/>
          </p:cNvSpPr>
          <p:nvPr/>
        </p:nvSpPr>
        <p:spPr>
          <a:xfrm xmlns:a="http://schemas.openxmlformats.org/drawingml/2006/main">
            <a:off x="1162050" y="5819775"/>
            <a:ext cx="1485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Embedding dimension d</a:t>
            </a:r>
          </a:p>
        </p:txBody>
      </p:sp>
      <p:sp>
        <p:nvSpPr>
          <p:cNvPr id="34" name="">
            <a:extLst xmlns:a="http://schemas.openxmlformats.org/drawingml/2006/main">
              <a:ext uri="{FF2B5EF4-FFF2-40B4-BE49-F238E27FC236}">
                <a16:creationId xmlns:a16="http://schemas.microsoft.com/office/drawing/2014/main" id="{794BDE14-0922-4690-8691-4D5DF6F6D4EE}"/>
              </a:ext>
            </a:extLst>
          </p:cNvPr>
          <p:cNvSpPr>
            <a:spLocks xmlns:a="http://schemas.openxmlformats.org/drawingml/2006/main" noGrp="1"/>
          </p:cNvSpPr>
          <p:nvPr/>
        </p:nvSpPr>
        <p:spPr>
          <a:xfrm xmlns:a="http://schemas.openxmlformats.org/drawingml/2006/main">
            <a:off x="3143250" y="5753100"/>
            <a:ext cx="1524000" cy="323850"/>
          </a:xfrm>
          <a:prstGeom xmlns:a="http://schemas.openxmlformats.org/drawingml/2006/main" prst="roundRect">
            <a:avLst>
              <a:gd name="adj" fmla="val 23529"/>
            </a:avLst>
          </a:prstGeom>
          <a:solidFill xmlns:a="http://schemas.openxmlformats.org/drawingml/2006/main">
            <a:srgbClr val="CCFBF1"/>
          </a:solidFill>
          <a:ln xmlns:a="http://schemas.openxmlformats.org/drawingml/2006/main" w="0">
            <a:solidFill>
              <a:srgbClr val="CCFBF1"/>
            </a:solidFill>
            <a:prstDash val="solid"/>
          </a:ln>
        </p:spPr>
      </p:sp>
      <p:sp>
        <p:nvSpPr>
          <p:cNvPr id="35" name="">
            <a:extLst xmlns:a="http://schemas.openxmlformats.org/drawingml/2006/main">
              <a:ext uri="{FF2B5EF4-FFF2-40B4-BE49-F238E27FC236}">
                <a16:creationId xmlns:a16="http://schemas.microsoft.com/office/drawing/2014/main" id="{9D8161E4-7317-4A6C-ADBA-889618AED9B2}"/>
              </a:ext>
            </a:extLst>
          </p:cNvPr>
          <p:cNvSpPr>
            <a:spLocks xmlns:a="http://schemas.openxmlformats.org/drawingml/2006/main" noGrp="1"/>
          </p:cNvSpPr>
          <p:nvPr/>
        </p:nvSpPr>
        <p:spPr>
          <a:xfrm xmlns:a="http://schemas.openxmlformats.org/drawingml/2006/main">
            <a:off x="3257550" y="5819775"/>
            <a:ext cx="1295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Retrieval depth k</a:t>
            </a:r>
          </a:p>
        </p:txBody>
      </p:sp>
      <p:sp>
        <p:nvSpPr>
          <p:cNvPr id="36" name="">
            <a:extLst xmlns:a="http://schemas.openxmlformats.org/drawingml/2006/main">
              <a:ext uri="{FF2B5EF4-FFF2-40B4-BE49-F238E27FC236}">
                <a16:creationId xmlns:a16="http://schemas.microsoft.com/office/drawing/2014/main" id="{569D1ADB-B206-4C3C-A3C1-AB8A76E1702E}"/>
              </a:ext>
            </a:extLst>
          </p:cNvPr>
          <p:cNvSpPr>
            <a:spLocks xmlns:a="http://schemas.openxmlformats.org/drawingml/2006/main" noGrp="1"/>
          </p:cNvSpPr>
          <p:nvPr/>
        </p:nvSpPr>
        <p:spPr>
          <a:xfrm xmlns:a="http://schemas.openxmlformats.org/drawingml/2006/main">
            <a:off x="5048250" y="5753100"/>
            <a:ext cx="1333500" cy="323850"/>
          </a:xfrm>
          <a:prstGeom xmlns:a="http://schemas.openxmlformats.org/drawingml/2006/main" prst="roundRect">
            <a:avLst>
              <a:gd name="adj" fmla="val 23529"/>
            </a:avLst>
          </a:prstGeom>
          <a:solidFill xmlns:a="http://schemas.openxmlformats.org/drawingml/2006/main">
            <a:srgbClr val="E0E7FF"/>
          </a:solidFill>
          <a:ln xmlns:a="http://schemas.openxmlformats.org/drawingml/2006/main" w="0">
            <a:solidFill>
              <a:srgbClr val="E0E7FF"/>
            </a:solidFill>
            <a:prstDash val="solid"/>
          </a:ln>
        </p:spPr>
      </p:sp>
      <p:sp>
        <p:nvSpPr>
          <p:cNvPr id="37" name="">
            <a:extLst xmlns:a="http://schemas.openxmlformats.org/drawingml/2006/main">
              <a:ext uri="{FF2B5EF4-FFF2-40B4-BE49-F238E27FC236}">
                <a16:creationId xmlns:a16="http://schemas.microsoft.com/office/drawing/2014/main" id="{A9CD7896-2784-4523-A60B-B869E61B540F}"/>
              </a:ext>
            </a:extLst>
          </p:cNvPr>
          <p:cNvSpPr>
            <a:spLocks xmlns:a="http://schemas.openxmlformats.org/drawingml/2006/main" noGrp="1"/>
          </p:cNvSpPr>
          <p:nvPr/>
        </p:nvSpPr>
        <p:spPr>
          <a:xfrm xmlns:a="http://schemas.openxmlformats.org/drawingml/2006/main">
            <a:off x="5162550" y="5819775"/>
            <a:ext cx="110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Chunk size b</a:t>
            </a:r>
          </a:p>
        </p:txBody>
      </p:sp>
      <p:sp>
        <p:nvSpPr>
          <p:cNvPr id="38" name="">
            <a:extLst xmlns:a="http://schemas.openxmlformats.org/drawingml/2006/main">
              <a:ext uri="{FF2B5EF4-FFF2-40B4-BE49-F238E27FC236}">
                <a16:creationId xmlns:a16="http://schemas.microsoft.com/office/drawing/2014/main" id="{BAFC25F9-9768-4157-AC4A-52783E412696}"/>
              </a:ext>
            </a:extLst>
          </p:cNvPr>
          <p:cNvSpPr>
            <a:spLocks xmlns:a="http://schemas.openxmlformats.org/drawingml/2006/main" noGrp="1"/>
          </p:cNvSpPr>
          <p:nvPr/>
        </p:nvSpPr>
        <p:spPr>
          <a:xfrm xmlns:a="http://schemas.openxmlformats.org/drawingml/2006/main">
            <a:off x="6762750" y="5753100"/>
            <a:ext cx="1619250" cy="323850"/>
          </a:xfrm>
          <a:prstGeom xmlns:a="http://schemas.openxmlformats.org/drawingml/2006/main" prst="roundRect">
            <a:avLst>
              <a:gd name="adj" fmla="val 23529"/>
            </a:avLst>
          </a:prstGeom>
          <a:solidFill xmlns:a="http://schemas.openxmlformats.org/drawingml/2006/main">
            <a:srgbClr val="FEF3C7"/>
          </a:solidFill>
          <a:ln xmlns:a="http://schemas.openxmlformats.org/drawingml/2006/main" w="0">
            <a:solidFill>
              <a:srgbClr val="FEF3C7"/>
            </a:solidFill>
            <a:prstDash val="solid"/>
          </a:ln>
        </p:spPr>
      </p:sp>
      <p:sp>
        <p:nvSpPr>
          <p:cNvPr id="39" name="">
            <a:extLst xmlns:a="http://schemas.openxmlformats.org/drawingml/2006/main">
              <a:ext uri="{FF2B5EF4-FFF2-40B4-BE49-F238E27FC236}">
                <a16:creationId xmlns:a16="http://schemas.microsoft.com/office/drawing/2014/main" id="{21AF646D-B9DD-4C54-B3D4-449E5940C928}"/>
              </a:ext>
            </a:extLst>
          </p:cNvPr>
          <p:cNvSpPr>
            <a:spLocks xmlns:a="http://schemas.openxmlformats.org/drawingml/2006/main" noGrp="1"/>
          </p:cNvSpPr>
          <p:nvPr/>
        </p:nvSpPr>
        <p:spPr>
          <a:xfrm xmlns:a="http://schemas.openxmlformats.org/drawingml/2006/main">
            <a:off x="6877050" y="5819775"/>
            <a:ext cx="1390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Evidence citations</a:t>
            </a:r>
          </a:p>
        </p:txBody>
      </p:sp>
      <p:sp>
        <p:nvSpPr>
          <p:cNvPr id="40" name="">
            <a:extLst xmlns:a="http://schemas.openxmlformats.org/drawingml/2006/main">
              <a:ext uri="{FF2B5EF4-FFF2-40B4-BE49-F238E27FC236}">
                <a16:creationId xmlns:a16="http://schemas.microsoft.com/office/drawing/2014/main" id="{CFC22C2A-ACFF-4CE2-A2DB-5349BAD10F67}"/>
              </a:ext>
            </a:extLst>
          </p:cNvPr>
          <p:cNvSpPr>
            <a:spLocks xmlns:a="http://schemas.openxmlformats.org/drawingml/2006/main" noGrp="1"/>
          </p:cNvSpPr>
          <p:nvPr/>
        </p:nvSpPr>
        <p:spPr>
          <a:xfrm xmlns:a="http://schemas.openxmlformats.org/drawingml/2006/main">
            <a:off x="8763000" y="5753100"/>
            <a:ext cx="1333500" cy="323850"/>
          </a:xfrm>
          <a:prstGeom xmlns:a="http://schemas.openxmlformats.org/drawingml/2006/main" prst="roundRect">
            <a:avLst>
              <a:gd name="adj" fmla="val 23529"/>
            </a:avLst>
          </a:prstGeom>
          <a:solidFill xmlns:a="http://schemas.openxmlformats.org/drawingml/2006/main">
            <a:srgbClr val="DCFCE7"/>
          </a:solidFill>
          <a:ln xmlns:a="http://schemas.openxmlformats.org/drawingml/2006/main" w="0">
            <a:solidFill>
              <a:srgbClr val="DCFCE7"/>
            </a:solidFill>
            <a:prstDash val="solid"/>
          </a:ln>
        </p:spPr>
      </p:sp>
      <p:sp>
        <p:nvSpPr>
          <p:cNvPr id="41" name="">
            <a:extLst xmlns:a="http://schemas.openxmlformats.org/drawingml/2006/main">
              <a:ext uri="{FF2B5EF4-FFF2-40B4-BE49-F238E27FC236}">
                <a16:creationId xmlns:a16="http://schemas.microsoft.com/office/drawing/2014/main" id="{B3B8FED2-4F74-470A-90FD-39C30A46CCDA}"/>
              </a:ext>
            </a:extLst>
          </p:cNvPr>
          <p:cNvSpPr>
            <a:spLocks xmlns:a="http://schemas.openxmlformats.org/drawingml/2006/main" noGrp="1"/>
          </p:cNvSpPr>
          <p:nvPr/>
        </p:nvSpPr>
        <p:spPr>
          <a:xfrm xmlns:a="http://schemas.openxmlformats.org/drawingml/2006/main">
            <a:off x="8877300" y="5819775"/>
            <a:ext cx="110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Agent role a</a:t>
            </a:r>
          </a:p>
        </p:txBody>
      </p:sp>
    </p:spTree>
    <p:extLst>
      <p:ext uri="{BB962C8B-B14F-4D97-AF65-F5344CB8AC3E}">
        <p14:creationId xmlns:p14="http://schemas.microsoft.com/office/powerpoint/2010/main" val="8327776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524B039-3F15-4F6B-9E7B-D811300A6EC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A2AF458-AB75-4B45-B387-2E3AA27C0B54}"/>
              </a:ext>
            </a:extLst>
          </p:cNvPr>
          <p:cNvSpPr>
            <a:spLocks xmlns:a="http://schemas.openxmlformats.org/drawingml/2006/main" noGrp="1"/>
          </p:cNvSpPr>
          <p:nvPr/>
        </p:nvSpPr>
        <p:spPr>
          <a:xfrm xmlns:a="http://schemas.openxmlformats.org/drawingml/2006/main">
            <a:off x="0" y="76200"/>
            <a:ext cx="12192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F7D2411-3621-4B95-B843-DC087964BA5E}"/>
              </a:ext>
            </a:extLst>
          </p:cNvPr>
          <p:cNvSpPr>
            <a:spLocks xmlns:a="http://schemas.openxmlformats.org/drawingml/2006/main" noGrp="1"/>
          </p:cNvSpPr>
          <p:nvPr/>
        </p:nvSpPr>
        <p:spPr>
          <a:xfrm xmlns:a="http://schemas.openxmlformats.org/drawingml/2006/main">
            <a:off x="514350" y="6419850"/>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ModelWeave | Service-oriented architecture for scalable LLM use</a:t>
            </a:r>
          </a:p>
        </p:txBody>
      </p:sp>
      <p:sp>
        <p:nvSpPr>
          <p:cNvPr id="4" name="">
            <a:extLst xmlns:a="http://schemas.openxmlformats.org/drawingml/2006/main">
              <a:ext uri="{FF2B5EF4-FFF2-40B4-BE49-F238E27FC236}">
                <a16:creationId xmlns:a16="http://schemas.microsoft.com/office/drawing/2014/main" id="{A8CCB13F-5B92-462F-9238-479CD58A8E33}"/>
              </a:ext>
            </a:extLst>
          </p:cNvPr>
          <p:cNvSpPr>
            <a:spLocks xmlns:a="http://schemas.openxmlformats.org/drawingml/2006/main" noGrp="1"/>
          </p:cNvSpPr>
          <p:nvPr/>
        </p:nvSpPr>
        <p:spPr>
          <a:xfrm xmlns:a="http://schemas.openxmlformats.org/drawingml/2006/main">
            <a:off x="11239500" y="64198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6</a:t>
            </a:r>
          </a:p>
        </p:txBody>
      </p:sp>
      <p:sp>
        <p:nvSpPr>
          <p:cNvPr id="5" name="">
            <a:extLst xmlns:a="http://schemas.openxmlformats.org/drawingml/2006/main">
              <a:ext uri="{FF2B5EF4-FFF2-40B4-BE49-F238E27FC236}">
                <a16:creationId xmlns:a16="http://schemas.microsoft.com/office/drawing/2014/main" id="{351C28A1-8C64-4A69-B585-A5BDEEC67619}"/>
              </a:ext>
            </a:extLst>
          </p:cNvPr>
          <p:cNvSpPr>
            <a:spLocks xmlns:a="http://schemas.openxmlformats.org/drawingml/2006/main" noGrp="1"/>
          </p:cNvSpPr>
          <p:nvPr/>
        </p:nvSpPr>
        <p:spPr>
          <a:xfrm xmlns:a="http://schemas.openxmlformats.org/drawingml/2006/main">
            <a:off x="9144000" y="64198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Math: workflow</a:t>
            </a:r>
          </a:p>
        </p:txBody>
      </p:sp>
      <p:sp>
        <p:nvSpPr>
          <p:cNvPr id="6" name="">
            <a:extLst xmlns:a="http://schemas.openxmlformats.org/drawingml/2006/main">
              <a:ext uri="{FF2B5EF4-FFF2-40B4-BE49-F238E27FC236}">
                <a16:creationId xmlns:a16="http://schemas.microsoft.com/office/drawing/2014/main" id="{A64D0289-087A-41F2-B7EE-F79AB2AD9462}"/>
              </a:ext>
            </a:extLst>
          </p:cNvPr>
          <p:cNvSpPr>
            <a:spLocks xmlns:a="http://schemas.openxmlformats.org/drawingml/2006/main" noGrp="1"/>
          </p:cNvSpPr>
          <p:nvPr/>
        </p:nvSpPr>
        <p:spPr>
          <a:xfrm xmlns:a="http://schemas.openxmlformats.org/drawingml/2006/main">
            <a:off x="609600" y="4191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MATHEMATICAL MODEL II</a:t>
            </a:r>
          </a:p>
        </p:txBody>
      </p:sp>
      <p:sp>
        <p:nvSpPr>
          <p:cNvPr id="7" name="">
            <a:extLst xmlns:a="http://schemas.openxmlformats.org/drawingml/2006/main">
              <a:ext uri="{FF2B5EF4-FFF2-40B4-BE49-F238E27FC236}">
                <a16:creationId xmlns:a16="http://schemas.microsoft.com/office/drawing/2014/main" id="{01DB9F75-EB8F-47C6-8525-C9E1560EBC4F}"/>
              </a:ext>
            </a:extLst>
          </p:cNvPr>
          <p:cNvSpPr>
            <a:spLocks xmlns:a="http://schemas.openxmlformats.org/drawingml/2006/main" noGrp="1"/>
          </p:cNvSpPr>
          <p:nvPr/>
        </p:nvSpPr>
        <p:spPr>
          <a:xfrm xmlns:a="http://schemas.openxmlformats.org/drawingml/2006/main">
            <a:off x="609600" y="685800"/>
            <a:ext cx="7810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Agent workflows are typed graphs with state, approvals, cost, and quality scores</a:t>
            </a:r>
          </a:p>
        </p:txBody>
      </p:sp>
      <p:sp>
        <p:nvSpPr>
          <p:cNvPr id="8" name="">
            <a:extLst xmlns:a="http://schemas.openxmlformats.org/drawingml/2006/main">
              <a:ext uri="{FF2B5EF4-FFF2-40B4-BE49-F238E27FC236}">
                <a16:creationId xmlns:a16="http://schemas.microsoft.com/office/drawing/2014/main" id="{4AA17A61-A2ED-469C-879E-6A34B53486D0}"/>
              </a:ext>
            </a:extLst>
          </p:cNvPr>
          <p:cNvSpPr>
            <a:spLocks xmlns:a="http://schemas.openxmlformats.org/drawingml/2006/main" noGrp="1"/>
          </p:cNvSpPr>
          <p:nvPr/>
        </p:nvSpPr>
        <p:spPr>
          <a:xfrm xmlns:a="http://schemas.openxmlformats.org/drawingml/2006/main">
            <a:off x="609600" y="1485900"/>
            <a:ext cx="10363200" cy="1162050"/>
          </a:xfrm>
          <a:prstGeom xmlns:a="http://schemas.openxmlformats.org/drawingml/2006/main" prst="roundRect">
            <a:avLst>
              <a:gd name="adj" fmla="val 6557"/>
            </a:avLst>
          </a:prstGeom>
          <a:solidFill xmlns:a="http://schemas.openxmlformats.org/drawingml/2006/main">
            <a:srgbClr val="F8FAFC"/>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7ABF104A-C7AC-4C1D-A5A6-3AEC673D3C30}"/>
              </a:ext>
            </a:extLst>
          </p:cNvPr>
          <p:cNvSpPr>
            <a:spLocks xmlns:a="http://schemas.openxmlformats.org/drawingml/2006/main" noGrp="1"/>
          </p:cNvSpPr>
          <p:nvPr/>
        </p:nvSpPr>
        <p:spPr>
          <a:xfrm xmlns:a="http://schemas.openxmlformats.org/drawingml/2006/main">
            <a:off x="876300" y="16954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766E"/>
                </a:solidFill>
                <a:latin typeface="Aptos"/>
                <a:ea typeface="Aptos"/>
                <a:cs typeface="Aptos"/>
              </a:defRPr>
            </a:pPr>
            <a:r>
              <a:rPr sz="1125" b="1">
                <a:solidFill>
                  <a:srgbClr val="0F766E"/>
                </a:solidFill>
                <a:latin typeface="Aptos"/>
                <a:ea typeface="Aptos"/>
                <a:cs typeface="Aptos"/>
              </a:rPr>
              <a:t>Workflow graph</a:t>
            </a:r>
          </a:p>
        </p:txBody>
      </p:sp>
      <p:sp>
        <p:nvSpPr>
          <p:cNvPr id="10" name="">
            <a:extLst xmlns:a="http://schemas.openxmlformats.org/drawingml/2006/main">
              <a:ext uri="{FF2B5EF4-FFF2-40B4-BE49-F238E27FC236}">
                <a16:creationId xmlns:a16="http://schemas.microsoft.com/office/drawing/2014/main" id="{1CEB715C-F1DB-4E58-A681-0EABB3961B17}"/>
              </a:ext>
            </a:extLst>
          </p:cNvPr>
          <p:cNvSpPr>
            <a:spLocks xmlns:a="http://schemas.openxmlformats.org/drawingml/2006/main" noGrp="1"/>
          </p:cNvSpPr>
          <p:nvPr/>
        </p:nvSpPr>
        <p:spPr>
          <a:xfrm xmlns:a="http://schemas.openxmlformats.org/drawingml/2006/main">
            <a:off x="2686050" y="1676400"/>
            <a:ext cx="2381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F172A"/>
                </a:solidFill>
                <a:latin typeface="Aptos Mono"/>
                <a:ea typeface="Aptos Mono"/>
                <a:cs typeface="Aptos Mono"/>
              </a:defRPr>
            </a:pPr>
            <a:r>
              <a:rPr sz="1650" b="1">
                <a:solidFill>
                  <a:srgbClr val="0F172A"/>
                </a:solidFill>
                <a:latin typeface="Aptos Mono"/>
                <a:ea typeface="Aptos Mono"/>
                <a:cs typeface="Aptos Mono"/>
              </a:rPr>
              <a:t>G = (V, E, τ, σ)</a:t>
            </a:r>
          </a:p>
        </p:txBody>
      </p:sp>
      <p:sp>
        <p:nvSpPr>
          <p:cNvPr id="11" name="">
            <a:extLst xmlns:a="http://schemas.openxmlformats.org/drawingml/2006/main">
              <a:ext uri="{FF2B5EF4-FFF2-40B4-BE49-F238E27FC236}">
                <a16:creationId xmlns:a16="http://schemas.microsoft.com/office/drawing/2014/main" id="{91B20965-6B21-45AA-8308-26A1B635A0FE}"/>
              </a:ext>
            </a:extLst>
          </p:cNvPr>
          <p:cNvSpPr>
            <a:spLocks xmlns:a="http://schemas.openxmlformats.org/drawingml/2006/main" noGrp="1"/>
          </p:cNvSpPr>
          <p:nvPr/>
        </p:nvSpPr>
        <p:spPr>
          <a:xfrm xmlns:a="http://schemas.openxmlformats.org/drawingml/2006/main">
            <a:off x="2686050" y="2019300"/>
            <a:ext cx="685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Mono"/>
                <a:ea typeface="Aptos Mono"/>
                <a:cs typeface="Aptos Mono"/>
              </a:defRPr>
            </a:pPr>
            <a:r>
              <a:rPr sz="1125" b="0">
                <a:solidFill>
                  <a:srgbClr val="334155"/>
                </a:solidFill>
                <a:latin typeface="Aptos Mono"/>
                <a:ea typeface="Aptos Mono"/>
                <a:cs typeface="Aptos Mono"/>
              </a:rPr>
              <a:t>τ(v) ∈ {retrieve, agent, create_task, approval, evaluate, export_docx}</a:t>
            </a:r>
          </a:p>
        </p:txBody>
      </p:sp>
      <p:sp>
        <p:nvSpPr>
          <p:cNvPr id="12" name="">
            <a:extLst xmlns:a="http://schemas.openxmlformats.org/drawingml/2006/main">
              <a:ext uri="{FF2B5EF4-FFF2-40B4-BE49-F238E27FC236}">
                <a16:creationId xmlns:a16="http://schemas.microsoft.com/office/drawing/2014/main" id="{8F85FAE5-1FE2-4C4A-AE57-C9FDE0936D80}"/>
              </a:ext>
            </a:extLst>
          </p:cNvPr>
          <p:cNvSpPr>
            <a:spLocks xmlns:a="http://schemas.openxmlformats.org/drawingml/2006/main" noGrp="1"/>
          </p:cNvSpPr>
          <p:nvPr/>
        </p:nvSpPr>
        <p:spPr>
          <a:xfrm xmlns:a="http://schemas.openxmlformats.org/drawingml/2006/main">
            <a:off x="2686050" y="2286000"/>
            <a:ext cx="6477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Mono"/>
                <a:ea typeface="Aptos Mono"/>
                <a:cs typeface="Aptos Mono"/>
              </a:defRPr>
            </a:pPr>
            <a:r>
              <a:rPr sz="1125" b="0">
                <a:solidFill>
                  <a:srgbClr val="334155"/>
                </a:solidFill>
                <a:latin typeface="Aptos Mono"/>
                <a:ea typeface="Aptos Mono"/>
                <a:cs typeface="Aptos Mono"/>
              </a:rPr>
              <a:t>σt(v) ∈ {waiting, running, completed, approval_required, failed}</a:t>
            </a:r>
          </a:p>
        </p:txBody>
      </p:sp>
      <p:sp>
        <p:nvSpPr>
          <p:cNvPr id="13" name="">
            <a:extLst xmlns:a="http://schemas.openxmlformats.org/drawingml/2006/main">
              <a:ext uri="{FF2B5EF4-FFF2-40B4-BE49-F238E27FC236}">
                <a16:creationId xmlns:a16="http://schemas.microsoft.com/office/drawing/2014/main" id="{B8576046-C977-40C1-88A7-CD96FE69B5D0}"/>
              </a:ext>
            </a:extLst>
          </p:cNvPr>
          <p:cNvSpPr>
            <a:spLocks xmlns:a="http://schemas.openxmlformats.org/drawingml/2006/main" noGrp="1"/>
          </p:cNvSpPr>
          <p:nvPr/>
        </p:nvSpPr>
        <p:spPr>
          <a:xfrm xmlns:a="http://schemas.openxmlformats.org/drawingml/2006/main">
            <a:off x="876300" y="3028950"/>
            <a:ext cx="1200150" cy="514350"/>
          </a:xfrm>
          <a:prstGeom xmlns:a="http://schemas.openxmlformats.org/drawingml/2006/main" prst="roundRect">
            <a:avLst>
              <a:gd name="adj" fmla="val 14815"/>
            </a:avLst>
          </a:prstGeom>
          <a:solidFill xmlns:a="http://schemas.openxmlformats.org/drawingml/2006/main">
            <a:srgbClr val="DBEAFE"/>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CB3C6C6C-835B-4D33-82A2-42A1213A6EFF}"/>
              </a:ext>
            </a:extLst>
          </p:cNvPr>
          <p:cNvSpPr>
            <a:spLocks xmlns:a="http://schemas.openxmlformats.org/drawingml/2006/main" noGrp="1"/>
          </p:cNvSpPr>
          <p:nvPr/>
        </p:nvSpPr>
        <p:spPr>
          <a:xfrm xmlns:a="http://schemas.openxmlformats.org/drawingml/2006/main">
            <a:off x="952500" y="3143250"/>
            <a:ext cx="1047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Retrieve</a:t>
            </a:r>
          </a:p>
        </p:txBody>
      </p:sp>
      <p:sp>
        <p:nvSpPr>
          <p:cNvPr id="15" name="">
            <a:extLst xmlns:a="http://schemas.openxmlformats.org/drawingml/2006/main">
              <a:ext uri="{FF2B5EF4-FFF2-40B4-BE49-F238E27FC236}">
                <a16:creationId xmlns:a16="http://schemas.microsoft.com/office/drawing/2014/main" id="{8E86A298-A6CB-49D9-892F-C95BF8254889}"/>
              </a:ext>
            </a:extLst>
          </p:cNvPr>
          <p:cNvSpPr>
            <a:spLocks xmlns:a="http://schemas.openxmlformats.org/drawingml/2006/main" noGrp="1"/>
          </p:cNvSpPr>
          <p:nvPr/>
        </p:nvSpPr>
        <p:spPr>
          <a:xfrm xmlns:a="http://schemas.openxmlformats.org/drawingml/2006/main">
            <a:off x="2133600" y="3257550"/>
            <a:ext cx="323850"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4602E3D-900C-4563-B503-832CE15D2312}"/>
              </a:ext>
            </a:extLst>
          </p:cNvPr>
          <p:cNvSpPr>
            <a:spLocks xmlns:a="http://schemas.openxmlformats.org/drawingml/2006/main" noGrp="1"/>
          </p:cNvSpPr>
          <p:nvPr/>
        </p:nvSpPr>
        <p:spPr>
          <a:xfrm xmlns:a="http://schemas.openxmlformats.org/drawingml/2006/main">
            <a:off x="2552700" y="3028950"/>
            <a:ext cx="1200150" cy="514350"/>
          </a:xfrm>
          <a:prstGeom xmlns:a="http://schemas.openxmlformats.org/drawingml/2006/main" prst="roundRect">
            <a:avLst>
              <a:gd name="adj" fmla="val 14815"/>
            </a:avLst>
          </a:prstGeom>
          <a:solidFill xmlns:a="http://schemas.openxmlformats.org/drawingml/2006/main">
            <a:srgbClr val="CCFBF1"/>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6F35BA1F-C415-4237-96B2-256394D6C7B0}"/>
              </a:ext>
            </a:extLst>
          </p:cNvPr>
          <p:cNvSpPr>
            <a:spLocks xmlns:a="http://schemas.openxmlformats.org/drawingml/2006/main" noGrp="1"/>
          </p:cNvSpPr>
          <p:nvPr/>
        </p:nvSpPr>
        <p:spPr>
          <a:xfrm xmlns:a="http://schemas.openxmlformats.org/drawingml/2006/main">
            <a:off x="2628900" y="3143250"/>
            <a:ext cx="1047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Agent</a:t>
            </a:r>
          </a:p>
        </p:txBody>
      </p:sp>
      <p:sp>
        <p:nvSpPr>
          <p:cNvPr id="18" name="">
            <a:extLst xmlns:a="http://schemas.openxmlformats.org/drawingml/2006/main">
              <a:ext uri="{FF2B5EF4-FFF2-40B4-BE49-F238E27FC236}">
                <a16:creationId xmlns:a16="http://schemas.microsoft.com/office/drawing/2014/main" id="{B772F6B1-AA50-49C5-883C-281A875BD824}"/>
              </a:ext>
            </a:extLst>
          </p:cNvPr>
          <p:cNvSpPr>
            <a:spLocks xmlns:a="http://schemas.openxmlformats.org/drawingml/2006/main" noGrp="1"/>
          </p:cNvSpPr>
          <p:nvPr/>
        </p:nvSpPr>
        <p:spPr>
          <a:xfrm xmlns:a="http://schemas.openxmlformats.org/drawingml/2006/main">
            <a:off x="3810000" y="3257550"/>
            <a:ext cx="323850"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36301D8-A302-466D-901D-64448286D4EE}"/>
              </a:ext>
            </a:extLst>
          </p:cNvPr>
          <p:cNvSpPr>
            <a:spLocks xmlns:a="http://schemas.openxmlformats.org/drawingml/2006/main" noGrp="1"/>
          </p:cNvSpPr>
          <p:nvPr/>
        </p:nvSpPr>
        <p:spPr>
          <a:xfrm xmlns:a="http://schemas.openxmlformats.org/drawingml/2006/main">
            <a:off x="4229100" y="3028950"/>
            <a:ext cx="1200150" cy="514350"/>
          </a:xfrm>
          <a:prstGeom xmlns:a="http://schemas.openxmlformats.org/drawingml/2006/main" prst="roundRect">
            <a:avLst>
              <a:gd name="adj" fmla="val 14815"/>
            </a:avLst>
          </a:prstGeom>
          <a:solidFill xmlns:a="http://schemas.openxmlformats.org/drawingml/2006/main">
            <a:srgbClr val="E0E7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080D4B71-2D5C-4A1C-A32F-8C80E36BFEF2}"/>
              </a:ext>
            </a:extLst>
          </p:cNvPr>
          <p:cNvSpPr>
            <a:spLocks xmlns:a="http://schemas.openxmlformats.org/drawingml/2006/main" noGrp="1"/>
          </p:cNvSpPr>
          <p:nvPr/>
        </p:nvSpPr>
        <p:spPr>
          <a:xfrm xmlns:a="http://schemas.openxmlformats.org/drawingml/2006/main">
            <a:off x="4305300" y="3143250"/>
            <a:ext cx="1047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Create task</a:t>
            </a:r>
          </a:p>
        </p:txBody>
      </p:sp>
      <p:sp>
        <p:nvSpPr>
          <p:cNvPr id="21" name="">
            <a:extLst xmlns:a="http://schemas.openxmlformats.org/drawingml/2006/main">
              <a:ext uri="{FF2B5EF4-FFF2-40B4-BE49-F238E27FC236}">
                <a16:creationId xmlns:a16="http://schemas.microsoft.com/office/drawing/2014/main" id="{F872922E-053B-4D05-81F9-DA658D2B987F}"/>
              </a:ext>
            </a:extLst>
          </p:cNvPr>
          <p:cNvSpPr>
            <a:spLocks xmlns:a="http://schemas.openxmlformats.org/drawingml/2006/main" noGrp="1"/>
          </p:cNvSpPr>
          <p:nvPr/>
        </p:nvSpPr>
        <p:spPr>
          <a:xfrm xmlns:a="http://schemas.openxmlformats.org/drawingml/2006/main">
            <a:off x="5486400" y="3257550"/>
            <a:ext cx="323850"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94BFA157-1BDC-441A-8EDA-46DBD0993488}"/>
              </a:ext>
            </a:extLst>
          </p:cNvPr>
          <p:cNvSpPr>
            <a:spLocks xmlns:a="http://schemas.openxmlformats.org/drawingml/2006/main" noGrp="1"/>
          </p:cNvSpPr>
          <p:nvPr/>
        </p:nvSpPr>
        <p:spPr>
          <a:xfrm xmlns:a="http://schemas.openxmlformats.org/drawingml/2006/main">
            <a:off x="5905500" y="3028950"/>
            <a:ext cx="1200150" cy="514350"/>
          </a:xfrm>
          <a:prstGeom xmlns:a="http://schemas.openxmlformats.org/drawingml/2006/main" prst="roundRect">
            <a:avLst>
              <a:gd name="adj" fmla="val 14815"/>
            </a:avLst>
          </a:prstGeom>
          <a:solidFill xmlns:a="http://schemas.openxmlformats.org/drawingml/2006/main">
            <a:srgbClr val="FEF3C7"/>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2DC71EC6-7C47-4012-94C8-F0C4035BFBE6}"/>
              </a:ext>
            </a:extLst>
          </p:cNvPr>
          <p:cNvSpPr>
            <a:spLocks xmlns:a="http://schemas.openxmlformats.org/drawingml/2006/main" noGrp="1"/>
          </p:cNvSpPr>
          <p:nvPr/>
        </p:nvSpPr>
        <p:spPr>
          <a:xfrm xmlns:a="http://schemas.openxmlformats.org/drawingml/2006/main">
            <a:off x="5981700" y="3143250"/>
            <a:ext cx="1047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Approval</a:t>
            </a:r>
          </a:p>
        </p:txBody>
      </p:sp>
      <p:sp>
        <p:nvSpPr>
          <p:cNvPr id="24" name="">
            <a:extLst xmlns:a="http://schemas.openxmlformats.org/drawingml/2006/main">
              <a:ext uri="{FF2B5EF4-FFF2-40B4-BE49-F238E27FC236}">
                <a16:creationId xmlns:a16="http://schemas.microsoft.com/office/drawing/2014/main" id="{AE3E53AD-EFBC-47F2-99E4-884906FA52C8}"/>
              </a:ext>
            </a:extLst>
          </p:cNvPr>
          <p:cNvSpPr>
            <a:spLocks xmlns:a="http://schemas.openxmlformats.org/drawingml/2006/main" noGrp="1"/>
          </p:cNvSpPr>
          <p:nvPr/>
        </p:nvSpPr>
        <p:spPr>
          <a:xfrm xmlns:a="http://schemas.openxmlformats.org/drawingml/2006/main">
            <a:off x="7162800" y="3257550"/>
            <a:ext cx="323850"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3220E3C-54AE-4D85-A317-1FF3ED6FF976}"/>
              </a:ext>
            </a:extLst>
          </p:cNvPr>
          <p:cNvSpPr>
            <a:spLocks xmlns:a="http://schemas.openxmlformats.org/drawingml/2006/main" noGrp="1"/>
          </p:cNvSpPr>
          <p:nvPr/>
        </p:nvSpPr>
        <p:spPr>
          <a:xfrm xmlns:a="http://schemas.openxmlformats.org/drawingml/2006/main">
            <a:off x="7581900" y="3028950"/>
            <a:ext cx="1200150" cy="514350"/>
          </a:xfrm>
          <a:prstGeom xmlns:a="http://schemas.openxmlformats.org/drawingml/2006/main" prst="roundRect">
            <a:avLst>
              <a:gd name="adj" fmla="val 14815"/>
            </a:avLst>
          </a:prstGeom>
          <a:solidFill xmlns:a="http://schemas.openxmlformats.org/drawingml/2006/main">
            <a:srgbClr val="DCFCE7"/>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E9E0FA6F-2841-4E3C-86EE-6BBB080FD98B}"/>
              </a:ext>
            </a:extLst>
          </p:cNvPr>
          <p:cNvSpPr>
            <a:spLocks xmlns:a="http://schemas.openxmlformats.org/drawingml/2006/main" noGrp="1"/>
          </p:cNvSpPr>
          <p:nvPr/>
        </p:nvSpPr>
        <p:spPr>
          <a:xfrm xmlns:a="http://schemas.openxmlformats.org/drawingml/2006/main">
            <a:off x="7658100" y="3143250"/>
            <a:ext cx="1047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Evaluate</a:t>
            </a:r>
          </a:p>
        </p:txBody>
      </p:sp>
      <p:sp>
        <p:nvSpPr>
          <p:cNvPr id="27" name="">
            <a:extLst xmlns:a="http://schemas.openxmlformats.org/drawingml/2006/main">
              <a:ext uri="{FF2B5EF4-FFF2-40B4-BE49-F238E27FC236}">
                <a16:creationId xmlns:a16="http://schemas.microsoft.com/office/drawing/2014/main" id="{9F3594FE-2FBB-4264-8003-ED5F96B9781E}"/>
              </a:ext>
            </a:extLst>
          </p:cNvPr>
          <p:cNvSpPr>
            <a:spLocks xmlns:a="http://schemas.openxmlformats.org/drawingml/2006/main" noGrp="1"/>
          </p:cNvSpPr>
          <p:nvPr/>
        </p:nvSpPr>
        <p:spPr>
          <a:xfrm xmlns:a="http://schemas.openxmlformats.org/drawingml/2006/main">
            <a:off x="8839200" y="3257550"/>
            <a:ext cx="323850"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73F52CA-554D-45CD-8DE8-BA782757C048}"/>
              </a:ext>
            </a:extLst>
          </p:cNvPr>
          <p:cNvSpPr>
            <a:spLocks xmlns:a="http://schemas.openxmlformats.org/drawingml/2006/main" noGrp="1"/>
          </p:cNvSpPr>
          <p:nvPr/>
        </p:nvSpPr>
        <p:spPr>
          <a:xfrm xmlns:a="http://schemas.openxmlformats.org/drawingml/2006/main">
            <a:off x="9258300" y="3028950"/>
            <a:ext cx="1200150" cy="514350"/>
          </a:xfrm>
          <a:prstGeom xmlns:a="http://schemas.openxmlformats.org/drawingml/2006/main" prst="roundRect">
            <a:avLst>
              <a:gd name="adj" fmla="val 14815"/>
            </a:avLst>
          </a:prstGeom>
          <a:solidFill xmlns:a="http://schemas.openxmlformats.org/drawingml/2006/main">
            <a:srgbClr val="FCE7F3"/>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B131DB63-8633-4232-B479-BEEBF5BAE9AC}"/>
              </a:ext>
            </a:extLst>
          </p:cNvPr>
          <p:cNvSpPr>
            <a:spLocks xmlns:a="http://schemas.openxmlformats.org/drawingml/2006/main" noGrp="1"/>
          </p:cNvSpPr>
          <p:nvPr/>
        </p:nvSpPr>
        <p:spPr>
          <a:xfrm xmlns:a="http://schemas.openxmlformats.org/drawingml/2006/main">
            <a:off x="9334500" y="3143250"/>
            <a:ext cx="1047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DOCX</a:t>
            </a:r>
          </a:p>
        </p:txBody>
      </p:sp>
      <p:sp>
        <p:nvSpPr>
          <p:cNvPr id="30" name="">
            <a:extLst xmlns:a="http://schemas.openxmlformats.org/drawingml/2006/main">
              <a:ext uri="{FF2B5EF4-FFF2-40B4-BE49-F238E27FC236}">
                <a16:creationId xmlns:a16="http://schemas.microsoft.com/office/drawing/2014/main" id="{C5A8F026-147D-4FF0-B520-A30E0B4AAA41}"/>
              </a:ext>
            </a:extLst>
          </p:cNvPr>
          <p:cNvSpPr>
            <a:spLocks xmlns:a="http://schemas.openxmlformats.org/drawingml/2006/main" noGrp="1"/>
          </p:cNvSpPr>
          <p:nvPr/>
        </p:nvSpPr>
        <p:spPr>
          <a:xfrm xmlns:a="http://schemas.openxmlformats.org/drawingml/2006/main">
            <a:off x="609600" y="4000500"/>
            <a:ext cx="3257550" cy="819150"/>
          </a:xfrm>
          <a:prstGeom xmlns:a="http://schemas.openxmlformats.org/drawingml/2006/main" prst="roundRect">
            <a:avLst>
              <a:gd name="adj" fmla="val 9302"/>
            </a:avLst>
          </a:prstGeom>
          <a:solidFill xmlns:a="http://schemas.openxmlformats.org/drawingml/2006/main">
            <a:srgbClr val="FFF7ED"/>
          </a:solidFill>
          <a:ln xmlns:a="http://schemas.openxmlformats.org/drawingml/2006/main" w="9525">
            <a:solidFill>
              <a:srgbClr val="FFF7ED"/>
            </a:solidFill>
            <a:prstDash val="solid"/>
          </a:ln>
        </p:spPr>
      </p:sp>
      <p:sp>
        <p:nvSpPr>
          <p:cNvPr id="31" name="">
            <a:extLst xmlns:a="http://schemas.openxmlformats.org/drawingml/2006/main">
              <a:ext uri="{FF2B5EF4-FFF2-40B4-BE49-F238E27FC236}">
                <a16:creationId xmlns:a16="http://schemas.microsoft.com/office/drawing/2014/main" id="{8F3CD6BD-3D88-44D5-8533-545B507750DA}"/>
              </a:ext>
            </a:extLst>
          </p:cNvPr>
          <p:cNvSpPr>
            <a:spLocks xmlns:a="http://schemas.openxmlformats.org/drawingml/2006/main" noGrp="1"/>
          </p:cNvSpPr>
          <p:nvPr/>
        </p:nvSpPr>
        <p:spPr>
          <a:xfrm xmlns:a="http://schemas.openxmlformats.org/drawingml/2006/main">
            <a:off x="781050" y="4133850"/>
            <a:ext cx="2914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Approval constraint</a:t>
            </a:r>
          </a:p>
        </p:txBody>
      </p:sp>
      <p:sp>
        <p:nvSpPr>
          <p:cNvPr id="32" name="">
            <a:extLst xmlns:a="http://schemas.openxmlformats.org/drawingml/2006/main">
              <a:ext uri="{FF2B5EF4-FFF2-40B4-BE49-F238E27FC236}">
                <a16:creationId xmlns:a16="http://schemas.microsoft.com/office/drawing/2014/main" id="{C181F077-8A16-4466-A7D2-F877A20197A2}"/>
              </a:ext>
            </a:extLst>
          </p:cNvPr>
          <p:cNvSpPr>
            <a:spLocks xmlns:a="http://schemas.openxmlformats.org/drawingml/2006/main" noGrp="1"/>
          </p:cNvSpPr>
          <p:nvPr/>
        </p:nvSpPr>
        <p:spPr>
          <a:xfrm xmlns:a="http://schemas.openxmlformats.org/drawingml/2006/main">
            <a:off x="781050" y="4381500"/>
            <a:ext cx="2914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Mono"/>
                <a:ea typeface="Aptos Mono"/>
                <a:cs typeface="Aptos Mono"/>
              </a:defRPr>
            </a:pPr>
            <a:r>
              <a:rPr sz="1200" b="1">
                <a:solidFill>
                  <a:srgbClr val="0F172A"/>
                </a:solidFill>
                <a:latin typeface="Aptos Mono"/>
                <a:ea typeface="Aptos Mono"/>
                <a:cs typeface="Aptos Mono"/>
              </a:rPr>
              <a:t>mutate(x) ⇒ approval(x)=approved</a:t>
            </a:r>
          </a:p>
        </p:txBody>
      </p:sp>
      <p:sp>
        <p:nvSpPr>
          <p:cNvPr id="33" name="">
            <a:extLst xmlns:a="http://schemas.openxmlformats.org/drawingml/2006/main">
              <a:ext uri="{FF2B5EF4-FFF2-40B4-BE49-F238E27FC236}">
                <a16:creationId xmlns:a16="http://schemas.microsoft.com/office/drawing/2014/main" id="{2FD0B4D4-13CE-4D06-B821-0815DC7DB16D}"/>
              </a:ext>
            </a:extLst>
          </p:cNvPr>
          <p:cNvSpPr>
            <a:spLocks xmlns:a="http://schemas.openxmlformats.org/drawingml/2006/main" noGrp="1"/>
          </p:cNvSpPr>
          <p:nvPr/>
        </p:nvSpPr>
        <p:spPr>
          <a:xfrm xmlns:a="http://schemas.openxmlformats.org/drawingml/2006/main">
            <a:off x="4267200" y="4000500"/>
            <a:ext cx="3257550" cy="819150"/>
          </a:xfrm>
          <a:prstGeom xmlns:a="http://schemas.openxmlformats.org/drawingml/2006/main" prst="roundRect">
            <a:avLst>
              <a:gd name="adj" fmla="val 9302"/>
            </a:avLst>
          </a:prstGeom>
          <a:solidFill xmlns:a="http://schemas.openxmlformats.org/drawingml/2006/main">
            <a:srgbClr val="ECFDF5"/>
          </a:solidFill>
          <a:ln xmlns:a="http://schemas.openxmlformats.org/drawingml/2006/main" w="9525">
            <a:solidFill>
              <a:srgbClr val="ECFDF5"/>
            </a:solidFill>
            <a:prstDash val="solid"/>
          </a:ln>
        </p:spPr>
      </p:sp>
      <p:sp>
        <p:nvSpPr>
          <p:cNvPr id="34" name="">
            <a:extLst xmlns:a="http://schemas.openxmlformats.org/drawingml/2006/main">
              <a:ext uri="{FF2B5EF4-FFF2-40B4-BE49-F238E27FC236}">
                <a16:creationId xmlns:a16="http://schemas.microsoft.com/office/drawing/2014/main" id="{5AB1C898-6C77-47D7-9BC0-2EC2F01FE00E}"/>
              </a:ext>
            </a:extLst>
          </p:cNvPr>
          <p:cNvSpPr>
            <a:spLocks xmlns:a="http://schemas.openxmlformats.org/drawingml/2006/main" noGrp="1"/>
          </p:cNvSpPr>
          <p:nvPr/>
        </p:nvSpPr>
        <p:spPr>
          <a:xfrm xmlns:a="http://schemas.openxmlformats.org/drawingml/2006/main">
            <a:off x="4438650" y="4133850"/>
            <a:ext cx="2914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Quality score</a:t>
            </a:r>
          </a:p>
        </p:txBody>
      </p:sp>
      <p:sp>
        <p:nvSpPr>
          <p:cNvPr id="35" name="">
            <a:extLst xmlns:a="http://schemas.openxmlformats.org/drawingml/2006/main">
              <a:ext uri="{FF2B5EF4-FFF2-40B4-BE49-F238E27FC236}">
                <a16:creationId xmlns:a16="http://schemas.microsoft.com/office/drawing/2014/main" id="{2AEAB330-E909-40E0-80E6-5502DD528488}"/>
              </a:ext>
            </a:extLst>
          </p:cNvPr>
          <p:cNvSpPr>
            <a:spLocks xmlns:a="http://schemas.openxmlformats.org/drawingml/2006/main" noGrp="1"/>
          </p:cNvSpPr>
          <p:nvPr/>
        </p:nvSpPr>
        <p:spPr>
          <a:xfrm xmlns:a="http://schemas.openxmlformats.org/drawingml/2006/main">
            <a:off x="4438650" y="4381500"/>
            <a:ext cx="2914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Mono"/>
                <a:ea typeface="Aptos Mono"/>
                <a:cs typeface="Aptos Mono"/>
              </a:defRPr>
            </a:pPr>
            <a:r>
              <a:rPr sz="1200" b="1">
                <a:solidFill>
                  <a:srgbClr val="0F172A"/>
                </a:solidFill>
                <a:latin typeface="Aptos Mono"/>
                <a:ea typeface="Aptos Mono"/>
                <a:cs typeface="Aptos Mono"/>
              </a:rPr>
              <a:t>S=(wcC+waA+wrR+wmM)/(wc+wa+wr+wm)</a:t>
            </a:r>
          </a:p>
        </p:txBody>
      </p:sp>
      <p:sp>
        <p:nvSpPr>
          <p:cNvPr id="36" name="">
            <a:extLst xmlns:a="http://schemas.openxmlformats.org/drawingml/2006/main">
              <a:ext uri="{FF2B5EF4-FFF2-40B4-BE49-F238E27FC236}">
                <a16:creationId xmlns:a16="http://schemas.microsoft.com/office/drawing/2014/main" id="{C245D008-DD1C-4491-B73D-0E809CD2D6B0}"/>
              </a:ext>
            </a:extLst>
          </p:cNvPr>
          <p:cNvSpPr>
            <a:spLocks xmlns:a="http://schemas.openxmlformats.org/drawingml/2006/main" noGrp="1"/>
          </p:cNvSpPr>
          <p:nvPr/>
        </p:nvSpPr>
        <p:spPr>
          <a:xfrm xmlns:a="http://schemas.openxmlformats.org/drawingml/2006/main">
            <a:off x="7924800" y="4000500"/>
            <a:ext cx="3048000" cy="819150"/>
          </a:xfrm>
          <a:prstGeom xmlns:a="http://schemas.openxmlformats.org/drawingml/2006/main" prst="roundRect">
            <a:avLst>
              <a:gd name="adj" fmla="val 9302"/>
            </a:avLst>
          </a:prstGeom>
          <a:solidFill xmlns:a="http://schemas.openxmlformats.org/drawingml/2006/main">
            <a:srgbClr val="EFF6FF"/>
          </a:solidFill>
          <a:ln xmlns:a="http://schemas.openxmlformats.org/drawingml/2006/main" w="9525">
            <a:solidFill>
              <a:srgbClr val="EFF6FF"/>
            </a:solidFill>
            <a:prstDash val="solid"/>
          </a:ln>
        </p:spPr>
      </p:sp>
      <p:sp>
        <p:nvSpPr>
          <p:cNvPr id="37" name="">
            <a:extLst xmlns:a="http://schemas.openxmlformats.org/drawingml/2006/main">
              <a:ext uri="{FF2B5EF4-FFF2-40B4-BE49-F238E27FC236}">
                <a16:creationId xmlns:a16="http://schemas.microsoft.com/office/drawing/2014/main" id="{F4B19535-B3B5-4F74-A076-841788452383}"/>
              </a:ext>
            </a:extLst>
          </p:cNvPr>
          <p:cNvSpPr>
            <a:spLocks xmlns:a="http://schemas.openxmlformats.org/drawingml/2006/main" noGrp="1"/>
          </p:cNvSpPr>
          <p:nvPr/>
        </p:nvSpPr>
        <p:spPr>
          <a:xfrm xmlns:a="http://schemas.openxmlformats.org/drawingml/2006/main">
            <a:off x="8096250" y="4133850"/>
            <a:ext cx="2705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Token cost</a:t>
            </a:r>
          </a:p>
        </p:txBody>
      </p:sp>
      <p:sp>
        <p:nvSpPr>
          <p:cNvPr id="38" name="">
            <a:extLst xmlns:a="http://schemas.openxmlformats.org/drawingml/2006/main">
              <a:ext uri="{FF2B5EF4-FFF2-40B4-BE49-F238E27FC236}">
                <a16:creationId xmlns:a16="http://schemas.microsoft.com/office/drawing/2014/main" id="{0D2D8AAA-54DB-410B-84A7-BC74D1C3E723}"/>
              </a:ext>
            </a:extLst>
          </p:cNvPr>
          <p:cNvSpPr>
            <a:spLocks xmlns:a="http://schemas.openxmlformats.org/drawingml/2006/main" noGrp="1"/>
          </p:cNvSpPr>
          <p:nvPr/>
        </p:nvSpPr>
        <p:spPr>
          <a:xfrm xmlns:a="http://schemas.openxmlformats.org/drawingml/2006/main">
            <a:off x="8096250" y="4381500"/>
            <a:ext cx="2705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Mono"/>
                <a:ea typeface="Aptos Mono"/>
                <a:cs typeface="Aptos Mono"/>
              </a:defRPr>
            </a:pPr>
            <a:r>
              <a:rPr sz="1200" b="1">
                <a:solidFill>
                  <a:srgbClr val="0F172A"/>
                </a:solidFill>
                <a:latin typeface="Aptos Mono"/>
                <a:ea typeface="Aptos Mono"/>
                <a:cs typeface="Aptos Mono"/>
              </a:rPr>
              <a:t>Cost=Σj(pinTin,j+poutTout,j)</a:t>
            </a:r>
          </a:p>
        </p:txBody>
      </p:sp>
      <p:sp>
        <p:nvSpPr>
          <p:cNvPr id="39" name="">
            <a:extLst xmlns:a="http://schemas.openxmlformats.org/drawingml/2006/main">
              <a:ext uri="{FF2B5EF4-FFF2-40B4-BE49-F238E27FC236}">
                <a16:creationId xmlns:a16="http://schemas.microsoft.com/office/drawing/2014/main" id="{6F4A4B04-7535-4AF2-BF46-E195A7BCFFB2}"/>
              </a:ext>
            </a:extLst>
          </p:cNvPr>
          <p:cNvSpPr>
            <a:spLocks xmlns:a="http://schemas.openxmlformats.org/drawingml/2006/main" noGrp="1"/>
          </p:cNvSpPr>
          <p:nvPr/>
        </p:nvSpPr>
        <p:spPr>
          <a:xfrm xmlns:a="http://schemas.openxmlformats.org/drawingml/2006/main">
            <a:off x="609600" y="5143500"/>
            <a:ext cx="10363200" cy="819150"/>
          </a:xfrm>
          <a:prstGeom xmlns:a="http://schemas.openxmlformats.org/drawingml/2006/main" prst="roundRect">
            <a:avLst>
              <a:gd name="adj" fmla="val 9302"/>
            </a:avLst>
          </a:prstGeom>
          <a:solidFill xmlns:a="http://schemas.openxmlformats.org/drawingml/2006/main">
            <a:srgbClr val="0F172A"/>
          </a:solidFill>
          <a:ln xmlns:a="http://schemas.openxmlformats.org/drawingml/2006/main" w="9525">
            <a:solidFill>
              <a:srgbClr val="0F172A"/>
            </a:solidFill>
            <a:prstDash val="solid"/>
          </a:ln>
        </p:spPr>
      </p:sp>
      <p:sp>
        <p:nvSpPr>
          <p:cNvPr id="40" name="">
            <a:extLst xmlns:a="http://schemas.openxmlformats.org/drawingml/2006/main">
              <a:ext uri="{FF2B5EF4-FFF2-40B4-BE49-F238E27FC236}">
                <a16:creationId xmlns:a16="http://schemas.microsoft.com/office/drawing/2014/main" id="{9CA02F04-4791-40BB-8B3D-FE548481E633}"/>
              </a:ext>
            </a:extLst>
          </p:cNvPr>
          <p:cNvSpPr>
            <a:spLocks xmlns:a="http://schemas.openxmlformats.org/drawingml/2006/main" noGrp="1"/>
          </p:cNvSpPr>
          <p:nvPr/>
        </p:nvSpPr>
        <p:spPr>
          <a:xfrm xmlns:a="http://schemas.openxmlformats.org/drawingml/2006/main">
            <a:off x="876300" y="5334000"/>
            <a:ext cx="2000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99F6E4"/>
                </a:solidFill>
                <a:latin typeface="Aptos"/>
                <a:ea typeface="Aptos"/>
                <a:cs typeface="Aptos"/>
              </a:defRPr>
            </a:pPr>
            <a:r>
              <a:rPr sz="1125" b="1">
                <a:solidFill>
                  <a:srgbClr val="99F6E4"/>
                </a:solidFill>
                <a:latin typeface="Aptos"/>
                <a:ea typeface="Aptos"/>
                <a:cs typeface="Aptos"/>
              </a:rPr>
              <a:t>Applied-math value</a:t>
            </a:r>
          </a:p>
        </p:txBody>
      </p:sp>
      <p:sp>
        <p:nvSpPr>
          <p:cNvPr id="41" name="">
            <a:extLst xmlns:a="http://schemas.openxmlformats.org/drawingml/2006/main">
              <a:ext uri="{FF2B5EF4-FFF2-40B4-BE49-F238E27FC236}">
                <a16:creationId xmlns:a16="http://schemas.microsoft.com/office/drawing/2014/main" id="{F967242F-6FB2-45F7-AE32-48D2A81B95CC}"/>
              </a:ext>
            </a:extLst>
          </p:cNvPr>
          <p:cNvSpPr>
            <a:spLocks xmlns:a="http://schemas.openxmlformats.org/drawingml/2006/main" noGrp="1"/>
          </p:cNvSpPr>
          <p:nvPr/>
        </p:nvSpPr>
        <p:spPr>
          <a:xfrm xmlns:a="http://schemas.openxmlformats.org/drawingml/2006/main">
            <a:off x="2857500" y="5314950"/>
            <a:ext cx="7429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The formulas connect product behavior to measurable parameters: corpus size |C|, vector dimension d, retrieval depth k, agent count |Vagent|, pending approvals, latency, and run quality.</a:t>
            </a:r>
          </a:p>
        </p:txBody>
      </p:sp>
    </p:spTree>
    <p:extLst>
      <p:ext uri="{BB962C8B-B14F-4D97-AF65-F5344CB8AC3E}">
        <p14:creationId xmlns:p14="http://schemas.microsoft.com/office/powerpoint/2010/main" val="5401845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14C8896-D1D4-4072-B8D3-EF021A18F0A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0ED0B5F-7DAC-4BD6-9012-AACE9C6216E1}"/>
              </a:ext>
            </a:extLst>
          </p:cNvPr>
          <p:cNvSpPr>
            <a:spLocks xmlns:a="http://schemas.openxmlformats.org/drawingml/2006/main" noGrp="1"/>
          </p:cNvSpPr>
          <p:nvPr/>
        </p:nvSpPr>
        <p:spPr>
          <a:xfrm xmlns:a="http://schemas.openxmlformats.org/drawingml/2006/main">
            <a:off x="0" y="76200"/>
            <a:ext cx="12192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8B32679-B9D1-47E3-A31C-44154B8C1003}"/>
              </a:ext>
            </a:extLst>
          </p:cNvPr>
          <p:cNvSpPr>
            <a:spLocks xmlns:a="http://schemas.openxmlformats.org/drawingml/2006/main" noGrp="1"/>
          </p:cNvSpPr>
          <p:nvPr/>
        </p:nvSpPr>
        <p:spPr>
          <a:xfrm xmlns:a="http://schemas.openxmlformats.org/drawingml/2006/main">
            <a:off x="514350" y="6419850"/>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ModelWeave | Service-oriented architecture for scalable LLM use</a:t>
            </a:r>
          </a:p>
        </p:txBody>
      </p:sp>
      <p:sp>
        <p:nvSpPr>
          <p:cNvPr id="4" name="">
            <a:extLst xmlns:a="http://schemas.openxmlformats.org/drawingml/2006/main">
              <a:ext uri="{FF2B5EF4-FFF2-40B4-BE49-F238E27FC236}">
                <a16:creationId xmlns:a16="http://schemas.microsoft.com/office/drawing/2014/main" id="{CED1D75B-1633-42FB-8FEB-F36EDD5E729A}"/>
              </a:ext>
            </a:extLst>
          </p:cNvPr>
          <p:cNvSpPr>
            <a:spLocks xmlns:a="http://schemas.openxmlformats.org/drawingml/2006/main" noGrp="1"/>
          </p:cNvSpPr>
          <p:nvPr/>
        </p:nvSpPr>
        <p:spPr>
          <a:xfrm xmlns:a="http://schemas.openxmlformats.org/drawingml/2006/main">
            <a:off x="11239500" y="64198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7</a:t>
            </a:r>
          </a:p>
        </p:txBody>
      </p:sp>
      <p:sp>
        <p:nvSpPr>
          <p:cNvPr id="5" name="">
            <a:extLst xmlns:a="http://schemas.openxmlformats.org/drawingml/2006/main">
              <a:ext uri="{FF2B5EF4-FFF2-40B4-BE49-F238E27FC236}">
                <a16:creationId xmlns:a16="http://schemas.microsoft.com/office/drawing/2014/main" id="{B6384F90-B46D-4AA6-8F93-05224021E664}"/>
              </a:ext>
            </a:extLst>
          </p:cNvPr>
          <p:cNvSpPr>
            <a:spLocks xmlns:a="http://schemas.openxmlformats.org/drawingml/2006/main" noGrp="1"/>
          </p:cNvSpPr>
          <p:nvPr/>
        </p:nvSpPr>
        <p:spPr>
          <a:xfrm xmlns:a="http://schemas.openxmlformats.org/drawingml/2006/main">
            <a:off x="9144000" y="64198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Algorithm scheme</a:t>
            </a:r>
          </a:p>
        </p:txBody>
      </p:sp>
      <p:sp>
        <p:nvSpPr>
          <p:cNvPr id="6" name="">
            <a:extLst xmlns:a="http://schemas.openxmlformats.org/drawingml/2006/main">
              <a:ext uri="{FF2B5EF4-FFF2-40B4-BE49-F238E27FC236}">
                <a16:creationId xmlns:a16="http://schemas.microsoft.com/office/drawing/2014/main" id="{FFA28270-A53F-4F2F-96DF-7350501D2444}"/>
              </a:ext>
            </a:extLst>
          </p:cNvPr>
          <p:cNvSpPr>
            <a:spLocks xmlns:a="http://schemas.openxmlformats.org/drawingml/2006/main" noGrp="1"/>
          </p:cNvSpPr>
          <p:nvPr/>
        </p:nvSpPr>
        <p:spPr>
          <a:xfrm xmlns:a="http://schemas.openxmlformats.org/drawingml/2006/main">
            <a:off x="609600" y="4191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STRUCTURAL SCHEME OF THE SOFTWARE ALGORITHM</a:t>
            </a:r>
          </a:p>
        </p:txBody>
      </p:sp>
      <p:sp>
        <p:nvSpPr>
          <p:cNvPr id="7" name="">
            <a:extLst xmlns:a="http://schemas.openxmlformats.org/drawingml/2006/main">
              <a:ext uri="{FF2B5EF4-FFF2-40B4-BE49-F238E27FC236}">
                <a16:creationId xmlns:a16="http://schemas.microsoft.com/office/drawing/2014/main" id="{0981F494-B148-4DF8-989B-38E3A5D5132B}"/>
              </a:ext>
            </a:extLst>
          </p:cNvPr>
          <p:cNvSpPr>
            <a:spLocks xmlns:a="http://schemas.openxmlformats.org/drawingml/2006/main" noGrp="1"/>
          </p:cNvSpPr>
          <p:nvPr/>
        </p:nvSpPr>
        <p:spPr>
          <a:xfrm xmlns:a="http://schemas.openxmlformats.org/drawingml/2006/main">
            <a:off x="609600" y="685800"/>
            <a:ext cx="7810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Documents become retrievable context; agents turn context into approval-gated tasks and reports</a:t>
            </a:r>
          </a:p>
        </p:txBody>
      </p:sp>
      <p:sp>
        <p:nvSpPr>
          <p:cNvPr id="8" name="">
            <a:extLst xmlns:a="http://schemas.openxmlformats.org/drawingml/2006/main">
              <a:ext uri="{FF2B5EF4-FFF2-40B4-BE49-F238E27FC236}">
                <a16:creationId xmlns:a16="http://schemas.microsoft.com/office/drawing/2014/main" id="{747A3C36-28DB-4148-803D-9737FF0DC4D4}"/>
              </a:ext>
            </a:extLst>
          </p:cNvPr>
          <p:cNvSpPr>
            <a:spLocks xmlns:a="http://schemas.openxmlformats.org/drawingml/2006/main" noGrp="1"/>
          </p:cNvSpPr>
          <p:nvPr/>
        </p:nvSpPr>
        <p:spPr>
          <a:xfrm xmlns:a="http://schemas.openxmlformats.org/drawingml/2006/main">
            <a:off x="514350" y="1504950"/>
            <a:ext cx="5810250" cy="32194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9525">
            <a:solidFill>
              <a:srgbClr val="CBD5E1"/>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82cda102506427a"/>
          <a:stretch xmlns:a="http://schemas.openxmlformats.org/drawingml/2006/main"/>
        </p:blipFill>
        <p:spPr>
          <a:xfrm xmlns:a="http://schemas.openxmlformats.org/drawingml/2006/main">
            <a:off x="713254" y="1581150"/>
            <a:ext cx="5412441" cy="30670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DA250FC-A53D-4ABF-9CF4-DCE77D7A4D92}"/>
              </a:ext>
            </a:extLst>
          </p:cNvPr>
          <p:cNvSpPr>
            <a:spLocks xmlns:a="http://schemas.openxmlformats.org/drawingml/2006/main" noGrp="1"/>
          </p:cNvSpPr>
          <p:nvPr/>
        </p:nvSpPr>
        <p:spPr>
          <a:xfrm xmlns:a="http://schemas.openxmlformats.org/drawingml/2006/main">
            <a:off x="6705600" y="1504950"/>
            <a:ext cx="4762500" cy="21336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9525">
            <a:solidFill>
              <a:srgbClr val="CBD5E1"/>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cf40d039b3a4c4a"/>
          <a:stretch xmlns:a="http://schemas.openxmlformats.org/drawingml/2006/main"/>
        </p:blipFill>
        <p:spPr>
          <a:xfrm xmlns:a="http://schemas.openxmlformats.org/drawingml/2006/main">
            <a:off x="8090123" y="1581150"/>
            <a:ext cx="1993455" cy="19812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239C32F-EB36-4162-8DAD-C5EA6960315A}"/>
              </a:ext>
            </a:extLst>
          </p:cNvPr>
          <p:cNvSpPr>
            <a:spLocks xmlns:a="http://schemas.openxmlformats.org/drawingml/2006/main" noGrp="1"/>
          </p:cNvSpPr>
          <p:nvPr/>
        </p:nvSpPr>
        <p:spPr>
          <a:xfrm xmlns:a="http://schemas.openxmlformats.org/drawingml/2006/main">
            <a:off x="6705600" y="3867150"/>
            <a:ext cx="4762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BD5E1"/>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1f11cbd94564ce4"/>
          <a:stretch xmlns:a="http://schemas.openxmlformats.org/drawingml/2006/main"/>
        </p:blipFill>
        <p:spPr>
          <a:xfrm xmlns:a="http://schemas.openxmlformats.org/drawingml/2006/main">
            <a:off x="7679111" y="3943350"/>
            <a:ext cx="2815478" cy="12763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AD7A140-D6BB-4F2D-9726-F15FCDF4FFAE}"/>
              </a:ext>
            </a:extLst>
          </p:cNvPr>
          <p:cNvSpPr>
            <a:spLocks xmlns:a="http://schemas.openxmlformats.org/drawingml/2006/main" noGrp="1"/>
          </p:cNvSpPr>
          <p:nvPr/>
        </p:nvSpPr>
        <p:spPr>
          <a:xfrm xmlns:a="http://schemas.openxmlformats.org/drawingml/2006/main">
            <a:off x="609600" y="5334000"/>
            <a:ext cx="10477500" cy="742950"/>
          </a:xfrm>
          <a:prstGeom xmlns:a="http://schemas.openxmlformats.org/drawingml/2006/main" prst="roundRect">
            <a:avLst>
              <a:gd name="adj" fmla="val 10256"/>
            </a:avLst>
          </a:prstGeom>
          <a:solidFill xmlns:a="http://schemas.openxmlformats.org/drawingml/2006/main">
            <a:srgbClr val="F8FAFC"/>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40FF2F21-8578-422B-ABA4-FA1D67FF1FDB}"/>
              </a:ext>
            </a:extLst>
          </p:cNvPr>
          <p:cNvSpPr>
            <a:spLocks xmlns:a="http://schemas.openxmlformats.org/drawingml/2006/main" noGrp="1"/>
          </p:cNvSpPr>
          <p:nvPr/>
        </p:nvSpPr>
        <p:spPr>
          <a:xfrm xmlns:a="http://schemas.openxmlformats.org/drawingml/2006/main">
            <a:off x="876300" y="5467350"/>
            <a:ext cx="990600" cy="514350"/>
          </a:xfrm>
          <a:prstGeom xmlns:a="http://schemas.openxmlformats.org/drawingml/2006/main" prst="roundRect">
            <a:avLst>
              <a:gd name="adj" fmla="val 14815"/>
            </a:avLst>
          </a:prstGeom>
          <a:solidFill xmlns:a="http://schemas.openxmlformats.org/drawingml/2006/main">
            <a:srgbClr val="CCFBF1"/>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A75676F0-379E-4CE6-9A64-61BF62ED3708}"/>
              </a:ext>
            </a:extLst>
          </p:cNvPr>
          <p:cNvSpPr>
            <a:spLocks xmlns:a="http://schemas.openxmlformats.org/drawingml/2006/main" noGrp="1"/>
          </p:cNvSpPr>
          <p:nvPr/>
        </p:nvSpPr>
        <p:spPr>
          <a:xfrm xmlns:a="http://schemas.openxmlformats.org/drawingml/2006/main">
            <a:off x="952500" y="5581650"/>
            <a:ext cx="838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Auth</a:t>
            </a:r>
          </a:p>
        </p:txBody>
      </p:sp>
      <p:sp>
        <p:nvSpPr>
          <p:cNvPr id="17" name="">
            <a:extLst xmlns:a="http://schemas.openxmlformats.org/drawingml/2006/main">
              <a:ext uri="{FF2B5EF4-FFF2-40B4-BE49-F238E27FC236}">
                <a16:creationId xmlns:a16="http://schemas.microsoft.com/office/drawing/2014/main" id="{878CB0FC-E1C7-4E1A-B189-FEC79F064EE8}"/>
              </a:ext>
            </a:extLst>
          </p:cNvPr>
          <p:cNvSpPr>
            <a:spLocks xmlns:a="http://schemas.openxmlformats.org/drawingml/2006/main" noGrp="1"/>
          </p:cNvSpPr>
          <p:nvPr/>
        </p:nvSpPr>
        <p:spPr>
          <a:xfrm xmlns:a="http://schemas.openxmlformats.org/drawingml/2006/main">
            <a:off x="1905000" y="5695950"/>
            <a:ext cx="238125"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8ABD7EE-294A-44DE-8506-4D74BF318872}"/>
              </a:ext>
            </a:extLst>
          </p:cNvPr>
          <p:cNvSpPr>
            <a:spLocks xmlns:a="http://schemas.openxmlformats.org/drawingml/2006/main" noGrp="1"/>
          </p:cNvSpPr>
          <p:nvPr/>
        </p:nvSpPr>
        <p:spPr>
          <a:xfrm xmlns:a="http://schemas.openxmlformats.org/drawingml/2006/main">
            <a:off x="2152650" y="5467350"/>
            <a:ext cx="990600" cy="514350"/>
          </a:xfrm>
          <a:prstGeom xmlns:a="http://schemas.openxmlformats.org/drawingml/2006/main" prst="roundRect">
            <a:avLst>
              <a:gd name="adj" fmla="val 14815"/>
            </a:avLst>
          </a:prstGeom>
          <a:solidFill xmlns:a="http://schemas.openxmlformats.org/drawingml/2006/main">
            <a:srgbClr val="DBEAFE"/>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0C6C8993-7091-432E-892C-EC6B19F6CA35}"/>
              </a:ext>
            </a:extLst>
          </p:cNvPr>
          <p:cNvSpPr>
            <a:spLocks xmlns:a="http://schemas.openxmlformats.org/drawingml/2006/main" noGrp="1"/>
          </p:cNvSpPr>
          <p:nvPr/>
        </p:nvSpPr>
        <p:spPr>
          <a:xfrm xmlns:a="http://schemas.openxmlformats.org/drawingml/2006/main">
            <a:off x="2228850" y="5581650"/>
            <a:ext cx="838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Documents</a:t>
            </a:r>
          </a:p>
        </p:txBody>
      </p:sp>
      <p:sp>
        <p:nvSpPr>
          <p:cNvPr id="20" name="">
            <a:extLst xmlns:a="http://schemas.openxmlformats.org/drawingml/2006/main">
              <a:ext uri="{FF2B5EF4-FFF2-40B4-BE49-F238E27FC236}">
                <a16:creationId xmlns:a16="http://schemas.microsoft.com/office/drawing/2014/main" id="{41A0D658-2FEC-4461-99D8-7599858E216D}"/>
              </a:ext>
            </a:extLst>
          </p:cNvPr>
          <p:cNvSpPr>
            <a:spLocks xmlns:a="http://schemas.openxmlformats.org/drawingml/2006/main" noGrp="1"/>
          </p:cNvSpPr>
          <p:nvPr/>
        </p:nvSpPr>
        <p:spPr>
          <a:xfrm xmlns:a="http://schemas.openxmlformats.org/drawingml/2006/main">
            <a:off x="3181350" y="5695950"/>
            <a:ext cx="238125"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56652A8-67A0-479A-BB03-02606B299368}"/>
              </a:ext>
            </a:extLst>
          </p:cNvPr>
          <p:cNvSpPr>
            <a:spLocks xmlns:a="http://schemas.openxmlformats.org/drawingml/2006/main" noGrp="1"/>
          </p:cNvSpPr>
          <p:nvPr/>
        </p:nvSpPr>
        <p:spPr>
          <a:xfrm xmlns:a="http://schemas.openxmlformats.org/drawingml/2006/main">
            <a:off x="3429000" y="5467350"/>
            <a:ext cx="990600" cy="514350"/>
          </a:xfrm>
          <a:prstGeom xmlns:a="http://schemas.openxmlformats.org/drawingml/2006/main" prst="roundRect">
            <a:avLst>
              <a:gd name="adj" fmla="val 14815"/>
            </a:avLst>
          </a:prstGeom>
          <a:solidFill xmlns:a="http://schemas.openxmlformats.org/drawingml/2006/main">
            <a:srgbClr val="CCFBF1"/>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ABA3B12A-B896-4F41-BD22-3F30FEAE3F5D}"/>
              </a:ext>
            </a:extLst>
          </p:cNvPr>
          <p:cNvSpPr>
            <a:spLocks xmlns:a="http://schemas.openxmlformats.org/drawingml/2006/main" noGrp="1"/>
          </p:cNvSpPr>
          <p:nvPr/>
        </p:nvSpPr>
        <p:spPr>
          <a:xfrm xmlns:a="http://schemas.openxmlformats.org/drawingml/2006/main">
            <a:off x="3505200" y="5581650"/>
            <a:ext cx="838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Chunks</a:t>
            </a:r>
          </a:p>
        </p:txBody>
      </p:sp>
      <p:sp>
        <p:nvSpPr>
          <p:cNvPr id="23" name="">
            <a:extLst xmlns:a="http://schemas.openxmlformats.org/drawingml/2006/main">
              <a:ext uri="{FF2B5EF4-FFF2-40B4-BE49-F238E27FC236}">
                <a16:creationId xmlns:a16="http://schemas.microsoft.com/office/drawing/2014/main" id="{C9BFC7EC-9676-4F61-BDEB-BF40CF22B80F}"/>
              </a:ext>
            </a:extLst>
          </p:cNvPr>
          <p:cNvSpPr>
            <a:spLocks xmlns:a="http://schemas.openxmlformats.org/drawingml/2006/main" noGrp="1"/>
          </p:cNvSpPr>
          <p:nvPr/>
        </p:nvSpPr>
        <p:spPr>
          <a:xfrm xmlns:a="http://schemas.openxmlformats.org/drawingml/2006/main">
            <a:off x="4457700" y="5695950"/>
            <a:ext cx="238125"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A670365E-55F6-4A65-AD44-A9F349C4C076}"/>
              </a:ext>
            </a:extLst>
          </p:cNvPr>
          <p:cNvSpPr>
            <a:spLocks xmlns:a="http://schemas.openxmlformats.org/drawingml/2006/main" noGrp="1"/>
          </p:cNvSpPr>
          <p:nvPr/>
        </p:nvSpPr>
        <p:spPr>
          <a:xfrm xmlns:a="http://schemas.openxmlformats.org/drawingml/2006/main">
            <a:off x="4705350" y="5467350"/>
            <a:ext cx="990600" cy="514350"/>
          </a:xfrm>
          <a:prstGeom xmlns:a="http://schemas.openxmlformats.org/drawingml/2006/main" prst="roundRect">
            <a:avLst>
              <a:gd name="adj" fmla="val 14815"/>
            </a:avLst>
          </a:prstGeom>
          <a:solidFill xmlns:a="http://schemas.openxmlformats.org/drawingml/2006/main">
            <a:srgbClr val="DBEAFE"/>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67D46DD4-C2D5-422A-AB6F-62DDC5C88DB9}"/>
              </a:ext>
            </a:extLst>
          </p:cNvPr>
          <p:cNvSpPr>
            <a:spLocks xmlns:a="http://schemas.openxmlformats.org/drawingml/2006/main" noGrp="1"/>
          </p:cNvSpPr>
          <p:nvPr/>
        </p:nvSpPr>
        <p:spPr>
          <a:xfrm xmlns:a="http://schemas.openxmlformats.org/drawingml/2006/main">
            <a:off x="4781550" y="5581650"/>
            <a:ext cx="838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Vectors</a:t>
            </a:r>
          </a:p>
        </p:txBody>
      </p:sp>
      <p:sp>
        <p:nvSpPr>
          <p:cNvPr id="26" name="">
            <a:extLst xmlns:a="http://schemas.openxmlformats.org/drawingml/2006/main">
              <a:ext uri="{FF2B5EF4-FFF2-40B4-BE49-F238E27FC236}">
                <a16:creationId xmlns:a16="http://schemas.microsoft.com/office/drawing/2014/main" id="{4DB175CF-3400-4152-9EE9-73BF1A3C798D}"/>
              </a:ext>
            </a:extLst>
          </p:cNvPr>
          <p:cNvSpPr>
            <a:spLocks xmlns:a="http://schemas.openxmlformats.org/drawingml/2006/main" noGrp="1"/>
          </p:cNvSpPr>
          <p:nvPr/>
        </p:nvSpPr>
        <p:spPr>
          <a:xfrm xmlns:a="http://schemas.openxmlformats.org/drawingml/2006/main">
            <a:off x="5734050" y="5695950"/>
            <a:ext cx="238125"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E7BD748E-8722-45A2-A5E1-574ED36E1DBB}"/>
              </a:ext>
            </a:extLst>
          </p:cNvPr>
          <p:cNvSpPr>
            <a:spLocks xmlns:a="http://schemas.openxmlformats.org/drawingml/2006/main" noGrp="1"/>
          </p:cNvSpPr>
          <p:nvPr/>
        </p:nvSpPr>
        <p:spPr>
          <a:xfrm xmlns:a="http://schemas.openxmlformats.org/drawingml/2006/main">
            <a:off x="5981700" y="5467350"/>
            <a:ext cx="990600" cy="514350"/>
          </a:xfrm>
          <a:prstGeom xmlns:a="http://schemas.openxmlformats.org/drawingml/2006/main" prst="roundRect">
            <a:avLst>
              <a:gd name="adj" fmla="val 14815"/>
            </a:avLst>
          </a:prstGeom>
          <a:solidFill xmlns:a="http://schemas.openxmlformats.org/drawingml/2006/main">
            <a:srgbClr val="CCFBF1"/>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49BABE2E-CF9C-4E63-8C37-8BA419B93C45}"/>
              </a:ext>
            </a:extLst>
          </p:cNvPr>
          <p:cNvSpPr>
            <a:spLocks xmlns:a="http://schemas.openxmlformats.org/drawingml/2006/main" noGrp="1"/>
          </p:cNvSpPr>
          <p:nvPr/>
        </p:nvSpPr>
        <p:spPr>
          <a:xfrm xmlns:a="http://schemas.openxmlformats.org/drawingml/2006/main">
            <a:off x="6057900" y="5581650"/>
            <a:ext cx="838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Retrieve</a:t>
            </a:r>
          </a:p>
        </p:txBody>
      </p:sp>
      <p:sp>
        <p:nvSpPr>
          <p:cNvPr id="29" name="">
            <a:extLst xmlns:a="http://schemas.openxmlformats.org/drawingml/2006/main">
              <a:ext uri="{FF2B5EF4-FFF2-40B4-BE49-F238E27FC236}">
                <a16:creationId xmlns:a16="http://schemas.microsoft.com/office/drawing/2014/main" id="{EE7C8C8D-82E6-4ED7-8D05-3B89C2295060}"/>
              </a:ext>
            </a:extLst>
          </p:cNvPr>
          <p:cNvSpPr>
            <a:spLocks xmlns:a="http://schemas.openxmlformats.org/drawingml/2006/main" noGrp="1"/>
          </p:cNvSpPr>
          <p:nvPr/>
        </p:nvSpPr>
        <p:spPr>
          <a:xfrm xmlns:a="http://schemas.openxmlformats.org/drawingml/2006/main">
            <a:off x="7010400" y="5695950"/>
            <a:ext cx="238125"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F9DF01B2-EC5F-4C31-AA85-E8C8B06B0022}"/>
              </a:ext>
            </a:extLst>
          </p:cNvPr>
          <p:cNvSpPr>
            <a:spLocks xmlns:a="http://schemas.openxmlformats.org/drawingml/2006/main" noGrp="1"/>
          </p:cNvSpPr>
          <p:nvPr/>
        </p:nvSpPr>
        <p:spPr>
          <a:xfrm xmlns:a="http://schemas.openxmlformats.org/drawingml/2006/main">
            <a:off x="7258050" y="5467350"/>
            <a:ext cx="990600" cy="514350"/>
          </a:xfrm>
          <a:prstGeom xmlns:a="http://schemas.openxmlformats.org/drawingml/2006/main" prst="roundRect">
            <a:avLst>
              <a:gd name="adj" fmla="val 14815"/>
            </a:avLst>
          </a:prstGeom>
          <a:solidFill xmlns:a="http://schemas.openxmlformats.org/drawingml/2006/main">
            <a:srgbClr val="DBEAFE"/>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CC017E0C-585B-4DAC-AD3F-E7A0C7795E5F}"/>
              </a:ext>
            </a:extLst>
          </p:cNvPr>
          <p:cNvSpPr>
            <a:spLocks xmlns:a="http://schemas.openxmlformats.org/drawingml/2006/main" noGrp="1"/>
          </p:cNvSpPr>
          <p:nvPr/>
        </p:nvSpPr>
        <p:spPr>
          <a:xfrm xmlns:a="http://schemas.openxmlformats.org/drawingml/2006/main">
            <a:off x="7334250" y="5581650"/>
            <a:ext cx="838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Agents</a:t>
            </a:r>
          </a:p>
        </p:txBody>
      </p:sp>
      <p:sp>
        <p:nvSpPr>
          <p:cNvPr id="32" name="">
            <a:extLst xmlns:a="http://schemas.openxmlformats.org/drawingml/2006/main">
              <a:ext uri="{FF2B5EF4-FFF2-40B4-BE49-F238E27FC236}">
                <a16:creationId xmlns:a16="http://schemas.microsoft.com/office/drawing/2014/main" id="{F4AECA6F-4421-4EEC-8F20-4AF11F1771B5}"/>
              </a:ext>
            </a:extLst>
          </p:cNvPr>
          <p:cNvSpPr>
            <a:spLocks xmlns:a="http://schemas.openxmlformats.org/drawingml/2006/main" noGrp="1"/>
          </p:cNvSpPr>
          <p:nvPr/>
        </p:nvSpPr>
        <p:spPr>
          <a:xfrm xmlns:a="http://schemas.openxmlformats.org/drawingml/2006/main">
            <a:off x="8286750" y="5695950"/>
            <a:ext cx="238125"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CBCFB1C7-955E-48EF-80B2-806F462A8B9B}"/>
              </a:ext>
            </a:extLst>
          </p:cNvPr>
          <p:cNvSpPr>
            <a:spLocks xmlns:a="http://schemas.openxmlformats.org/drawingml/2006/main" noGrp="1"/>
          </p:cNvSpPr>
          <p:nvPr/>
        </p:nvSpPr>
        <p:spPr>
          <a:xfrm xmlns:a="http://schemas.openxmlformats.org/drawingml/2006/main">
            <a:off x="8534400" y="5467350"/>
            <a:ext cx="990600" cy="514350"/>
          </a:xfrm>
          <a:prstGeom xmlns:a="http://schemas.openxmlformats.org/drawingml/2006/main" prst="roundRect">
            <a:avLst>
              <a:gd name="adj" fmla="val 14815"/>
            </a:avLst>
          </a:prstGeom>
          <a:solidFill xmlns:a="http://schemas.openxmlformats.org/drawingml/2006/main">
            <a:srgbClr val="CCFBF1"/>
          </a:solidFill>
          <a:ln xmlns:a="http://schemas.openxmlformats.org/drawingml/2006/main" w="9525">
            <a:solidFill>
              <a:srgbClr val="CBD5E1"/>
            </a:solidFill>
            <a:prstDash val="solid"/>
          </a:ln>
        </p:spPr>
      </p:sp>
      <p:sp>
        <p:nvSpPr>
          <p:cNvPr id="34" name="">
            <a:extLst xmlns:a="http://schemas.openxmlformats.org/drawingml/2006/main">
              <a:ext uri="{FF2B5EF4-FFF2-40B4-BE49-F238E27FC236}">
                <a16:creationId xmlns:a16="http://schemas.microsoft.com/office/drawing/2014/main" id="{2C77D4FA-B3CF-4C7C-895C-6E0103AD5C5A}"/>
              </a:ext>
            </a:extLst>
          </p:cNvPr>
          <p:cNvSpPr>
            <a:spLocks xmlns:a="http://schemas.openxmlformats.org/drawingml/2006/main" noGrp="1"/>
          </p:cNvSpPr>
          <p:nvPr/>
        </p:nvSpPr>
        <p:spPr>
          <a:xfrm xmlns:a="http://schemas.openxmlformats.org/drawingml/2006/main">
            <a:off x="8610600" y="5581650"/>
            <a:ext cx="838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Approve</a:t>
            </a:r>
          </a:p>
        </p:txBody>
      </p:sp>
      <p:sp>
        <p:nvSpPr>
          <p:cNvPr id="35" name="">
            <a:extLst xmlns:a="http://schemas.openxmlformats.org/drawingml/2006/main">
              <a:ext uri="{FF2B5EF4-FFF2-40B4-BE49-F238E27FC236}">
                <a16:creationId xmlns:a16="http://schemas.microsoft.com/office/drawing/2014/main" id="{9275C975-D83B-418D-8059-77105F4CE3C4}"/>
              </a:ext>
            </a:extLst>
          </p:cNvPr>
          <p:cNvSpPr>
            <a:spLocks xmlns:a="http://schemas.openxmlformats.org/drawingml/2006/main" noGrp="1"/>
          </p:cNvSpPr>
          <p:nvPr/>
        </p:nvSpPr>
        <p:spPr>
          <a:xfrm xmlns:a="http://schemas.openxmlformats.org/drawingml/2006/main">
            <a:off x="9563100" y="5695950"/>
            <a:ext cx="238125" cy="3810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B95FA99A-3BBA-4106-A710-FBAC8FE00855}"/>
              </a:ext>
            </a:extLst>
          </p:cNvPr>
          <p:cNvSpPr>
            <a:spLocks xmlns:a="http://schemas.openxmlformats.org/drawingml/2006/main" noGrp="1"/>
          </p:cNvSpPr>
          <p:nvPr/>
        </p:nvSpPr>
        <p:spPr>
          <a:xfrm xmlns:a="http://schemas.openxmlformats.org/drawingml/2006/main">
            <a:off x="9810750" y="5467350"/>
            <a:ext cx="990600" cy="514350"/>
          </a:xfrm>
          <a:prstGeom xmlns:a="http://schemas.openxmlformats.org/drawingml/2006/main" prst="roundRect">
            <a:avLst>
              <a:gd name="adj" fmla="val 14815"/>
            </a:avLst>
          </a:prstGeom>
          <a:solidFill xmlns:a="http://schemas.openxmlformats.org/drawingml/2006/main">
            <a:srgbClr val="DBEAFE"/>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B4C8D777-9266-4DC8-BA16-5CF0FEA79B7A}"/>
              </a:ext>
            </a:extLst>
          </p:cNvPr>
          <p:cNvSpPr>
            <a:spLocks xmlns:a="http://schemas.openxmlformats.org/drawingml/2006/main" noGrp="1"/>
          </p:cNvSpPr>
          <p:nvPr/>
        </p:nvSpPr>
        <p:spPr>
          <a:xfrm xmlns:a="http://schemas.openxmlformats.org/drawingml/2006/main">
            <a:off x="9886950" y="5581650"/>
            <a:ext cx="838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F172A"/>
                </a:solidFill>
                <a:latin typeface="Aptos"/>
                <a:ea typeface="Aptos"/>
                <a:cs typeface="Aptos"/>
              </a:defRPr>
            </a:pPr>
            <a:r>
              <a:rPr sz="975" b="1">
                <a:solidFill>
                  <a:srgbClr val="0F172A"/>
                </a:solidFill>
                <a:latin typeface="Aptos"/>
                <a:ea typeface="Aptos"/>
                <a:cs typeface="Aptos"/>
              </a:rPr>
              <a:t>DOCX</a:t>
            </a:r>
          </a:p>
        </p:txBody>
      </p:sp>
      <p:sp>
        <p:nvSpPr>
          <p:cNvPr id="38" name="">
            <a:extLst xmlns:a="http://schemas.openxmlformats.org/drawingml/2006/main">
              <a:ext uri="{FF2B5EF4-FFF2-40B4-BE49-F238E27FC236}">
                <a16:creationId xmlns:a16="http://schemas.microsoft.com/office/drawing/2014/main" id="{84901917-5F31-4C66-B722-747F85FA7903}"/>
              </a:ext>
            </a:extLst>
          </p:cNvPr>
          <p:cNvSpPr>
            <a:spLocks xmlns:a="http://schemas.openxmlformats.org/drawingml/2006/main" noGrp="1"/>
          </p:cNvSpPr>
          <p:nvPr/>
        </p:nvSpPr>
        <p:spPr>
          <a:xfrm xmlns:a="http://schemas.openxmlformats.org/drawingml/2006/main">
            <a:off x="876300" y="609600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Main execution path</a:t>
            </a:r>
          </a:p>
        </p:txBody>
      </p:sp>
    </p:spTree>
    <p:extLst>
      <p:ext uri="{BB962C8B-B14F-4D97-AF65-F5344CB8AC3E}">
        <p14:creationId xmlns:p14="http://schemas.microsoft.com/office/powerpoint/2010/main" val="5047821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F65B5F-D3F0-4390-A003-4F0EC77B4AB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E408044-3AEF-4187-94D8-CBBCE78DFDBE}"/>
              </a:ext>
            </a:extLst>
          </p:cNvPr>
          <p:cNvSpPr>
            <a:spLocks xmlns:a="http://schemas.openxmlformats.org/drawingml/2006/main" noGrp="1"/>
          </p:cNvSpPr>
          <p:nvPr/>
        </p:nvSpPr>
        <p:spPr>
          <a:xfrm xmlns:a="http://schemas.openxmlformats.org/drawingml/2006/main">
            <a:off x="0" y="76200"/>
            <a:ext cx="12192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B59F489-2450-4351-93E7-1F0F55E21789}"/>
              </a:ext>
            </a:extLst>
          </p:cNvPr>
          <p:cNvSpPr>
            <a:spLocks xmlns:a="http://schemas.openxmlformats.org/drawingml/2006/main" noGrp="1"/>
          </p:cNvSpPr>
          <p:nvPr/>
        </p:nvSpPr>
        <p:spPr>
          <a:xfrm xmlns:a="http://schemas.openxmlformats.org/drawingml/2006/main">
            <a:off x="514350" y="6419850"/>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ModelWeave | Service-oriented architecture for scalable LLM use</a:t>
            </a:r>
          </a:p>
        </p:txBody>
      </p:sp>
      <p:sp>
        <p:nvSpPr>
          <p:cNvPr id="4" name="">
            <a:extLst xmlns:a="http://schemas.openxmlformats.org/drawingml/2006/main">
              <a:ext uri="{FF2B5EF4-FFF2-40B4-BE49-F238E27FC236}">
                <a16:creationId xmlns:a16="http://schemas.microsoft.com/office/drawing/2014/main" id="{3E0503F6-A2DE-427E-801F-6FA8E1513E71}"/>
              </a:ext>
            </a:extLst>
          </p:cNvPr>
          <p:cNvSpPr>
            <a:spLocks xmlns:a="http://schemas.openxmlformats.org/drawingml/2006/main" noGrp="1"/>
          </p:cNvSpPr>
          <p:nvPr/>
        </p:nvSpPr>
        <p:spPr>
          <a:xfrm xmlns:a="http://schemas.openxmlformats.org/drawingml/2006/main">
            <a:off x="11239500" y="64198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8</a:t>
            </a:r>
          </a:p>
        </p:txBody>
      </p:sp>
      <p:sp>
        <p:nvSpPr>
          <p:cNvPr id="5" name="">
            <a:extLst xmlns:a="http://schemas.openxmlformats.org/drawingml/2006/main">
              <a:ext uri="{FF2B5EF4-FFF2-40B4-BE49-F238E27FC236}">
                <a16:creationId xmlns:a16="http://schemas.microsoft.com/office/drawing/2014/main" id="{0A65395A-31CB-4022-86E5-43D87AB8FC9A}"/>
              </a:ext>
            </a:extLst>
          </p:cNvPr>
          <p:cNvSpPr>
            <a:spLocks xmlns:a="http://schemas.openxmlformats.org/drawingml/2006/main" noGrp="1"/>
          </p:cNvSpPr>
          <p:nvPr/>
        </p:nvSpPr>
        <p:spPr>
          <a:xfrm xmlns:a="http://schemas.openxmlformats.org/drawingml/2006/main">
            <a:off x="9144000" y="64198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Results</a:t>
            </a:r>
          </a:p>
        </p:txBody>
      </p:sp>
      <p:sp>
        <p:nvSpPr>
          <p:cNvPr id="6" name="">
            <a:extLst xmlns:a="http://schemas.openxmlformats.org/drawingml/2006/main">
              <a:ext uri="{FF2B5EF4-FFF2-40B4-BE49-F238E27FC236}">
                <a16:creationId xmlns:a16="http://schemas.microsoft.com/office/drawing/2014/main" id="{9C1A6D55-8C37-4E31-9E15-9FB6D133A86D}"/>
              </a:ext>
            </a:extLst>
          </p:cNvPr>
          <p:cNvSpPr>
            <a:spLocks xmlns:a="http://schemas.openxmlformats.org/drawingml/2006/main" noGrp="1"/>
          </p:cNvSpPr>
          <p:nvPr/>
        </p:nvSpPr>
        <p:spPr>
          <a:xfrm xmlns:a="http://schemas.openxmlformats.org/drawingml/2006/main">
            <a:off x="609600" y="4191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RESULTS</a:t>
            </a:r>
          </a:p>
        </p:txBody>
      </p:sp>
      <p:sp>
        <p:nvSpPr>
          <p:cNvPr id="7" name="">
            <a:extLst xmlns:a="http://schemas.openxmlformats.org/drawingml/2006/main">
              <a:ext uri="{FF2B5EF4-FFF2-40B4-BE49-F238E27FC236}">
                <a16:creationId xmlns:a16="http://schemas.microsoft.com/office/drawing/2014/main" id="{0591BD11-B042-4504-B84C-3B9B39534ADF}"/>
              </a:ext>
            </a:extLst>
          </p:cNvPr>
          <p:cNvSpPr>
            <a:spLocks xmlns:a="http://schemas.openxmlformats.org/drawingml/2006/main" noGrp="1"/>
          </p:cNvSpPr>
          <p:nvPr/>
        </p:nvSpPr>
        <p:spPr>
          <a:xfrm xmlns:a="http://schemas.openxmlformats.org/drawingml/2006/main">
            <a:off x="609600" y="685800"/>
            <a:ext cx="7810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The thesis result is a deployed, tested full-stack prototype</a:t>
            </a:r>
          </a:p>
        </p:txBody>
      </p:sp>
      <p:sp>
        <p:nvSpPr>
          <p:cNvPr id="8" name="">
            <a:extLst xmlns:a="http://schemas.openxmlformats.org/drawingml/2006/main">
              <a:ext uri="{FF2B5EF4-FFF2-40B4-BE49-F238E27FC236}">
                <a16:creationId xmlns:a16="http://schemas.microsoft.com/office/drawing/2014/main" id="{5750C5FA-C486-4A1A-9FA4-506E2C376C0A}"/>
              </a:ext>
            </a:extLst>
          </p:cNvPr>
          <p:cNvSpPr>
            <a:spLocks xmlns:a="http://schemas.openxmlformats.org/drawingml/2006/main" noGrp="1"/>
          </p:cNvSpPr>
          <p:nvPr/>
        </p:nvSpPr>
        <p:spPr>
          <a:xfrm xmlns:a="http://schemas.openxmlformats.org/drawingml/2006/main">
            <a:off x="609600" y="1504950"/>
            <a:ext cx="14859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D55A4BC3-945F-4569-BACD-4B28D8AF73FE}"/>
              </a:ext>
            </a:extLst>
          </p:cNvPr>
          <p:cNvSpPr>
            <a:spLocks xmlns:a="http://schemas.openxmlformats.org/drawingml/2006/main" noGrp="1"/>
          </p:cNvSpPr>
          <p:nvPr/>
        </p:nvSpPr>
        <p:spPr>
          <a:xfrm xmlns:a="http://schemas.openxmlformats.org/drawingml/2006/main">
            <a:off x="781050" y="1676400"/>
            <a:ext cx="1143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766E"/>
                </a:solidFill>
                <a:latin typeface="Aptos Display"/>
                <a:ea typeface="Aptos Display"/>
                <a:cs typeface="Aptos Display"/>
              </a:defRPr>
            </a:pPr>
            <a:r>
              <a:rPr sz="2250" b="1">
                <a:solidFill>
                  <a:srgbClr val="0F766E"/>
                </a:solidFill>
                <a:latin typeface="Aptos Display"/>
                <a:ea typeface="Aptos Display"/>
                <a:cs typeface="Aptos Display"/>
              </a:rPr>
              <a:t>16</a:t>
            </a:r>
          </a:p>
        </p:txBody>
      </p:sp>
      <p:sp>
        <p:nvSpPr>
          <p:cNvPr id="10" name="">
            <a:extLst xmlns:a="http://schemas.openxmlformats.org/drawingml/2006/main">
              <a:ext uri="{FF2B5EF4-FFF2-40B4-BE49-F238E27FC236}">
                <a16:creationId xmlns:a16="http://schemas.microsoft.com/office/drawing/2014/main" id="{F0D984BE-B480-4BCE-8F70-99ACA7C5881D}"/>
              </a:ext>
            </a:extLst>
          </p:cNvPr>
          <p:cNvSpPr>
            <a:spLocks xmlns:a="http://schemas.openxmlformats.org/drawingml/2006/main" noGrp="1"/>
          </p:cNvSpPr>
          <p:nvPr/>
        </p:nvSpPr>
        <p:spPr>
          <a:xfrm xmlns:a="http://schemas.openxmlformats.org/drawingml/2006/main">
            <a:off x="781050" y="2076450"/>
            <a:ext cx="1143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synthetic documents seeded</a:t>
            </a:r>
          </a:p>
        </p:txBody>
      </p:sp>
      <p:sp>
        <p:nvSpPr>
          <p:cNvPr id="11" name="">
            <a:extLst xmlns:a="http://schemas.openxmlformats.org/drawingml/2006/main">
              <a:ext uri="{FF2B5EF4-FFF2-40B4-BE49-F238E27FC236}">
                <a16:creationId xmlns:a16="http://schemas.microsoft.com/office/drawing/2014/main" id="{890D96E4-87E6-4AB5-8184-FCA90C0C8436}"/>
              </a:ext>
            </a:extLst>
          </p:cNvPr>
          <p:cNvSpPr>
            <a:spLocks xmlns:a="http://schemas.openxmlformats.org/drawingml/2006/main" noGrp="1"/>
          </p:cNvSpPr>
          <p:nvPr/>
        </p:nvSpPr>
        <p:spPr>
          <a:xfrm xmlns:a="http://schemas.openxmlformats.org/drawingml/2006/main">
            <a:off x="2266950" y="1504950"/>
            <a:ext cx="14859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BD5E1"/>
            </a:solidFill>
            <a:prstDash val="solid"/>
          </a:ln>
        </p:spPr>
      </p:sp>
      <p:sp>
        <p:nvSpPr>
          <p:cNvPr id="12" name="">
            <a:extLst xmlns:a="http://schemas.openxmlformats.org/drawingml/2006/main">
              <a:ext uri="{FF2B5EF4-FFF2-40B4-BE49-F238E27FC236}">
                <a16:creationId xmlns:a16="http://schemas.microsoft.com/office/drawing/2014/main" id="{6B91C187-93F0-4266-B6C3-A7F4D5C5E189}"/>
              </a:ext>
            </a:extLst>
          </p:cNvPr>
          <p:cNvSpPr>
            <a:spLocks xmlns:a="http://schemas.openxmlformats.org/drawingml/2006/main" noGrp="1"/>
          </p:cNvSpPr>
          <p:nvPr/>
        </p:nvSpPr>
        <p:spPr>
          <a:xfrm xmlns:a="http://schemas.openxmlformats.org/drawingml/2006/main">
            <a:off x="2438400" y="1676400"/>
            <a:ext cx="1143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2563EB"/>
                </a:solidFill>
                <a:latin typeface="Aptos Display"/>
                <a:ea typeface="Aptos Display"/>
                <a:cs typeface="Aptos Display"/>
              </a:defRPr>
            </a:pPr>
            <a:r>
              <a:rPr sz="2250" b="1">
                <a:solidFill>
                  <a:srgbClr val="2563EB"/>
                </a:solidFill>
                <a:latin typeface="Aptos Display"/>
                <a:ea typeface="Aptos Display"/>
                <a:cs typeface="Aptos Display"/>
              </a:rPr>
              <a:t>8</a:t>
            </a:r>
          </a:p>
        </p:txBody>
      </p:sp>
      <p:sp>
        <p:nvSpPr>
          <p:cNvPr id="13" name="">
            <a:extLst xmlns:a="http://schemas.openxmlformats.org/drawingml/2006/main">
              <a:ext uri="{FF2B5EF4-FFF2-40B4-BE49-F238E27FC236}">
                <a16:creationId xmlns:a16="http://schemas.microsoft.com/office/drawing/2014/main" id="{662A59A5-5AA9-4CD3-9E4B-4694BD7498B6}"/>
              </a:ext>
            </a:extLst>
          </p:cNvPr>
          <p:cNvSpPr>
            <a:spLocks xmlns:a="http://schemas.openxmlformats.org/drawingml/2006/main" noGrp="1"/>
          </p:cNvSpPr>
          <p:nvPr/>
        </p:nvSpPr>
        <p:spPr>
          <a:xfrm xmlns:a="http://schemas.openxmlformats.org/drawingml/2006/main">
            <a:off x="2438400" y="2076450"/>
            <a:ext cx="1143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citations in clean agent run</a:t>
            </a:r>
          </a:p>
        </p:txBody>
      </p:sp>
      <p:sp>
        <p:nvSpPr>
          <p:cNvPr id="14" name="">
            <a:extLst xmlns:a="http://schemas.openxmlformats.org/drawingml/2006/main">
              <a:ext uri="{FF2B5EF4-FFF2-40B4-BE49-F238E27FC236}">
                <a16:creationId xmlns:a16="http://schemas.microsoft.com/office/drawing/2014/main" id="{4BBC5F67-B21B-45F1-B505-67E51CBF3E55}"/>
              </a:ext>
            </a:extLst>
          </p:cNvPr>
          <p:cNvSpPr>
            <a:spLocks xmlns:a="http://schemas.openxmlformats.org/drawingml/2006/main" noGrp="1"/>
          </p:cNvSpPr>
          <p:nvPr/>
        </p:nvSpPr>
        <p:spPr>
          <a:xfrm xmlns:a="http://schemas.openxmlformats.org/drawingml/2006/main">
            <a:off x="3924300" y="1504950"/>
            <a:ext cx="14859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33C47362-4C36-4CDD-809B-7E1DE5256CDF}"/>
              </a:ext>
            </a:extLst>
          </p:cNvPr>
          <p:cNvSpPr>
            <a:spLocks xmlns:a="http://schemas.openxmlformats.org/drawingml/2006/main" noGrp="1"/>
          </p:cNvSpPr>
          <p:nvPr/>
        </p:nvSpPr>
        <p:spPr>
          <a:xfrm xmlns:a="http://schemas.openxmlformats.org/drawingml/2006/main">
            <a:off x="4095750" y="1676400"/>
            <a:ext cx="1143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766E"/>
                </a:solidFill>
                <a:latin typeface="Aptos Display"/>
                <a:ea typeface="Aptos Display"/>
                <a:cs typeface="Aptos Display"/>
              </a:defRPr>
            </a:pPr>
            <a:r>
              <a:rPr sz="2250" b="1">
                <a:solidFill>
                  <a:srgbClr val="0F766E"/>
                </a:solidFill>
                <a:latin typeface="Aptos Display"/>
                <a:ea typeface="Aptos Display"/>
                <a:cs typeface="Aptos Display"/>
              </a:rPr>
              <a:t>21+</a:t>
            </a:r>
          </a:p>
        </p:txBody>
      </p:sp>
      <p:sp>
        <p:nvSpPr>
          <p:cNvPr id="16" name="">
            <a:extLst xmlns:a="http://schemas.openxmlformats.org/drawingml/2006/main">
              <a:ext uri="{FF2B5EF4-FFF2-40B4-BE49-F238E27FC236}">
                <a16:creationId xmlns:a16="http://schemas.microsoft.com/office/drawing/2014/main" id="{32873654-82B1-4D43-A184-35E3E0B5F9E2}"/>
              </a:ext>
            </a:extLst>
          </p:cNvPr>
          <p:cNvSpPr>
            <a:spLocks xmlns:a="http://schemas.openxmlformats.org/drawingml/2006/main" noGrp="1"/>
          </p:cNvSpPr>
          <p:nvPr/>
        </p:nvSpPr>
        <p:spPr>
          <a:xfrm xmlns:a="http://schemas.openxmlformats.org/drawingml/2006/main">
            <a:off x="4095750" y="2076450"/>
            <a:ext cx="1143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recorded run events in QA</a:t>
            </a:r>
          </a:p>
        </p:txBody>
      </p:sp>
      <p:sp>
        <p:nvSpPr>
          <p:cNvPr id="17" name="">
            <a:extLst xmlns:a="http://schemas.openxmlformats.org/drawingml/2006/main">
              <a:ext uri="{FF2B5EF4-FFF2-40B4-BE49-F238E27FC236}">
                <a16:creationId xmlns:a16="http://schemas.microsoft.com/office/drawing/2014/main" id="{B577D999-7013-4F13-ABAD-1D4223F81CB8}"/>
              </a:ext>
            </a:extLst>
          </p:cNvPr>
          <p:cNvSpPr>
            <a:spLocks xmlns:a="http://schemas.openxmlformats.org/drawingml/2006/main" noGrp="1"/>
          </p:cNvSpPr>
          <p:nvPr/>
        </p:nvSpPr>
        <p:spPr>
          <a:xfrm xmlns:a="http://schemas.openxmlformats.org/drawingml/2006/main">
            <a:off x="5581650" y="1504950"/>
            <a:ext cx="14859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79200255-B4F5-4A4F-9EE1-FD24A03F92BF}"/>
              </a:ext>
            </a:extLst>
          </p:cNvPr>
          <p:cNvSpPr>
            <a:spLocks xmlns:a="http://schemas.openxmlformats.org/drawingml/2006/main" noGrp="1"/>
          </p:cNvSpPr>
          <p:nvPr/>
        </p:nvSpPr>
        <p:spPr>
          <a:xfrm xmlns:a="http://schemas.openxmlformats.org/drawingml/2006/main">
            <a:off x="5753100" y="1676400"/>
            <a:ext cx="1143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D97706"/>
                </a:solidFill>
                <a:latin typeface="Aptos Display"/>
                <a:ea typeface="Aptos Display"/>
                <a:cs typeface="Aptos Display"/>
              </a:defRPr>
            </a:pPr>
            <a:r>
              <a:rPr sz="2250" b="1">
                <a:solidFill>
                  <a:srgbClr val="D97706"/>
                </a:solidFill>
                <a:latin typeface="Aptos Display"/>
                <a:ea typeface="Aptos Display"/>
                <a:cs typeface="Aptos Display"/>
              </a:rPr>
              <a:t>3+</a:t>
            </a:r>
          </a:p>
        </p:txBody>
      </p:sp>
      <p:sp>
        <p:nvSpPr>
          <p:cNvPr id="19" name="">
            <a:extLst xmlns:a="http://schemas.openxmlformats.org/drawingml/2006/main">
              <a:ext uri="{FF2B5EF4-FFF2-40B4-BE49-F238E27FC236}">
                <a16:creationId xmlns:a16="http://schemas.microsoft.com/office/drawing/2014/main" id="{B6702D96-C3A5-4E6C-B193-60E67A616AD5}"/>
              </a:ext>
            </a:extLst>
          </p:cNvPr>
          <p:cNvSpPr>
            <a:spLocks xmlns:a="http://schemas.openxmlformats.org/drawingml/2006/main" noGrp="1"/>
          </p:cNvSpPr>
          <p:nvPr/>
        </p:nvSpPr>
        <p:spPr>
          <a:xfrm xmlns:a="http://schemas.openxmlformats.org/drawingml/2006/main">
            <a:off x="5753100" y="2076450"/>
            <a:ext cx="1143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approval records created</a:t>
            </a:r>
          </a:p>
        </p:txBody>
      </p:sp>
      <p:sp>
        <p:nvSpPr>
          <p:cNvPr id="20" name="">
            <a:extLst xmlns:a="http://schemas.openxmlformats.org/drawingml/2006/main">
              <a:ext uri="{FF2B5EF4-FFF2-40B4-BE49-F238E27FC236}">
                <a16:creationId xmlns:a16="http://schemas.microsoft.com/office/drawing/2014/main" id="{9DB562E8-A5C6-40AD-B0DD-A0C3728618A9}"/>
              </a:ext>
            </a:extLst>
          </p:cNvPr>
          <p:cNvSpPr>
            <a:spLocks xmlns:a="http://schemas.openxmlformats.org/drawingml/2006/main" noGrp="1"/>
          </p:cNvSpPr>
          <p:nvPr/>
        </p:nvSpPr>
        <p:spPr>
          <a:xfrm xmlns:a="http://schemas.openxmlformats.org/drawingml/2006/main">
            <a:off x="7239000" y="1504950"/>
            <a:ext cx="17145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F72122DD-6DE5-40F5-88D3-95082CEE004B}"/>
              </a:ext>
            </a:extLst>
          </p:cNvPr>
          <p:cNvSpPr>
            <a:spLocks xmlns:a="http://schemas.openxmlformats.org/drawingml/2006/main" noGrp="1"/>
          </p:cNvSpPr>
          <p:nvPr/>
        </p:nvSpPr>
        <p:spPr>
          <a:xfrm xmlns:a="http://schemas.openxmlformats.org/drawingml/2006/main">
            <a:off x="7410450" y="1676400"/>
            <a:ext cx="13716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6A34A"/>
                </a:solidFill>
                <a:latin typeface="Aptos Display"/>
                <a:ea typeface="Aptos Display"/>
                <a:cs typeface="Aptos Display"/>
              </a:defRPr>
            </a:pPr>
            <a:r>
              <a:rPr sz="2250" b="1">
                <a:solidFill>
                  <a:srgbClr val="16A34A"/>
                </a:solidFill>
                <a:latin typeface="Aptos Display"/>
                <a:ea typeface="Aptos Display"/>
                <a:cs typeface="Aptos Display"/>
              </a:rPr>
              <a:t>0</a:t>
            </a:r>
          </a:p>
        </p:txBody>
      </p:sp>
      <p:sp>
        <p:nvSpPr>
          <p:cNvPr id="22" name="">
            <a:extLst xmlns:a="http://schemas.openxmlformats.org/drawingml/2006/main">
              <a:ext uri="{FF2B5EF4-FFF2-40B4-BE49-F238E27FC236}">
                <a16:creationId xmlns:a16="http://schemas.microsoft.com/office/drawing/2014/main" id="{BDE8089D-152F-45C8-8615-62C91FE30FBB}"/>
              </a:ext>
            </a:extLst>
          </p:cNvPr>
          <p:cNvSpPr>
            <a:spLocks xmlns:a="http://schemas.openxmlformats.org/drawingml/2006/main" noGrp="1"/>
          </p:cNvSpPr>
          <p:nvPr/>
        </p:nvSpPr>
        <p:spPr>
          <a:xfrm xmlns:a="http://schemas.openxmlformats.org/drawingml/2006/main">
            <a:off x="7410450" y="2076450"/>
            <a:ext cx="1371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raw Markdown markers in DOCX</a:t>
            </a:r>
          </a:p>
        </p:txBody>
      </p:sp>
      <p:sp>
        <p:nvSpPr>
          <p:cNvPr id="23" name="">
            <a:extLst xmlns:a="http://schemas.openxmlformats.org/drawingml/2006/main">
              <a:ext uri="{FF2B5EF4-FFF2-40B4-BE49-F238E27FC236}">
                <a16:creationId xmlns:a16="http://schemas.microsoft.com/office/drawing/2014/main" id="{8B32E5C1-3EDD-437C-9BE5-78C646406DB7}"/>
              </a:ext>
            </a:extLst>
          </p:cNvPr>
          <p:cNvSpPr>
            <a:spLocks xmlns:a="http://schemas.openxmlformats.org/drawingml/2006/main" noGrp="1"/>
          </p:cNvSpPr>
          <p:nvPr/>
        </p:nvSpPr>
        <p:spPr>
          <a:xfrm xmlns:a="http://schemas.openxmlformats.org/drawingml/2006/main">
            <a:off x="9124950" y="1504950"/>
            <a:ext cx="17145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75CBC262-CBFA-4DBD-8194-C44E3255D2E0}"/>
              </a:ext>
            </a:extLst>
          </p:cNvPr>
          <p:cNvSpPr>
            <a:spLocks xmlns:a="http://schemas.openxmlformats.org/drawingml/2006/main" noGrp="1"/>
          </p:cNvSpPr>
          <p:nvPr/>
        </p:nvSpPr>
        <p:spPr>
          <a:xfrm xmlns:a="http://schemas.openxmlformats.org/drawingml/2006/main">
            <a:off x="9296400" y="1676400"/>
            <a:ext cx="13716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6A34A"/>
                </a:solidFill>
                <a:latin typeface="Aptos Display"/>
                <a:ea typeface="Aptos Display"/>
                <a:cs typeface="Aptos Display"/>
              </a:defRPr>
            </a:pPr>
            <a:r>
              <a:rPr sz="2250" b="1">
                <a:solidFill>
                  <a:srgbClr val="16A34A"/>
                </a:solidFill>
                <a:latin typeface="Aptos Display"/>
                <a:ea typeface="Aptos Display"/>
                <a:cs typeface="Aptos Display"/>
              </a:rPr>
              <a:t>1.0</a:t>
            </a:r>
          </a:p>
        </p:txBody>
      </p:sp>
      <p:sp>
        <p:nvSpPr>
          <p:cNvPr id="25" name="">
            <a:extLst xmlns:a="http://schemas.openxmlformats.org/drawingml/2006/main">
              <a:ext uri="{FF2B5EF4-FFF2-40B4-BE49-F238E27FC236}">
                <a16:creationId xmlns:a16="http://schemas.microsoft.com/office/drawing/2014/main" id="{CCBD421A-A3F0-48E9-9EAF-FA0C3BC9D0A6}"/>
              </a:ext>
            </a:extLst>
          </p:cNvPr>
          <p:cNvSpPr>
            <a:spLocks xmlns:a="http://schemas.openxmlformats.org/drawingml/2006/main" noGrp="1"/>
          </p:cNvSpPr>
          <p:nvPr/>
        </p:nvSpPr>
        <p:spPr>
          <a:xfrm xmlns:a="http://schemas.openxmlformats.org/drawingml/2006/main">
            <a:off x="9296400" y="2076450"/>
            <a:ext cx="1371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run evaluation score</a:t>
            </a:r>
          </a:p>
        </p:txBody>
      </p:sp>
      <p:sp>
        <p:nvSpPr>
          <p:cNvPr id="26" name="">
            <a:extLst xmlns:a="http://schemas.openxmlformats.org/drawingml/2006/main">
              <a:ext uri="{FF2B5EF4-FFF2-40B4-BE49-F238E27FC236}">
                <a16:creationId xmlns:a16="http://schemas.microsoft.com/office/drawing/2014/main" id="{E9885C73-1CA1-46F2-930D-EE0A6C686176}"/>
              </a:ext>
            </a:extLst>
          </p:cNvPr>
          <p:cNvSpPr>
            <a:spLocks xmlns:a="http://schemas.openxmlformats.org/drawingml/2006/main" noGrp="1"/>
          </p:cNvSpPr>
          <p:nvPr/>
        </p:nvSpPr>
        <p:spPr>
          <a:xfrm xmlns:a="http://schemas.openxmlformats.org/drawingml/2006/main">
            <a:off x="609600" y="2895600"/>
            <a:ext cx="4914900" cy="278130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9525">
            <a:solidFill>
              <a:srgbClr val="CBD5E1"/>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b0c784b5a594d10"/>
          <a:srcRect xmlns:a="http://schemas.openxmlformats.org/drawingml/2006/main" l="0" t="21802" r="0" b="21802"/>
          <a:stretch xmlns:a="http://schemas.openxmlformats.org/drawingml/2006/main">
            <a:fillRect l="0" t="0" r="0" b="0"/>
          </a:stretch>
        </p:blipFill>
        <p:spPr>
          <a:xfrm xmlns:a="http://schemas.openxmlformats.org/drawingml/2006/main">
            <a:off x="685800" y="2971800"/>
            <a:ext cx="4762500" cy="26289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15FFD510-A463-496B-B2EE-CF39691F0A03}"/>
              </a:ext>
            </a:extLst>
          </p:cNvPr>
          <p:cNvSpPr>
            <a:spLocks xmlns:a="http://schemas.openxmlformats.org/drawingml/2006/main" noGrp="1"/>
          </p:cNvSpPr>
          <p:nvPr/>
        </p:nvSpPr>
        <p:spPr>
          <a:xfrm xmlns:a="http://schemas.openxmlformats.org/drawingml/2006/main">
            <a:off x="5905500" y="2895600"/>
            <a:ext cx="4914900" cy="278130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9525">
            <a:solidFill>
              <a:srgbClr val="CBD5E1"/>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426c2f4db0b48d5"/>
          <a:srcRect xmlns:a="http://schemas.openxmlformats.org/drawingml/2006/main" l="0" t="21802" r="0" b="21802"/>
          <a:stretch xmlns:a="http://schemas.openxmlformats.org/drawingml/2006/main">
            <a:fillRect l="0" t="0" r="0" b="0"/>
          </a:stretch>
        </p:blipFill>
        <p:spPr>
          <a:xfrm xmlns:a="http://schemas.openxmlformats.org/drawingml/2006/main">
            <a:off x="5981700" y="2971800"/>
            <a:ext cx="4762500" cy="26289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936378F0-3437-441E-BE61-D1658F857D91}"/>
              </a:ext>
            </a:extLst>
          </p:cNvPr>
          <p:cNvSpPr>
            <a:spLocks xmlns:a="http://schemas.openxmlformats.org/drawingml/2006/main" noGrp="1"/>
          </p:cNvSpPr>
          <p:nvPr/>
        </p:nvSpPr>
        <p:spPr>
          <a:xfrm xmlns:a="http://schemas.openxmlformats.org/drawingml/2006/main">
            <a:off x="609600" y="5810250"/>
            <a:ext cx="10210800" cy="400050"/>
          </a:xfrm>
          <a:prstGeom xmlns:a="http://schemas.openxmlformats.org/drawingml/2006/main" prst="roundRect">
            <a:avLst>
              <a:gd name="adj" fmla="val 19048"/>
            </a:avLst>
          </a:prstGeom>
          <a:solidFill xmlns:a="http://schemas.openxmlformats.org/drawingml/2006/main">
            <a:srgbClr val="0F172A"/>
          </a:solidFill>
          <a:ln xmlns:a="http://schemas.openxmlformats.org/drawingml/2006/main" w="9525">
            <a:solidFill>
              <a:srgbClr val="0F172A"/>
            </a:solidFill>
            <a:prstDash val="solid"/>
          </a:ln>
        </p:spPr>
      </p:sp>
      <p:sp>
        <p:nvSpPr>
          <p:cNvPr id="31" name="">
            <a:extLst xmlns:a="http://schemas.openxmlformats.org/drawingml/2006/main">
              <a:ext uri="{FF2B5EF4-FFF2-40B4-BE49-F238E27FC236}">
                <a16:creationId xmlns:a16="http://schemas.microsoft.com/office/drawing/2014/main" id="{5DE69B51-EF51-4C4B-BB2A-8810B45AA4FA}"/>
              </a:ext>
            </a:extLst>
          </p:cNvPr>
          <p:cNvSpPr>
            <a:spLocks xmlns:a="http://schemas.openxmlformats.org/drawingml/2006/main" noGrp="1"/>
          </p:cNvSpPr>
          <p:nvPr/>
        </p:nvSpPr>
        <p:spPr>
          <a:xfrm xmlns:a="http://schemas.openxmlformats.org/drawingml/2006/main">
            <a:off x="819150" y="590550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Production frontend: https://modelweave-two.vercel.app</a:t>
            </a:r>
          </a:p>
        </p:txBody>
      </p:sp>
      <p:sp>
        <p:nvSpPr>
          <p:cNvPr id="32" name="">
            <a:extLst xmlns:a="http://schemas.openxmlformats.org/drawingml/2006/main">
              <a:ext uri="{FF2B5EF4-FFF2-40B4-BE49-F238E27FC236}">
                <a16:creationId xmlns:a16="http://schemas.microsoft.com/office/drawing/2014/main" id="{0072A16A-6E6B-4C7C-8A29-6A865999738C}"/>
              </a:ext>
            </a:extLst>
          </p:cNvPr>
          <p:cNvSpPr>
            <a:spLocks xmlns:a="http://schemas.openxmlformats.org/drawingml/2006/main" noGrp="1"/>
          </p:cNvSpPr>
          <p:nvPr/>
        </p:nvSpPr>
        <p:spPr>
          <a:xfrm xmlns:a="http://schemas.openxmlformats.org/drawingml/2006/main">
            <a:off x="5105400" y="5905500"/>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DCE7F3"/>
                </a:solidFill>
                <a:latin typeface="Aptos"/>
                <a:ea typeface="Aptos"/>
                <a:cs typeface="Aptos"/>
              </a:defRPr>
            </a:pPr>
            <a:r>
              <a:rPr sz="975" b="0">
                <a:solidFill>
                  <a:srgbClr val="DCE7F3"/>
                </a:solidFill>
                <a:latin typeface="Aptos"/>
                <a:ea typeface="Aptos"/>
                <a:cs typeface="Aptos"/>
              </a:rPr>
              <a:t>Backend: https://api-production-e70a9.up.railway.app</a:t>
            </a:r>
          </a:p>
        </p:txBody>
      </p:sp>
      <p:sp>
        <p:nvSpPr>
          <p:cNvPr id="33" name="">
            <a:extLst xmlns:a="http://schemas.openxmlformats.org/drawingml/2006/main">
              <a:ext uri="{FF2B5EF4-FFF2-40B4-BE49-F238E27FC236}">
                <a16:creationId xmlns:a16="http://schemas.microsoft.com/office/drawing/2014/main" id="{3016A5D6-F921-4AF4-A314-3C65F1CDB73D}"/>
              </a:ext>
            </a:extLst>
          </p:cNvPr>
          <p:cNvSpPr>
            <a:spLocks xmlns:a="http://schemas.openxmlformats.org/drawingml/2006/main" noGrp="1"/>
          </p:cNvSpPr>
          <p:nvPr/>
        </p:nvSpPr>
        <p:spPr>
          <a:xfrm xmlns:a="http://schemas.openxmlformats.org/drawingml/2006/main">
            <a:off x="8591550" y="590550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CE7F3"/>
                </a:solidFill>
                <a:latin typeface="Aptos"/>
                <a:ea typeface="Aptos"/>
                <a:cs typeface="Aptos"/>
              </a:defRPr>
            </a:pPr>
            <a:r>
              <a:rPr sz="975" b="1">
                <a:solidFill>
                  <a:srgbClr val="DCE7F3"/>
                </a:solidFill>
                <a:latin typeface="Aptos"/>
                <a:ea typeface="Aptos"/>
                <a:cs typeface="Aptos"/>
              </a:rPr>
              <a:t>Repository: GitHub public</a:t>
            </a:r>
          </a:p>
        </p:txBody>
      </p:sp>
    </p:spTree>
    <p:extLst>
      <p:ext uri="{BB962C8B-B14F-4D97-AF65-F5344CB8AC3E}">
        <p14:creationId xmlns:p14="http://schemas.microsoft.com/office/powerpoint/2010/main" val="7094177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177459-83B2-4B32-BD69-2B182C82687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67AE154-96FB-4692-948A-0A8B72E499F0}"/>
              </a:ext>
            </a:extLst>
          </p:cNvPr>
          <p:cNvSpPr>
            <a:spLocks xmlns:a="http://schemas.openxmlformats.org/drawingml/2006/main" noGrp="1"/>
          </p:cNvSpPr>
          <p:nvPr/>
        </p:nvSpPr>
        <p:spPr>
          <a:xfrm xmlns:a="http://schemas.openxmlformats.org/drawingml/2006/main">
            <a:off x="0" y="76200"/>
            <a:ext cx="12192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7A80902-02D3-4B2F-951D-53F652549A39}"/>
              </a:ext>
            </a:extLst>
          </p:cNvPr>
          <p:cNvSpPr>
            <a:spLocks xmlns:a="http://schemas.openxmlformats.org/drawingml/2006/main" noGrp="1"/>
          </p:cNvSpPr>
          <p:nvPr/>
        </p:nvSpPr>
        <p:spPr>
          <a:xfrm xmlns:a="http://schemas.openxmlformats.org/drawingml/2006/main">
            <a:off x="514350" y="6419850"/>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ModelWeave | Service-oriented architecture for scalable LLM use</a:t>
            </a:r>
          </a:p>
        </p:txBody>
      </p:sp>
      <p:sp>
        <p:nvSpPr>
          <p:cNvPr id="4" name="">
            <a:extLst xmlns:a="http://schemas.openxmlformats.org/drawingml/2006/main">
              <a:ext uri="{FF2B5EF4-FFF2-40B4-BE49-F238E27FC236}">
                <a16:creationId xmlns:a16="http://schemas.microsoft.com/office/drawing/2014/main" id="{834F193F-4F6D-476D-8C04-35FFFA6EDED6}"/>
              </a:ext>
            </a:extLst>
          </p:cNvPr>
          <p:cNvSpPr>
            <a:spLocks xmlns:a="http://schemas.openxmlformats.org/drawingml/2006/main" noGrp="1"/>
          </p:cNvSpPr>
          <p:nvPr/>
        </p:nvSpPr>
        <p:spPr>
          <a:xfrm xmlns:a="http://schemas.openxmlformats.org/drawingml/2006/main">
            <a:off x="11239500" y="64198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9</a:t>
            </a:r>
          </a:p>
        </p:txBody>
      </p:sp>
      <p:sp>
        <p:nvSpPr>
          <p:cNvPr id="5" name="">
            <a:extLst xmlns:a="http://schemas.openxmlformats.org/drawingml/2006/main">
              <a:ext uri="{FF2B5EF4-FFF2-40B4-BE49-F238E27FC236}">
                <a16:creationId xmlns:a16="http://schemas.microsoft.com/office/drawing/2014/main" id="{F69254C3-A466-4B8F-85BE-B252E45BB35F}"/>
              </a:ext>
            </a:extLst>
          </p:cNvPr>
          <p:cNvSpPr>
            <a:spLocks xmlns:a="http://schemas.openxmlformats.org/drawingml/2006/main" noGrp="1"/>
          </p:cNvSpPr>
          <p:nvPr/>
        </p:nvSpPr>
        <p:spPr>
          <a:xfrm xmlns:a="http://schemas.openxmlformats.org/drawingml/2006/main">
            <a:off x="9144000" y="64198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Conclusions</a:t>
            </a:r>
          </a:p>
        </p:txBody>
      </p:sp>
      <p:sp>
        <p:nvSpPr>
          <p:cNvPr id="6" name="">
            <a:extLst xmlns:a="http://schemas.openxmlformats.org/drawingml/2006/main">
              <a:ext uri="{FF2B5EF4-FFF2-40B4-BE49-F238E27FC236}">
                <a16:creationId xmlns:a16="http://schemas.microsoft.com/office/drawing/2014/main" id="{BC5A106C-3081-4369-BC25-82FB98E203BF}"/>
              </a:ext>
            </a:extLst>
          </p:cNvPr>
          <p:cNvSpPr>
            <a:spLocks xmlns:a="http://schemas.openxmlformats.org/drawingml/2006/main" noGrp="1"/>
          </p:cNvSpPr>
          <p:nvPr/>
        </p:nvSpPr>
        <p:spPr>
          <a:xfrm xmlns:a="http://schemas.openxmlformats.org/drawingml/2006/main">
            <a:off x="609600" y="4191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CONCLUSIONS</a:t>
            </a:r>
          </a:p>
        </p:txBody>
      </p:sp>
      <p:sp>
        <p:nvSpPr>
          <p:cNvPr id="7" name="">
            <a:extLst xmlns:a="http://schemas.openxmlformats.org/drawingml/2006/main">
              <a:ext uri="{FF2B5EF4-FFF2-40B4-BE49-F238E27FC236}">
                <a16:creationId xmlns:a16="http://schemas.microsoft.com/office/drawing/2014/main" id="{F11B8F8C-95C7-40CE-A91A-2319C8727015}"/>
              </a:ext>
            </a:extLst>
          </p:cNvPr>
          <p:cNvSpPr>
            <a:spLocks xmlns:a="http://schemas.openxmlformats.org/drawingml/2006/main" noGrp="1"/>
          </p:cNvSpPr>
          <p:nvPr/>
        </p:nvSpPr>
        <p:spPr>
          <a:xfrm xmlns:a="http://schemas.openxmlformats.org/drawingml/2006/main">
            <a:off x="609600" y="685800"/>
            <a:ext cx="7810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ModelWeave proves that LLM capabilities can be organized as a managed commercial workflow</a:t>
            </a:r>
          </a:p>
        </p:txBody>
      </p:sp>
      <p:sp>
        <p:nvSpPr>
          <p:cNvPr id="8" name="">
            <a:extLst xmlns:a="http://schemas.openxmlformats.org/drawingml/2006/main">
              <a:ext uri="{FF2B5EF4-FFF2-40B4-BE49-F238E27FC236}">
                <a16:creationId xmlns:a16="http://schemas.microsoft.com/office/drawing/2014/main" id="{29F2D438-D656-4D4D-9222-F423C8A868BA}"/>
              </a:ext>
            </a:extLst>
          </p:cNvPr>
          <p:cNvSpPr>
            <a:spLocks xmlns:a="http://schemas.openxmlformats.org/drawingml/2006/main" noGrp="1"/>
          </p:cNvSpPr>
          <p:nvPr/>
        </p:nvSpPr>
        <p:spPr>
          <a:xfrm xmlns:a="http://schemas.openxmlformats.org/drawingml/2006/main">
            <a:off x="723900" y="1695450"/>
            <a:ext cx="32385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F63AE6DF-83D9-4497-A75B-2AE9B7814893}"/>
              </a:ext>
            </a:extLst>
          </p:cNvPr>
          <p:cNvSpPr>
            <a:spLocks xmlns:a="http://schemas.openxmlformats.org/drawingml/2006/main" noGrp="1"/>
          </p:cNvSpPr>
          <p:nvPr/>
        </p:nvSpPr>
        <p:spPr>
          <a:xfrm xmlns:a="http://schemas.openxmlformats.org/drawingml/2006/main">
            <a:off x="723900" y="1695450"/>
            <a:ext cx="66675" cy="112395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200A8761-E3A6-450E-9D71-1F1795AFA761}"/>
              </a:ext>
            </a:extLst>
          </p:cNvPr>
          <p:cNvSpPr>
            <a:spLocks xmlns:a="http://schemas.openxmlformats.org/drawingml/2006/main" noGrp="1"/>
          </p:cNvSpPr>
          <p:nvPr/>
        </p:nvSpPr>
        <p:spPr>
          <a:xfrm xmlns:a="http://schemas.openxmlformats.org/drawingml/2006/main">
            <a:off x="952500" y="1866900"/>
            <a:ext cx="2838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SOA is the backbone</a:t>
            </a:r>
          </a:p>
        </p:txBody>
      </p:sp>
      <p:sp>
        <p:nvSpPr>
          <p:cNvPr id="11" name="">
            <a:extLst xmlns:a="http://schemas.openxmlformats.org/drawingml/2006/main">
              <a:ext uri="{FF2B5EF4-FFF2-40B4-BE49-F238E27FC236}">
                <a16:creationId xmlns:a16="http://schemas.microsoft.com/office/drawing/2014/main" id="{0FCCA653-14CA-4392-A99A-B35975AFC326}"/>
              </a:ext>
            </a:extLst>
          </p:cNvPr>
          <p:cNvSpPr>
            <a:spLocks xmlns:a="http://schemas.openxmlformats.org/drawingml/2006/main" noGrp="1"/>
          </p:cNvSpPr>
          <p:nvPr/>
        </p:nvSpPr>
        <p:spPr>
          <a:xfrm xmlns:a="http://schemas.openxmlformats.org/drawingml/2006/main">
            <a:off x="952500" y="2171700"/>
            <a:ext cx="2838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Separate services make the system deployable, testable, and easier to scale.</a:t>
            </a:r>
          </a:p>
        </p:txBody>
      </p:sp>
      <p:sp>
        <p:nvSpPr>
          <p:cNvPr id="12" name="">
            <a:extLst xmlns:a="http://schemas.openxmlformats.org/drawingml/2006/main">
              <a:ext uri="{FF2B5EF4-FFF2-40B4-BE49-F238E27FC236}">
                <a16:creationId xmlns:a16="http://schemas.microsoft.com/office/drawing/2014/main" id="{0112A305-B84B-4F22-9E09-D7127D82C986}"/>
              </a:ext>
            </a:extLst>
          </p:cNvPr>
          <p:cNvSpPr>
            <a:spLocks xmlns:a="http://schemas.openxmlformats.org/drawingml/2006/main" noGrp="1"/>
          </p:cNvSpPr>
          <p:nvPr/>
        </p:nvSpPr>
        <p:spPr>
          <a:xfrm xmlns:a="http://schemas.openxmlformats.org/drawingml/2006/main">
            <a:off x="4476750" y="1695450"/>
            <a:ext cx="32385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5F0CBF86-29EF-4837-A6FE-ED7989978210}"/>
              </a:ext>
            </a:extLst>
          </p:cNvPr>
          <p:cNvSpPr>
            <a:spLocks xmlns:a="http://schemas.openxmlformats.org/drawingml/2006/main" noGrp="1"/>
          </p:cNvSpPr>
          <p:nvPr/>
        </p:nvSpPr>
        <p:spPr>
          <a:xfrm xmlns:a="http://schemas.openxmlformats.org/drawingml/2006/main">
            <a:off x="4476750" y="1695450"/>
            <a:ext cx="66675" cy="112395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D639FBB-1AC9-462A-BC02-6ECE9D2186BF}"/>
              </a:ext>
            </a:extLst>
          </p:cNvPr>
          <p:cNvSpPr>
            <a:spLocks xmlns:a="http://schemas.openxmlformats.org/drawingml/2006/main" noGrp="1"/>
          </p:cNvSpPr>
          <p:nvPr/>
        </p:nvSpPr>
        <p:spPr>
          <a:xfrm xmlns:a="http://schemas.openxmlformats.org/drawingml/2006/main">
            <a:off x="4705350" y="1866900"/>
            <a:ext cx="2838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RAG grounds the output</a:t>
            </a:r>
          </a:p>
        </p:txBody>
      </p:sp>
      <p:sp>
        <p:nvSpPr>
          <p:cNvPr id="15" name="">
            <a:extLst xmlns:a="http://schemas.openxmlformats.org/drawingml/2006/main">
              <a:ext uri="{FF2B5EF4-FFF2-40B4-BE49-F238E27FC236}">
                <a16:creationId xmlns:a16="http://schemas.microsoft.com/office/drawing/2014/main" id="{C9635250-EF84-4C52-9296-400846AEF4AE}"/>
              </a:ext>
            </a:extLst>
          </p:cNvPr>
          <p:cNvSpPr>
            <a:spLocks xmlns:a="http://schemas.openxmlformats.org/drawingml/2006/main" noGrp="1"/>
          </p:cNvSpPr>
          <p:nvPr/>
        </p:nvSpPr>
        <p:spPr>
          <a:xfrm xmlns:a="http://schemas.openxmlformats.org/drawingml/2006/main">
            <a:off x="4705350" y="2171700"/>
            <a:ext cx="2838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Documents are chunked, embedded, retrieved, and cited before agents produce recommendations.</a:t>
            </a:r>
          </a:p>
        </p:txBody>
      </p:sp>
      <p:sp>
        <p:nvSpPr>
          <p:cNvPr id="16" name="">
            <a:extLst xmlns:a="http://schemas.openxmlformats.org/drawingml/2006/main">
              <a:ext uri="{FF2B5EF4-FFF2-40B4-BE49-F238E27FC236}">
                <a16:creationId xmlns:a16="http://schemas.microsoft.com/office/drawing/2014/main" id="{D09262A8-C54D-479F-A293-6136FDE80D42}"/>
              </a:ext>
            </a:extLst>
          </p:cNvPr>
          <p:cNvSpPr>
            <a:spLocks xmlns:a="http://schemas.openxmlformats.org/drawingml/2006/main" noGrp="1"/>
          </p:cNvSpPr>
          <p:nvPr/>
        </p:nvSpPr>
        <p:spPr>
          <a:xfrm xmlns:a="http://schemas.openxmlformats.org/drawingml/2006/main">
            <a:off x="8229600" y="1695450"/>
            <a:ext cx="32385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39835409-D7B3-45DA-BE2B-D023605DE4BF}"/>
              </a:ext>
            </a:extLst>
          </p:cNvPr>
          <p:cNvSpPr>
            <a:spLocks xmlns:a="http://schemas.openxmlformats.org/drawingml/2006/main" noGrp="1"/>
          </p:cNvSpPr>
          <p:nvPr/>
        </p:nvSpPr>
        <p:spPr>
          <a:xfrm xmlns:a="http://schemas.openxmlformats.org/drawingml/2006/main">
            <a:off x="8229600" y="1695450"/>
            <a:ext cx="66675" cy="112395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F647CAC6-A2E1-4840-8F9C-9AB57FE90FBB}"/>
              </a:ext>
            </a:extLst>
          </p:cNvPr>
          <p:cNvSpPr>
            <a:spLocks xmlns:a="http://schemas.openxmlformats.org/drawingml/2006/main" noGrp="1"/>
          </p:cNvSpPr>
          <p:nvPr/>
        </p:nvSpPr>
        <p:spPr>
          <a:xfrm xmlns:a="http://schemas.openxmlformats.org/drawingml/2006/main">
            <a:off x="8458200" y="1866900"/>
            <a:ext cx="2838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Agents represent roles</a:t>
            </a:r>
          </a:p>
        </p:txBody>
      </p:sp>
      <p:sp>
        <p:nvSpPr>
          <p:cNvPr id="19" name="">
            <a:extLst xmlns:a="http://schemas.openxmlformats.org/drawingml/2006/main">
              <a:ext uri="{FF2B5EF4-FFF2-40B4-BE49-F238E27FC236}">
                <a16:creationId xmlns:a16="http://schemas.microsoft.com/office/drawing/2014/main" id="{FABA761A-9C18-4DC1-BEFA-45F6439C5FC5}"/>
              </a:ext>
            </a:extLst>
          </p:cNvPr>
          <p:cNvSpPr>
            <a:spLocks xmlns:a="http://schemas.openxmlformats.org/drawingml/2006/main" noGrp="1"/>
          </p:cNvSpPr>
          <p:nvPr/>
        </p:nvSpPr>
        <p:spPr>
          <a:xfrm xmlns:a="http://schemas.openxmlformats.org/drawingml/2006/main">
            <a:off x="8458200" y="2171700"/>
            <a:ext cx="2838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Document reviewer, curator, task planner, QA, and report writer agents cooperate.</a:t>
            </a:r>
          </a:p>
        </p:txBody>
      </p:sp>
      <p:sp>
        <p:nvSpPr>
          <p:cNvPr id="20" name="">
            <a:extLst xmlns:a="http://schemas.openxmlformats.org/drawingml/2006/main">
              <a:ext uri="{FF2B5EF4-FFF2-40B4-BE49-F238E27FC236}">
                <a16:creationId xmlns:a16="http://schemas.microsoft.com/office/drawing/2014/main" id="{7FB5AECD-4FCF-42E3-9950-18AE11F313F9}"/>
              </a:ext>
            </a:extLst>
          </p:cNvPr>
          <p:cNvSpPr>
            <a:spLocks xmlns:a="http://schemas.openxmlformats.org/drawingml/2006/main" noGrp="1"/>
          </p:cNvSpPr>
          <p:nvPr/>
        </p:nvSpPr>
        <p:spPr>
          <a:xfrm xmlns:a="http://schemas.openxmlformats.org/drawingml/2006/main">
            <a:off x="2019300" y="3238500"/>
            <a:ext cx="3429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E91D89E2-CA49-48AC-AAFA-B68DA6341CD3}"/>
              </a:ext>
            </a:extLst>
          </p:cNvPr>
          <p:cNvSpPr>
            <a:spLocks xmlns:a="http://schemas.openxmlformats.org/drawingml/2006/main" noGrp="1"/>
          </p:cNvSpPr>
          <p:nvPr/>
        </p:nvSpPr>
        <p:spPr>
          <a:xfrm xmlns:a="http://schemas.openxmlformats.org/drawingml/2006/main">
            <a:off x="2019300" y="3238500"/>
            <a:ext cx="66675" cy="11239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1DD41D30-386A-47E5-B154-C35C2C947856}"/>
              </a:ext>
            </a:extLst>
          </p:cNvPr>
          <p:cNvSpPr>
            <a:spLocks xmlns:a="http://schemas.openxmlformats.org/drawingml/2006/main" noGrp="1"/>
          </p:cNvSpPr>
          <p:nvPr/>
        </p:nvSpPr>
        <p:spPr>
          <a:xfrm xmlns:a="http://schemas.openxmlformats.org/drawingml/2006/main">
            <a:off x="2247900" y="3409950"/>
            <a:ext cx="30289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Approvals reduce risk</a:t>
            </a:r>
          </a:p>
        </p:txBody>
      </p:sp>
      <p:sp>
        <p:nvSpPr>
          <p:cNvPr id="23" name="">
            <a:extLst xmlns:a="http://schemas.openxmlformats.org/drawingml/2006/main">
              <a:ext uri="{FF2B5EF4-FFF2-40B4-BE49-F238E27FC236}">
                <a16:creationId xmlns:a16="http://schemas.microsoft.com/office/drawing/2014/main" id="{F54FF078-4CB7-4D61-8AD4-CC3AEBB7F298}"/>
              </a:ext>
            </a:extLst>
          </p:cNvPr>
          <p:cNvSpPr>
            <a:spLocks xmlns:a="http://schemas.openxmlformats.org/drawingml/2006/main" noGrp="1"/>
          </p:cNvSpPr>
          <p:nvPr/>
        </p:nvSpPr>
        <p:spPr>
          <a:xfrm xmlns:a="http://schemas.openxmlformats.org/drawingml/2006/main">
            <a:off x="2247900" y="3714750"/>
            <a:ext cx="30289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Persistent business changes are proposed first and applied only after human approval.</a:t>
            </a:r>
          </a:p>
        </p:txBody>
      </p:sp>
      <p:sp>
        <p:nvSpPr>
          <p:cNvPr id="24" name="">
            <a:extLst xmlns:a="http://schemas.openxmlformats.org/drawingml/2006/main">
              <a:ext uri="{FF2B5EF4-FFF2-40B4-BE49-F238E27FC236}">
                <a16:creationId xmlns:a16="http://schemas.microsoft.com/office/drawing/2014/main" id="{326DA755-F3B0-42C8-BEAE-2112D11ACE89}"/>
              </a:ext>
            </a:extLst>
          </p:cNvPr>
          <p:cNvSpPr>
            <a:spLocks xmlns:a="http://schemas.openxmlformats.org/drawingml/2006/main" noGrp="1"/>
          </p:cNvSpPr>
          <p:nvPr/>
        </p:nvSpPr>
        <p:spPr>
          <a:xfrm xmlns:a="http://schemas.openxmlformats.org/drawingml/2006/main">
            <a:off x="6724650" y="3238500"/>
            <a:ext cx="3429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8057C293-1269-4EA2-B7FC-96A0A9B5EB17}"/>
              </a:ext>
            </a:extLst>
          </p:cNvPr>
          <p:cNvSpPr>
            <a:spLocks xmlns:a="http://schemas.openxmlformats.org/drawingml/2006/main" noGrp="1"/>
          </p:cNvSpPr>
          <p:nvPr/>
        </p:nvSpPr>
        <p:spPr>
          <a:xfrm xmlns:a="http://schemas.openxmlformats.org/drawingml/2006/main">
            <a:off x="6724650" y="3238500"/>
            <a:ext cx="66675" cy="11239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35CBFF6-639F-4DC1-BCD1-C8FE022BA7CB}"/>
              </a:ext>
            </a:extLst>
          </p:cNvPr>
          <p:cNvSpPr>
            <a:spLocks xmlns:a="http://schemas.openxmlformats.org/drawingml/2006/main" noGrp="1"/>
          </p:cNvSpPr>
          <p:nvPr/>
        </p:nvSpPr>
        <p:spPr>
          <a:xfrm xmlns:a="http://schemas.openxmlformats.org/drawingml/2006/main">
            <a:off x="6953250" y="3409950"/>
            <a:ext cx="30289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The prototype is practical</a:t>
            </a:r>
          </a:p>
        </p:txBody>
      </p:sp>
      <p:sp>
        <p:nvSpPr>
          <p:cNvPr id="27" name="">
            <a:extLst xmlns:a="http://schemas.openxmlformats.org/drawingml/2006/main">
              <a:ext uri="{FF2B5EF4-FFF2-40B4-BE49-F238E27FC236}">
                <a16:creationId xmlns:a16="http://schemas.microsoft.com/office/drawing/2014/main" id="{559CCFA3-EC9D-43D2-BB89-31C8906A3482}"/>
              </a:ext>
            </a:extLst>
          </p:cNvPr>
          <p:cNvSpPr>
            <a:spLocks xmlns:a="http://schemas.openxmlformats.org/drawingml/2006/main" noGrp="1"/>
          </p:cNvSpPr>
          <p:nvPr/>
        </p:nvSpPr>
        <p:spPr>
          <a:xfrm xmlns:a="http://schemas.openxmlformats.org/drawingml/2006/main">
            <a:off x="6953250" y="3714750"/>
            <a:ext cx="30289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The result is a deployed web app with authentication, BYOK, uploads, workflows, audit events, and DOCX reports.</a:t>
            </a:r>
          </a:p>
        </p:txBody>
      </p:sp>
      <p:sp>
        <p:nvSpPr>
          <p:cNvPr id="28" name="">
            <a:extLst xmlns:a="http://schemas.openxmlformats.org/drawingml/2006/main">
              <a:ext uri="{FF2B5EF4-FFF2-40B4-BE49-F238E27FC236}">
                <a16:creationId xmlns:a16="http://schemas.microsoft.com/office/drawing/2014/main" id="{9B5F9A3C-645B-492B-8FF8-16E8407CBCC8}"/>
              </a:ext>
            </a:extLst>
          </p:cNvPr>
          <p:cNvSpPr>
            <a:spLocks xmlns:a="http://schemas.openxmlformats.org/drawingml/2006/main" noGrp="1"/>
          </p:cNvSpPr>
          <p:nvPr/>
        </p:nvSpPr>
        <p:spPr>
          <a:xfrm xmlns:a="http://schemas.openxmlformats.org/drawingml/2006/main">
            <a:off x="1714500" y="5067300"/>
            <a:ext cx="8763000" cy="609600"/>
          </a:xfrm>
          <a:prstGeom xmlns:a="http://schemas.openxmlformats.org/drawingml/2006/main" prst="roundRect">
            <a:avLst>
              <a:gd name="adj" fmla="val 12500"/>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471286DC-E1EE-4903-91F9-F5101B0277DC}"/>
              </a:ext>
            </a:extLst>
          </p:cNvPr>
          <p:cNvSpPr>
            <a:spLocks xmlns:a="http://schemas.openxmlformats.org/drawingml/2006/main" noGrp="1"/>
          </p:cNvSpPr>
          <p:nvPr/>
        </p:nvSpPr>
        <p:spPr>
          <a:xfrm xmlns:a="http://schemas.openxmlformats.org/drawingml/2006/main">
            <a:off x="2095500" y="5257800"/>
            <a:ext cx="8001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Future work: durable workflow queue, external connectors, richer evaluation, and organization-level permissions.</a:t>
            </a:r>
          </a:p>
        </p:txBody>
      </p:sp>
    </p:spTree>
    <p:extLst>
      <p:ext uri="{BB962C8B-B14F-4D97-AF65-F5344CB8AC3E}">
        <p14:creationId xmlns:p14="http://schemas.microsoft.com/office/powerpoint/2010/main" val="15606258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E19AD2-E35F-4E88-84C5-1218265E0C9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66838A2-3F87-40A9-8B7F-9B0E356EF007}"/>
              </a:ext>
            </a:extLst>
          </p:cNvPr>
          <p:cNvSpPr>
            <a:spLocks xmlns:a="http://schemas.openxmlformats.org/drawingml/2006/main" noGrp="1"/>
          </p:cNvSpPr>
          <p:nvPr/>
        </p:nvSpPr>
        <p:spPr>
          <a:xfrm xmlns:a="http://schemas.openxmlformats.org/drawingml/2006/main">
            <a:off x="0" y="76200"/>
            <a:ext cx="12192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7B5A45C-1632-42D5-B766-B54A98D4D5A5}"/>
              </a:ext>
            </a:extLst>
          </p:cNvPr>
          <p:cNvSpPr>
            <a:spLocks xmlns:a="http://schemas.openxmlformats.org/drawingml/2006/main" noGrp="1"/>
          </p:cNvSpPr>
          <p:nvPr/>
        </p:nvSpPr>
        <p:spPr>
          <a:xfrm xmlns:a="http://schemas.openxmlformats.org/drawingml/2006/main">
            <a:off x="514350" y="6419850"/>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4748B"/>
                </a:solidFill>
                <a:latin typeface="Aptos"/>
                <a:ea typeface="Aptos"/>
                <a:cs typeface="Aptos"/>
              </a:defRPr>
            </a:pPr>
            <a:r>
              <a:rPr sz="975" b="0">
                <a:solidFill>
                  <a:srgbClr val="64748B"/>
                </a:solidFill>
                <a:latin typeface="Aptos"/>
                <a:ea typeface="Aptos"/>
                <a:cs typeface="Aptos"/>
              </a:rPr>
              <a:t>ModelWeave | Service-oriented architecture for scalable LLM use</a:t>
            </a:r>
          </a:p>
        </p:txBody>
      </p:sp>
      <p:sp>
        <p:nvSpPr>
          <p:cNvPr id="4" name="">
            <a:extLst xmlns:a="http://schemas.openxmlformats.org/drawingml/2006/main">
              <a:ext uri="{FF2B5EF4-FFF2-40B4-BE49-F238E27FC236}">
                <a16:creationId xmlns:a16="http://schemas.microsoft.com/office/drawing/2014/main" id="{39173FF2-75E3-477E-B7AB-5E54AF57F921}"/>
              </a:ext>
            </a:extLst>
          </p:cNvPr>
          <p:cNvSpPr>
            <a:spLocks xmlns:a="http://schemas.openxmlformats.org/drawingml/2006/main" noGrp="1"/>
          </p:cNvSpPr>
          <p:nvPr/>
        </p:nvSpPr>
        <p:spPr>
          <a:xfrm xmlns:a="http://schemas.openxmlformats.org/drawingml/2006/main">
            <a:off x="11239500" y="64198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C8D2D975-2C6F-4A45-8B20-BC7C249218F5}"/>
              </a:ext>
            </a:extLst>
          </p:cNvPr>
          <p:cNvSpPr>
            <a:spLocks xmlns:a="http://schemas.openxmlformats.org/drawingml/2006/main" noGrp="1"/>
          </p:cNvSpPr>
          <p:nvPr/>
        </p:nvSpPr>
        <p:spPr>
          <a:xfrm xmlns:a="http://schemas.openxmlformats.org/drawingml/2006/main">
            <a:off x="9144000" y="64198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Aptos"/>
                <a:ea typeface="Aptos"/>
                <a:cs typeface="Aptos"/>
              </a:defRPr>
            </a:pPr>
            <a:r>
              <a:rPr sz="975" b="0">
                <a:solidFill>
                  <a:srgbClr val="64748B"/>
                </a:solidFill>
                <a:latin typeface="Aptos"/>
                <a:ea typeface="Aptos"/>
                <a:cs typeface="Aptos"/>
              </a:rPr>
              <a:t>Demo</a:t>
            </a:r>
          </a:p>
        </p:txBody>
      </p:sp>
      <p:sp>
        <p:nvSpPr>
          <p:cNvPr id="6" name="">
            <a:extLst xmlns:a="http://schemas.openxmlformats.org/drawingml/2006/main">
              <a:ext uri="{FF2B5EF4-FFF2-40B4-BE49-F238E27FC236}">
                <a16:creationId xmlns:a16="http://schemas.microsoft.com/office/drawing/2014/main" id="{5B71FCAE-C0E2-4E95-B727-DA7389AA2F98}"/>
              </a:ext>
            </a:extLst>
          </p:cNvPr>
          <p:cNvSpPr>
            <a:spLocks xmlns:a="http://schemas.openxmlformats.org/drawingml/2006/main" noGrp="1"/>
          </p:cNvSpPr>
          <p:nvPr/>
        </p:nvSpPr>
        <p:spPr>
          <a:xfrm xmlns:a="http://schemas.openxmlformats.org/drawingml/2006/main">
            <a:off x="609600" y="419100"/>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DEMO LINK</a:t>
            </a:r>
          </a:p>
        </p:txBody>
      </p:sp>
      <p:sp>
        <p:nvSpPr>
          <p:cNvPr id="7" name="">
            <a:extLst xmlns:a="http://schemas.openxmlformats.org/drawingml/2006/main">
              <a:ext uri="{FF2B5EF4-FFF2-40B4-BE49-F238E27FC236}">
                <a16:creationId xmlns:a16="http://schemas.microsoft.com/office/drawing/2014/main" id="{14315116-F7BD-4037-B2B0-351BCA32908D}"/>
              </a:ext>
            </a:extLst>
          </p:cNvPr>
          <p:cNvSpPr>
            <a:spLocks xmlns:a="http://schemas.openxmlformats.org/drawingml/2006/main" noGrp="1"/>
          </p:cNvSpPr>
          <p:nvPr/>
        </p:nvSpPr>
        <p:spPr>
          <a:xfrm xmlns:a="http://schemas.openxmlformats.org/drawingml/2006/main">
            <a:off x="609600" y="685800"/>
            <a:ext cx="7810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72A"/>
                </a:solidFill>
                <a:latin typeface="Aptos Display"/>
                <a:ea typeface="Aptos Display"/>
                <a:cs typeface="Aptos Display"/>
              </a:defRPr>
            </a:pPr>
            <a:r>
              <a:rPr sz="2550" b="1">
                <a:solidFill>
                  <a:srgbClr val="0F172A"/>
                </a:solidFill>
                <a:latin typeface="Aptos Display"/>
                <a:ea typeface="Aptos Display"/>
                <a:cs typeface="Aptos Display"/>
              </a:rPr>
              <a:t>Open the deployed ModelWeave prototype and run a document-agent workflow</a:t>
            </a:r>
          </a:p>
        </p:txBody>
      </p:sp>
      <p:sp>
        <p:nvSpPr>
          <p:cNvPr id="8" name="">
            <a:extLst xmlns:a="http://schemas.openxmlformats.org/drawingml/2006/main">
              <a:ext uri="{FF2B5EF4-FFF2-40B4-BE49-F238E27FC236}">
                <a16:creationId xmlns:a16="http://schemas.microsoft.com/office/drawing/2014/main" id="{E1F37F70-CF83-46E1-B81F-2907BFC79A63}"/>
              </a:ext>
            </a:extLst>
          </p:cNvPr>
          <p:cNvSpPr>
            <a:spLocks xmlns:a="http://schemas.openxmlformats.org/drawingml/2006/main" noGrp="1"/>
          </p:cNvSpPr>
          <p:nvPr/>
        </p:nvSpPr>
        <p:spPr>
          <a:xfrm xmlns:a="http://schemas.openxmlformats.org/drawingml/2006/main">
            <a:off x="704850" y="1562100"/>
            <a:ext cx="3333750" cy="3714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075BD7E8-06B4-42FA-9A52-DF10D70889EE}"/>
              </a:ext>
            </a:extLst>
          </p:cNvPr>
          <p:cNvSpPr>
            <a:spLocks xmlns:a="http://schemas.openxmlformats.org/drawingml/2006/main" noGrp="1"/>
          </p:cNvSpPr>
          <p:nvPr/>
        </p:nvSpPr>
        <p:spPr>
          <a:xfrm xmlns:a="http://schemas.openxmlformats.org/drawingml/2006/main">
            <a:off x="1104900" y="1885950"/>
            <a:ext cx="2533650" cy="2533650"/>
          </a:xfrm>
          <a:prstGeom xmlns:a="http://schemas.openxmlformats.org/drawingml/2006/main" prst="roundRect">
            <a:avLst>
              <a:gd name="adj" fmla="val 3008"/>
            </a:avLst>
          </a:prstGeom>
          <a:solidFill xmlns:a="http://schemas.openxmlformats.org/drawingml/2006/main">
            <a:srgbClr val="FFFFFF"/>
          </a:solidFill>
          <a:ln xmlns:a="http://schemas.openxmlformats.org/drawingml/2006/main" w="9525">
            <a:solidFill>
              <a:srgbClr val="CBD5E1"/>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763923b8cfc45fd"/>
          <a:stretch xmlns:a="http://schemas.openxmlformats.org/drawingml/2006/main"/>
        </p:blipFill>
        <p:spPr>
          <a:xfrm xmlns:a="http://schemas.openxmlformats.org/drawingml/2006/main">
            <a:off x="1181100" y="1962150"/>
            <a:ext cx="2381250" cy="2381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B71ADCB-C01C-4084-8A25-EE5EF0DF3C0C}"/>
              </a:ext>
            </a:extLst>
          </p:cNvPr>
          <p:cNvSpPr>
            <a:spLocks xmlns:a="http://schemas.openxmlformats.org/drawingml/2006/main" noGrp="1"/>
          </p:cNvSpPr>
          <p:nvPr/>
        </p:nvSpPr>
        <p:spPr>
          <a:xfrm xmlns:a="http://schemas.openxmlformats.org/drawingml/2006/main">
            <a:off x="838200" y="466725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563EB"/>
                </a:solidFill>
                <a:latin typeface="Aptos"/>
                <a:ea typeface="Aptos"/>
                <a:cs typeface="Aptos"/>
              </a:defRPr>
            </a:pPr>
            <a:r>
              <a:rPr sz="1200" b="1">
                <a:solidFill>
                  <a:srgbClr val="2563EB"/>
                </a:solidFill>
                <a:latin typeface="Aptos"/>
                <a:ea typeface="Aptos"/>
                <a:cs typeface="Aptos"/>
              </a:rPr>
              <a:t>https://modelweave-two.vercel.app</a:t>
            </a:r>
          </a:p>
        </p:txBody>
      </p:sp>
      <p:sp>
        <p:nvSpPr>
          <p:cNvPr id="12" name="">
            <a:extLst xmlns:a="http://schemas.openxmlformats.org/drawingml/2006/main">
              <a:ext uri="{FF2B5EF4-FFF2-40B4-BE49-F238E27FC236}">
                <a16:creationId xmlns:a16="http://schemas.microsoft.com/office/drawing/2014/main" id="{B63C34C1-D1A0-4F2F-8E8D-3342DA1EB200}"/>
              </a:ext>
            </a:extLst>
          </p:cNvPr>
          <p:cNvSpPr>
            <a:spLocks xmlns:a="http://schemas.openxmlformats.org/drawingml/2006/main" noGrp="1"/>
          </p:cNvSpPr>
          <p:nvPr/>
        </p:nvSpPr>
        <p:spPr>
          <a:xfrm xmlns:a="http://schemas.openxmlformats.org/drawingml/2006/main">
            <a:off x="4514850" y="1562100"/>
            <a:ext cx="6572250" cy="3714750"/>
          </a:xfrm>
          <a:prstGeom xmlns:a="http://schemas.openxmlformats.org/drawingml/2006/main" prst="roundRect">
            <a:avLst>
              <a:gd name="adj" fmla="val 2051"/>
            </a:avLst>
          </a:prstGeom>
          <a:solidFill xmlns:a="http://schemas.openxmlformats.org/drawingml/2006/main">
            <a:srgbClr val="F8FAF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B290AA51-1B77-47A0-A4C6-EF4B43A7B23A}"/>
              </a:ext>
            </a:extLst>
          </p:cNvPr>
          <p:cNvSpPr>
            <a:spLocks xmlns:a="http://schemas.openxmlformats.org/drawingml/2006/main" noGrp="1"/>
          </p:cNvSpPr>
          <p:nvPr/>
        </p:nvSpPr>
        <p:spPr>
          <a:xfrm xmlns:a="http://schemas.openxmlformats.org/drawingml/2006/main">
            <a:off x="4876800" y="184785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Demo path</a:t>
            </a:r>
          </a:p>
        </p:txBody>
      </p:sp>
      <p:sp>
        <p:nvSpPr>
          <p:cNvPr id="14" name="">
            <a:extLst xmlns:a="http://schemas.openxmlformats.org/drawingml/2006/main">
              <a:ext uri="{FF2B5EF4-FFF2-40B4-BE49-F238E27FC236}">
                <a16:creationId xmlns:a16="http://schemas.microsoft.com/office/drawing/2014/main" id="{F059BB2D-5459-4977-BEB3-B8DF22898E3D}"/>
              </a:ext>
            </a:extLst>
          </p:cNvPr>
          <p:cNvSpPr>
            <a:spLocks xmlns:a="http://schemas.openxmlformats.org/drawingml/2006/main" noGrp="1"/>
          </p:cNvSpPr>
          <p:nvPr/>
        </p:nvSpPr>
        <p:spPr>
          <a:xfrm xmlns:a="http://schemas.openxmlformats.org/drawingml/2006/main">
            <a:off x="4876800" y="2266950"/>
            <a:ext cx="57531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A92B97E8-7E59-4539-AA05-CAC352F4B693}"/>
              </a:ext>
            </a:extLst>
          </p:cNvPr>
          <p:cNvSpPr>
            <a:spLocks xmlns:a="http://schemas.openxmlformats.org/drawingml/2006/main" noGrp="1"/>
          </p:cNvSpPr>
          <p:nvPr/>
        </p:nvSpPr>
        <p:spPr>
          <a:xfrm xmlns:a="http://schemas.openxmlformats.org/drawingml/2006/main">
            <a:off x="5029200" y="2419350"/>
            <a:ext cx="323850" cy="323850"/>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sp>
      <p:sp>
        <p:nvSpPr>
          <p:cNvPr id="16" name="">
            <a:extLst xmlns:a="http://schemas.openxmlformats.org/drawingml/2006/main">
              <a:ext uri="{FF2B5EF4-FFF2-40B4-BE49-F238E27FC236}">
                <a16:creationId xmlns:a16="http://schemas.microsoft.com/office/drawing/2014/main" id="{DC3B65FB-9F90-4033-A58A-7A72B0AC6A56}"/>
              </a:ext>
            </a:extLst>
          </p:cNvPr>
          <p:cNvSpPr>
            <a:spLocks xmlns:a="http://schemas.openxmlformats.org/drawingml/2006/main" noGrp="1"/>
          </p:cNvSpPr>
          <p:nvPr/>
        </p:nvSpPr>
        <p:spPr>
          <a:xfrm xmlns:a="http://schemas.openxmlformats.org/drawingml/2006/main">
            <a:off x="5029200" y="2476500"/>
            <a:ext cx="323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99AE3E65-8773-4972-BB6F-2E310378A027}"/>
              </a:ext>
            </a:extLst>
          </p:cNvPr>
          <p:cNvSpPr>
            <a:spLocks xmlns:a="http://schemas.openxmlformats.org/drawingml/2006/main" noGrp="1"/>
          </p:cNvSpPr>
          <p:nvPr/>
        </p:nvSpPr>
        <p:spPr>
          <a:xfrm xmlns:a="http://schemas.openxmlformats.org/drawingml/2006/main">
            <a:off x="5486400" y="2390775"/>
            <a:ext cx="497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a:ea typeface="Aptos"/>
                <a:cs typeface="Aptos"/>
              </a:defRPr>
            </a:pPr>
            <a:r>
              <a:rPr sz="1200" b="1">
                <a:solidFill>
                  <a:srgbClr val="0F172A"/>
                </a:solidFill>
                <a:latin typeface="Aptos"/>
                <a:ea typeface="Aptos"/>
                <a:cs typeface="Aptos"/>
              </a:rPr>
              <a:t>Sign in</a:t>
            </a:r>
          </a:p>
        </p:txBody>
      </p:sp>
      <p:sp>
        <p:nvSpPr>
          <p:cNvPr id="18" name="">
            <a:extLst xmlns:a="http://schemas.openxmlformats.org/drawingml/2006/main">
              <a:ext uri="{FF2B5EF4-FFF2-40B4-BE49-F238E27FC236}">
                <a16:creationId xmlns:a16="http://schemas.microsoft.com/office/drawing/2014/main" id="{AC631D72-07CE-4CB0-831F-A9A90A3D89A6}"/>
              </a:ext>
            </a:extLst>
          </p:cNvPr>
          <p:cNvSpPr>
            <a:spLocks xmlns:a="http://schemas.openxmlformats.org/drawingml/2006/main" noGrp="1"/>
          </p:cNvSpPr>
          <p:nvPr/>
        </p:nvSpPr>
        <p:spPr>
          <a:xfrm xmlns:a="http://schemas.openxmlformats.org/drawingml/2006/main">
            <a:off x="5486400" y="2628900"/>
            <a:ext cx="4972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Register or confirm the user session through Supabase Auth.</a:t>
            </a:r>
          </a:p>
        </p:txBody>
      </p:sp>
      <p:sp>
        <p:nvSpPr>
          <p:cNvPr id="19" name="">
            <a:extLst xmlns:a="http://schemas.openxmlformats.org/drawingml/2006/main">
              <a:ext uri="{FF2B5EF4-FFF2-40B4-BE49-F238E27FC236}">
                <a16:creationId xmlns:a16="http://schemas.microsoft.com/office/drawing/2014/main" id="{9DA09712-F930-48FD-8FD7-EFCAA17C0602}"/>
              </a:ext>
            </a:extLst>
          </p:cNvPr>
          <p:cNvSpPr>
            <a:spLocks xmlns:a="http://schemas.openxmlformats.org/drawingml/2006/main" noGrp="1"/>
          </p:cNvSpPr>
          <p:nvPr/>
        </p:nvSpPr>
        <p:spPr>
          <a:xfrm xmlns:a="http://schemas.openxmlformats.org/drawingml/2006/main">
            <a:off x="4876800" y="2819400"/>
            <a:ext cx="57531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C5688568-6AC6-447A-A7D1-1B01B22722BC}"/>
              </a:ext>
            </a:extLst>
          </p:cNvPr>
          <p:cNvSpPr>
            <a:spLocks xmlns:a="http://schemas.openxmlformats.org/drawingml/2006/main" noGrp="1"/>
          </p:cNvSpPr>
          <p:nvPr/>
        </p:nvSpPr>
        <p:spPr>
          <a:xfrm xmlns:a="http://schemas.openxmlformats.org/drawingml/2006/main">
            <a:off x="5029200" y="2971800"/>
            <a:ext cx="323850" cy="3238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1" name="">
            <a:extLst xmlns:a="http://schemas.openxmlformats.org/drawingml/2006/main">
              <a:ext uri="{FF2B5EF4-FFF2-40B4-BE49-F238E27FC236}">
                <a16:creationId xmlns:a16="http://schemas.microsoft.com/office/drawing/2014/main" id="{6231F357-B2FB-4DF9-AC57-043836E8A041}"/>
              </a:ext>
            </a:extLst>
          </p:cNvPr>
          <p:cNvSpPr>
            <a:spLocks xmlns:a="http://schemas.openxmlformats.org/drawingml/2006/main" noGrp="1"/>
          </p:cNvSpPr>
          <p:nvPr/>
        </p:nvSpPr>
        <p:spPr>
          <a:xfrm xmlns:a="http://schemas.openxmlformats.org/drawingml/2006/main">
            <a:off x="5029200" y="3028950"/>
            <a:ext cx="323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2</a:t>
            </a:r>
          </a:p>
        </p:txBody>
      </p:sp>
      <p:sp>
        <p:nvSpPr>
          <p:cNvPr id="22" name="">
            <a:extLst xmlns:a="http://schemas.openxmlformats.org/drawingml/2006/main">
              <a:ext uri="{FF2B5EF4-FFF2-40B4-BE49-F238E27FC236}">
                <a16:creationId xmlns:a16="http://schemas.microsoft.com/office/drawing/2014/main" id="{8DB266FC-381F-4EA2-83AF-F10211309341}"/>
              </a:ext>
            </a:extLst>
          </p:cNvPr>
          <p:cNvSpPr>
            <a:spLocks xmlns:a="http://schemas.openxmlformats.org/drawingml/2006/main" noGrp="1"/>
          </p:cNvSpPr>
          <p:nvPr/>
        </p:nvSpPr>
        <p:spPr>
          <a:xfrm xmlns:a="http://schemas.openxmlformats.org/drawingml/2006/main">
            <a:off x="5486400" y="2943225"/>
            <a:ext cx="497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a:ea typeface="Aptos"/>
                <a:cs typeface="Aptos"/>
              </a:defRPr>
            </a:pPr>
            <a:r>
              <a:rPr sz="1200" b="1">
                <a:solidFill>
                  <a:srgbClr val="0F172A"/>
                </a:solidFill>
                <a:latin typeface="Aptos"/>
                <a:ea typeface="Aptos"/>
                <a:cs typeface="Aptos"/>
              </a:rPr>
              <a:t>Add model key</a:t>
            </a:r>
          </a:p>
        </p:txBody>
      </p:sp>
      <p:sp>
        <p:nvSpPr>
          <p:cNvPr id="23" name="">
            <a:extLst xmlns:a="http://schemas.openxmlformats.org/drawingml/2006/main">
              <a:ext uri="{FF2B5EF4-FFF2-40B4-BE49-F238E27FC236}">
                <a16:creationId xmlns:a16="http://schemas.microsoft.com/office/drawing/2014/main" id="{E4C6554B-77C9-4007-BF0E-82CBD1140CDF}"/>
              </a:ext>
            </a:extLst>
          </p:cNvPr>
          <p:cNvSpPr>
            <a:spLocks xmlns:a="http://schemas.openxmlformats.org/drawingml/2006/main" noGrp="1"/>
          </p:cNvSpPr>
          <p:nvPr/>
        </p:nvSpPr>
        <p:spPr>
          <a:xfrm xmlns:a="http://schemas.openxmlformats.org/drawingml/2006/main">
            <a:off x="5486400" y="3181350"/>
            <a:ext cx="4972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Save the user's own Anthropic API key for agent execution.</a:t>
            </a:r>
          </a:p>
        </p:txBody>
      </p:sp>
      <p:sp>
        <p:nvSpPr>
          <p:cNvPr id="24" name="">
            <a:extLst xmlns:a="http://schemas.openxmlformats.org/drawingml/2006/main">
              <a:ext uri="{FF2B5EF4-FFF2-40B4-BE49-F238E27FC236}">
                <a16:creationId xmlns:a16="http://schemas.microsoft.com/office/drawing/2014/main" id="{B10F7A92-DFE8-4425-A39E-EB3D313F8FFC}"/>
              </a:ext>
            </a:extLst>
          </p:cNvPr>
          <p:cNvSpPr>
            <a:spLocks xmlns:a="http://schemas.openxmlformats.org/drawingml/2006/main" noGrp="1"/>
          </p:cNvSpPr>
          <p:nvPr/>
        </p:nvSpPr>
        <p:spPr>
          <a:xfrm xmlns:a="http://schemas.openxmlformats.org/drawingml/2006/main">
            <a:off x="4876800" y="3371850"/>
            <a:ext cx="57531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667B9A7B-6CCF-4CA0-9C3A-21C372178139}"/>
              </a:ext>
            </a:extLst>
          </p:cNvPr>
          <p:cNvSpPr>
            <a:spLocks xmlns:a="http://schemas.openxmlformats.org/drawingml/2006/main" noGrp="1"/>
          </p:cNvSpPr>
          <p:nvPr/>
        </p:nvSpPr>
        <p:spPr>
          <a:xfrm xmlns:a="http://schemas.openxmlformats.org/drawingml/2006/main">
            <a:off x="5029200" y="3524250"/>
            <a:ext cx="323850" cy="323850"/>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sp>
      <p:sp>
        <p:nvSpPr>
          <p:cNvPr id="26" name="">
            <a:extLst xmlns:a="http://schemas.openxmlformats.org/drawingml/2006/main">
              <a:ext uri="{FF2B5EF4-FFF2-40B4-BE49-F238E27FC236}">
                <a16:creationId xmlns:a16="http://schemas.microsoft.com/office/drawing/2014/main" id="{29D6BAF2-3254-4A65-B57B-3172D7F975B4}"/>
              </a:ext>
            </a:extLst>
          </p:cNvPr>
          <p:cNvSpPr>
            <a:spLocks xmlns:a="http://schemas.openxmlformats.org/drawingml/2006/main" noGrp="1"/>
          </p:cNvSpPr>
          <p:nvPr/>
        </p:nvSpPr>
        <p:spPr>
          <a:xfrm xmlns:a="http://schemas.openxmlformats.org/drawingml/2006/main">
            <a:off x="5029200" y="3581400"/>
            <a:ext cx="323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3</a:t>
            </a:r>
          </a:p>
        </p:txBody>
      </p:sp>
      <p:sp>
        <p:nvSpPr>
          <p:cNvPr id="27" name="">
            <a:extLst xmlns:a="http://schemas.openxmlformats.org/drawingml/2006/main">
              <a:ext uri="{FF2B5EF4-FFF2-40B4-BE49-F238E27FC236}">
                <a16:creationId xmlns:a16="http://schemas.microsoft.com/office/drawing/2014/main" id="{AA0B2DB7-5BA6-4392-8CFB-5748AFB2A0CF}"/>
              </a:ext>
            </a:extLst>
          </p:cNvPr>
          <p:cNvSpPr>
            <a:spLocks xmlns:a="http://schemas.openxmlformats.org/drawingml/2006/main" noGrp="1"/>
          </p:cNvSpPr>
          <p:nvPr/>
        </p:nvSpPr>
        <p:spPr>
          <a:xfrm xmlns:a="http://schemas.openxmlformats.org/drawingml/2006/main">
            <a:off x="5486400" y="3495675"/>
            <a:ext cx="497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a:ea typeface="Aptos"/>
                <a:cs typeface="Aptos"/>
              </a:defRPr>
            </a:pPr>
            <a:r>
              <a:rPr sz="1200" b="1">
                <a:solidFill>
                  <a:srgbClr val="0F172A"/>
                </a:solidFill>
                <a:latin typeface="Aptos"/>
                <a:ea typeface="Aptos"/>
                <a:cs typeface="Aptos"/>
              </a:rPr>
              <a:t>Load corpus</a:t>
            </a:r>
          </a:p>
        </p:txBody>
      </p:sp>
      <p:sp>
        <p:nvSpPr>
          <p:cNvPr id="28" name="">
            <a:extLst xmlns:a="http://schemas.openxmlformats.org/drawingml/2006/main">
              <a:ext uri="{FF2B5EF4-FFF2-40B4-BE49-F238E27FC236}">
                <a16:creationId xmlns:a16="http://schemas.microsoft.com/office/drawing/2014/main" id="{13FB9B90-8F6D-4361-85D2-60277337C1FC}"/>
              </a:ext>
            </a:extLst>
          </p:cNvPr>
          <p:cNvSpPr>
            <a:spLocks xmlns:a="http://schemas.openxmlformats.org/drawingml/2006/main" noGrp="1"/>
          </p:cNvSpPr>
          <p:nvPr/>
        </p:nvSpPr>
        <p:spPr>
          <a:xfrm xmlns:a="http://schemas.openxmlformats.org/drawingml/2006/main">
            <a:off x="5486400" y="3733800"/>
            <a:ext cx="4972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Seed the synthetic academic document set.</a:t>
            </a:r>
          </a:p>
        </p:txBody>
      </p:sp>
      <p:sp>
        <p:nvSpPr>
          <p:cNvPr id="29" name="">
            <a:extLst xmlns:a="http://schemas.openxmlformats.org/drawingml/2006/main">
              <a:ext uri="{FF2B5EF4-FFF2-40B4-BE49-F238E27FC236}">
                <a16:creationId xmlns:a16="http://schemas.microsoft.com/office/drawing/2014/main" id="{1A9C9A79-641F-4FD8-ADCD-84FD050D3623}"/>
              </a:ext>
            </a:extLst>
          </p:cNvPr>
          <p:cNvSpPr>
            <a:spLocks xmlns:a="http://schemas.openxmlformats.org/drawingml/2006/main" noGrp="1"/>
          </p:cNvSpPr>
          <p:nvPr/>
        </p:nvSpPr>
        <p:spPr>
          <a:xfrm xmlns:a="http://schemas.openxmlformats.org/drawingml/2006/main">
            <a:off x="4876800" y="3924300"/>
            <a:ext cx="57531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B77A96B8-BE74-4AE0-A374-3CF5955B4534}"/>
              </a:ext>
            </a:extLst>
          </p:cNvPr>
          <p:cNvSpPr>
            <a:spLocks xmlns:a="http://schemas.openxmlformats.org/drawingml/2006/main" noGrp="1"/>
          </p:cNvSpPr>
          <p:nvPr/>
        </p:nvSpPr>
        <p:spPr>
          <a:xfrm xmlns:a="http://schemas.openxmlformats.org/drawingml/2006/main">
            <a:off x="5029200" y="4076700"/>
            <a:ext cx="323850" cy="3238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1" name="">
            <a:extLst xmlns:a="http://schemas.openxmlformats.org/drawingml/2006/main">
              <a:ext uri="{FF2B5EF4-FFF2-40B4-BE49-F238E27FC236}">
                <a16:creationId xmlns:a16="http://schemas.microsoft.com/office/drawing/2014/main" id="{A2A18241-9CE1-44F5-B54C-4252A91D6C06}"/>
              </a:ext>
            </a:extLst>
          </p:cNvPr>
          <p:cNvSpPr>
            <a:spLocks xmlns:a="http://schemas.openxmlformats.org/drawingml/2006/main" noGrp="1"/>
          </p:cNvSpPr>
          <p:nvPr/>
        </p:nvSpPr>
        <p:spPr>
          <a:xfrm xmlns:a="http://schemas.openxmlformats.org/drawingml/2006/main">
            <a:off x="5029200" y="4133850"/>
            <a:ext cx="323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4</a:t>
            </a:r>
          </a:p>
        </p:txBody>
      </p:sp>
      <p:sp>
        <p:nvSpPr>
          <p:cNvPr id="32" name="">
            <a:extLst xmlns:a="http://schemas.openxmlformats.org/drawingml/2006/main">
              <a:ext uri="{FF2B5EF4-FFF2-40B4-BE49-F238E27FC236}">
                <a16:creationId xmlns:a16="http://schemas.microsoft.com/office/drawing/2014/main" id="{76403934-6536-4EF4-B4F5-73D69BBD66D5}"/>
              </a:ext>
            </a:extLst>
          </p:cNvPr>
          <p:cNvSpPr>
            <a:spLocks xmlns:a="http://schemas.openxmlformats.org/drawingml/2006/main" noGrp="1"/>
          </p:cNvSpPr>
          <p:nvPr/>
        </p:nvSpPr>
        <p:spPr>
          <a:xfrm xmlns:a="http://schemas.openxmlformats.org/drawingml/2006/main">
            <a:off x="5486400" y="4048125"/>
            <a:ext cx="497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a:ea typeface="Aptos"/>
                <a:cs typeface="Aptos"/>
              </a:defRPr>
            </a:pPr>
            <a:r>
              <a:rPr sz="1200" b="1">
                <a:solidFill>
                  <a:srgbClr val="0F172A"/>
                </a:solidFill>
                <a:latin typeface="Aptos"/>
                <a:ea typeface="Aptos"/>
                <a:cs typeface="Aptos"/>
              </a:rPr>
              <a:t>Run workflow</a:t>
            </a:r>
          </a:p>
        </p:txBody>
      </p:sp>
      <p:sp>
        <p:nvSpPr>
          <p:cNvPr id="33" name="">
            <a:extLst xmlns:a="http://schemas.openxmlformats.org/drawingml/2006/main">
              <a:ext uri="{FF2B5EF4-FFF2-40B4-BE49-F238E27FC236}">
                <a16:creationId xmlns:a16="http://schemas.microsoft.com/office/drawing/2014/main" id="{59F991C6-FAD3-4D78-A39F-872F81F1E1D4}"/>
              </a:ext>
            </a:extLst>
          </p:cNvPr>
          <p:cNvSpPr>
            <a:spLocks xmlns:a="http://schemas.openxmlformats.org/drawingml/2006/main" noGrp="1"/>
          </p:cNvSpPr>
          <p:nvPr/>
        </p:nvSpPr>
        <p:spPr>
          <a:xfrm xmlns:a="http://schemas.openxmlformats.org/drawingml/2006/main">
            <a:off x="5486400" y="4286250"/>
            <a:ext cx="4972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Run the default Document Operations Review workflow.</a:t>
            </a:r>
          </a:p>
        </p:txBody>
      </p:sp>
      <p:sp>
        <p:nvSpPr>
          <p:cNvPr id="34" name="">
            <a:extLst xmlns:a="http://schemas.openxmlformats.org/drawingml/2006/main">
              <a:ext uri="{FF2B5EF4-FFF2-40B4-BE49-F238E27FC236}">
                <a16:creationId xmlns:a16="http://schemas.microsoft.com/office/drawing/2014/main" id="{D6A14DF5-4ADE-40EA-8F95-6D4D8DC365AE}"/>
              </a:ext>
            </a:extLst>
          </p:cNvPr>
          <p:cNvSpPr>
            <a:spLocks xmlns:a="http://schemas.openxmlformats.org/drawingml/2006/main" noGrp="1"/>
          </p:cNvSpPr>
          <p:nvPr/>
        </p:nvSpPr>
        <p:spPr>
          <a:xfrm xmlns:a="http://schemas.openxmlformats.org/drawingml/2006/main">
            <a:off x="4876800" y="4476750"/>
            <a:ext cx="57531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09178CF4-2953-47F5-AF2F-4B191C0DF579}"/>
              </a:ext>
            </a:extLst>
          </p:cNvPr>
          <p:cNvSpPr>
            <a:spLocks xmlns:a="http://schemas.openxmlformats.org/drawingml/2006/main" noGrp="1"/>
          </p:cNvSpPr>
          <p:nvPr/>
        </p:nvSpPr>
        <p:spPr>
          <a:xfrm xmlns:a="http://schemas.openxmlformats.org/drawingml/2006/main">
            <a:off x="5029200" y="4629150"/>
            <a:ext cx="323850" cy="323850"/>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sp>
      <p:sp>
        <p:nvSpPr>
          <p:cNvPr id="36" name="">
            <a:extLst xmlns:a="http://schemas.openxmlformats.org/drawingml/2006/main">
              <a:ext uri="{FF2B5EF4-FFF2-40B4-BE49-F238E27FC236}">
                <a16:creationId xmlns:a16="http://schemas.microsoft.com/office/drawing/2014/main" id="{0C032BE1-4753-4662-90DB-608F213D6FC9}"/>
              </a:ext>
            </a:extLst>
          </p:cNvPr>
          <p:cNvSpPr>
            <a:spLocks xmlns:a="http://schemas.openxmlformats.org/drawingml/2006/main" noGrp="1"/>
          </p:cNvSpPr>
          <p:nvPr/>
        </p:nvSpPr>
        <p:spPr>
          <a:xfrm xmlns:a="http://schemas.openxmlformats.org/drawingml/2006/main">
            <a:off x="5029200" y="4686300"/>
            <a:ext cx="323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5</a:t>
            </a:r>
          </a:p>
        </p:txBody>
      </p:sp>
      <p:sp>
        <p:nvSpPr>
          <p:cNvPr id="37" name="">
            <a:extLst xmlns:a="http://schemas.openxmlformats.org/drawingml/2006/main">
              <a:ext uri="{FF2B5EF4-FFF2-40B4-BE49-F238E27FC236}">
                <a16:creationId xmlns:a16="http://schemas.microsoft.com/office/drawing/2014/main" id="{C47DE847-16C7-4658-B76F-01C928D42DE1}"/>
              </a:ext>
            </a:extLst>
          </p:cNvPr>
          <p:cNvSpPr>
            <a:spLocks xmlns:a="http://schemas.openxmlformats.org/drawingml/2006/main" noGrp="1"/>
          </p:cNvSpPr>
          <p:nvPr/>
        </p:nvSpPr>
        <p:spPr>
          <a:xfrm xmlns:a="http://schemas.openxmlformats.org/drawingml/2006/main">
            <a:off x="5486400" y="4600575"/>
            <a:ext cx="497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172A"/>
                </a:solidFill>
                <a:latin typeface="Aptos"/>
                <a:ea typeface="Aptos"/>
                <a:cs typeface="Aptos"/>
              </a:defRPr>
            </a:pPr>
            <a:r>
              <a:rPr sz="1200" b="1">
                <a:solidFill>
                  <a:srgbClr val="0F172A"/>
                </a:solidFill>
                <a:latin typeface="Aptos"/>
                <a:ea typeface="Aptos"/>
                <a:cs typeface="Aptos"/>
              </a:rPr>
              <a:t>Review output</a:t>
            </a:r>
          </a:p>
        </p:txBody>
      </p:sp>
      <p:sp>
        <p:nvSpPr>
          <p:cNvPr id="38" name="">
            <a:extLst xmlns:a="http://schemas.openxmlformats.org/drawingml/2006/main">
              <a:ext uri="{FF2B5EF4-FFF2-40B4-BE49-F238E27FC236}">
                <a16:creationId xmlns:a16="http://schemas.microsoft.com/office/drawing/2014/main" id="{75A0BA8E-9A91-406D-B0F4-686996ED75DE}"/>
              </a:ext>
            </a:extLst>
          </p:cNvPr>
          <p:cNvSpPr>
            <a:spLocks xmlns:a="http://schemas.openxmlformats.org/drawingml/2006/main" noGrp="1"/>
          </p:cNvSpPr>
          <p:nvPr/>
        </p:nvSpPr>
        <p:spPr>
          <a:xfrm xmlns:a="http://schemas.openxmlformats.org/drawingml/2006/main">
            <a:off x="5486400" y="4838700"/>
            <a:ext cx="4972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Inspect timeline, citations, approvals, tasks, evaluation, and DOCX report.</a:t>
            </a:r>
          </a:p>
        </p:txBody>
      </p:sp>
      <p:sp>
        <p:nvSpPr>
          <p:cNvPr id="39" name="">
            <a:extLst xmlns:a="http://schemas.openxmlformats.org/drawingml/2006/main">
              <a:ext uri="{FF2B5EF4-FFF2-40B4-BE49-F238E27FC236}">
                <a16:creationId xmlns:a16="http://schemas.microsoft.com/office/drawing/2014/main" id="{A7D0FD16-DBB5-42BC-942F-BAC571260939}"/>
              </a:ext>
            </a:extLst>
          </p:cNvPr>
          <p:cNvSpPr>
            <a:spLocks xmlns:a="http://schemas.openxmlformats.org/drawingml/2006/main" noGrp="1"/>
          </p:cNvSpPr>
          <p:nvPr/>
        </p:nvSpPr>
        <p:spPr>
          <a:xfrm xmlns:a="http://schemas.openxmlformats.org/drawingml/2006/main">
            <a:off x="704850" y="5581650"/>
            <a:ext cx="10382250" cy="495300"/>
          </a:xfrm>
          <a:prstGeom xmlns:a="http://schemas.openxmlformats.org/drawingml/2006/main" prst="roundRect">
            <a:avLst>
              <a:gd name="adj" fmla="val 15385"/>
            </a:avLst>
          </a:prstGeom>
          <a:solidFill xmlns:a="http://schemas.openxmlformats.org/drawingml/2006/main">
            <a:srgbClr val="0F172A"/>
          </a:solidFill>
          <a:ln xmlns:a="http://schemas.openxmlformats.org/drawingml/2006/main" w="9525">
            <a:solidFill>
              <a:srgbClr val="0F172A"/>
            </a:solidFill>
            <a:prstDash val="solid"/>
          </a:ln>
        </p:spPr>
      </p:sp>
      <p:sp>
        <p:nvSpPr>
          <p:cNvPr id="40" name="">
            <a:extLst xmlns:a="http://schemas.openxmlformats.org/drawingml/2006/main">
              <a:ext uri="{FF2B5EF4-FFF2-40B4-BE49-F238E27FC236}">
                <a16:creationId xmlns:a16="http://schemas.microsoft.com/office/drawing/2014/main" id="{D0F188E2-B97C-4FFD-B0E2-A9492F322F8C}"/>
              </a:ext>
            </a:extLst>
          </p:cNvPr>
          <p:cNvSpPr>
            <a:spLocks xmlns:a="http://schemas.openxmlformats.org/drawingml/2006/main" noGrp="1"/>
          </p:cNvSpPr>
          <p:nvPr/>
        </p:nvSpPr>
        <p:spPr>
          <a:xfrm xmlns:a="http://schemas.openxmlformats.org/drawingml/2006/main">
            <a:off x="990600" y="5734050"/>
            <a:ext cx="409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DCE7F3"/>
                </a:solidFill>
                <a:latin typeface="Aptos"/>
                <a:ea typeface="Aptos"/>
                <a:cs typeface="Aptos"/>
              </a:defRPr>
            </a:pPr>
            <a:r>
              <a:rPr sz="1050" b="0">
                <a:solidFill>
                  <a:srgbClr val="DCE7F3"/>
                </a:solidFill>
                <a:latin typeface="Aptos"/>
                <a:ea typeface="Aptos"/>
                <a:cs typeface="Aptos"/>
              </a:rPr>
              <a:t>Backend: https://api-production-e70a9.up.railway.app</a:t>
            </a:r>
          </a:p>
        </p:txBody>
      </p:sp>
      <p:sp>
        <p:nvSpPr>
          <p:cNvPr id="41" name="">
            <a:extLst xmlns:a="http://schemas.openxmlformats.org/drawingml/2006/main">
              <a:ext uri="{FF2B5EF4-FFF2-40B4-BE49-F238E27FC236}">
                <a16:creationId xmlns:a16="http://schemas.microsoft.com/office/drawing/2014/main" id="{4E70F36A-E01A-42CE-9C79-CD0CDBC278E8}"/>
              </a:ext>
            </a:extLst>
          </p:cNvPr>
          <p:cNvSpPr>
            <a:spLocks xmlns:a="http://schemas.openxmlformats.org/drawingml/2006/main" noGrp="1"/>
          </p:cNvSpPr>
          <p:nvPr/>
        </p:nvSpPr>
        <p:spPr>
          <a:xfrm xmlns:a="http://schemas.openxmlformats.org/drawingml/2006/main">
            <a:off x="5334000" y="5734050"/>
            <a:ext cx="533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DCE7F3"/>
                </a:solidFill>
                <a:latin typeface="Aptos"/>
                <a:ea typeface="Aptos"/>
                <a:cs typeface="Aptos"/>
              </a:defRPr>
            </a:pPr>
            <a:r>
              <a:rPr sz="1050" b="0">
                <a:solidFill>
                  <a:srgbClr val="DCE7F3"/>
                </a:solidFill>
                <a:latin typeface="Aptos"/>
                <a:ea typeface="Aptos"/>
                <a:cs typeface="Aptos"/>
              </a:rPr>
              <a:t>Repository: https://github.com/serhiiSotskyi/multi-agent-knowledge-platform</a:t>
            </a:r>
          </a:p>
        </p:txBody>
      </p:sp>
    </p:spTree>
    <p:extLst>
      <p:ext uri="{BB962C8B-B14F-4D97-AF65-F5344CB8AC3E}">
        <p14:creationId xmlns:p14="http://schemas.microsoft.com/office/powerpoint/2010/main" val="19236083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2026-06-05T02:05:09.7930000Z</dcterms:created>
  <dcterms:modified xsi:type="dcterms:W3CDTF">2026-06-05T02:05:09.7940000Z</dcterms:modified>
</coreProperties>
</file>